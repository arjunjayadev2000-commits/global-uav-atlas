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9.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0.xml" ContentType="application/vnd.openxmlformats-officedocument.drawingml.chart+xml"/>
  <Override PartName="/ppt/charts/chart1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3"/>
                </a:solidFill>
                <a:latin typeface="Calibri"/>
              </a:defRPr>
            </a:pPr>
            <a:r>
              <a:rPr sz="1300" b="0" i="0" u="none" strike="noStrike">
                <a:solidFill>
                  <a:srgbClr val="1B2433"/>
                </a:solidFill>
                <a:latin typeface="Calibri"/>
              </a:rPr>
              <a:t>Working satellites, three censuses</a:t>
            </a:r>
          </a:p>
        </c:rich>
      </c:tx>
      <c:layout/>
      <c:overlay val="0"/>
    </c:title>
    <c:autoTitleDeleted val="0"/>
    <c:plotArea>
      <c:layout/>
      <c:barChart>
        <c:barDir val="col"/>
        <c:grouping val="clustered"/>
        <c:varyColors val="0"/>
        <c:ser>
          <c:idx val="0"/>
          <c:order val="0"/>
          <c:tx>
            <c:strRef>
              <c:f>Sheet1!$B$1</c:f>
              <c:strCache>
                <c:ptCount val="1"/>
                <c:pt idx="0">
                  <c:v>Working satellites</c:v>
                </c:pt>
              </c:strCache>
            </c:strRef>
          </c:tx>
          <c:spPr>
            <a:solidFill>
              <a:srgbClr val="2F5D8C"/>
            </a:solidFill>
            <a:effectLst/>
          </c:spPr>
          <c:invertIfNegative val="0"/>
          <c:dLbls>
            <c:numFmt formatCode="#,##0" sourceLinked="0"/>
            <c:txPr>
              <a:bodyPr/>
              <a:lstStyle/>
              <a:p>
                <a:pPr>
                  <a:defRPr b="0" i="0" strike="noStrike" sz="1200" u="none">
                    <a:solidFill>
                      <a:srgbClr val="1B2433"/>
                    </a:solidFill>
                    <a:latin typeface="Arial"/>
                  </a:defRPr>
                </a:pPr>
              </a:p>
            </c:txPr>
            <c:showLegendKey val="0"/>
            <c:showVal val="1"/>
            <c:showCatName val="0"/>
            <c:showSerName val="0"/>
            <c:showPercent val="0"/>
            <c:showBubbleSize val="0"/>
            <c:showLeaderLines val="0"/>
          </c:dLbls>
          <c:cat>
            <c:multiLvlStrRef>
              <c:f>Sheet1!$A$2:$A$4</c:f>
              <c:multiLvlStrCache>
                <c:ptCount val="3"/>
                <c:lvl>
                  <c:pt idx="0">
                    <c:v>Jan 2014 (CDM)</c:v>
                  </c:pt>
                  <c:pt idx="1">
                    <c:v>Apr 2020 (UCS)</c:v>
                  </c:pt>
                  <c:pt idx="2">
                    <c:v>Sep 2026 (catalogue)</c:v>
                  </c:pt>
                </c:lvl>
              </c:multiLvlStrCache>
            </c:multiLvlStrRef>
          </c:cat>
          <c:val>
            <c:numRef>
              <c:f>Sheet1!$B$2:$B$4</c:f>
              <c:numCache>
                <c:formatCode>General</c:formatCode>
                <c:ptCount val="3"/>
                <c:pt idx="0">
                  <c:v>1167</c:v>
                </c:pt>
                <c:pt idx="1">
                  <c:v>2666</c:v>
                </c:pt>
                <c:pt idx="2">
                  <c:v>17062</c:v>
                </c:pt>
              </c:numCache>
            </c:numRef>
          </c:val>
        </c:ser>
        <c:dLbls>
          <c:numFmt formatCode="#,##0" sourceLinked="0"/>
          <c:txPr>
            <a:bodyPr/>
            <a:lstStyle/>
            <a:p>
              <a:pPr>
                <a:defRPr b="0" i="0" strike="noStrike" sz="1200" u="none">
                  <a:solidFill>
                    <a:srgbClr val="1B24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573"/>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6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57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3"/>
                </a:solidFill>
                <a:latin typeface="Calibri"/>
              </a:defRPr>
            </a:pPr>
            <a:r>
              <a:rPr sz="1300" b="0" i="0" u="none" strike="noStrike">
                <a:solidFill>
                  <a:srgbClr val="1B2433"/>
                </a:solidFill>
                <a:latin typeface="Calibri"/>
              </a:rPr>
              <a:t>Satellites launched per year (2026 to 21 Sep)</a:t>
            </a:r>
          </a:p>
        </c:rich>
      </c:tx>
      <c:layout/>
      <c:overlay val="0"/>
    </c:title>
    <c:autoTitleDeleted val="0"/>
    <c:plotArea>
      <c:layout/>
      <c:barChart>
        <c:barDir val="col"/>
        <c:grouping val="stacked"/>
        <c:varyColors val="0"/>
        <c:ser>
          <c:idx val="0"/>
          <c:order val="0"/>
          <c:tx>
            <c:strRef>
              <c:f>Sheet1!$B$1</c:f>
              <c:strCache>
                <c:ptCount val="1"/>
                <c:pt idx="0">
                  <c:v>Other satellites</c:v>
                </c:pt>
              </c:strCache>
            </c:strRef>
          </c:tx>
          <c:spPr>
            <a:solidFill>
              <a:srgbClr val="2F5D8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Sheet1!$A$2:$A$18</c:f>
              <c:multiLvlStrCache>
                <c:ptCount val="17"/>
                <c:lvl>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lvl>
              </c:multiLvlStrCache>
            </c:multiLvlStrRef>
          </c:cat>
          <c:val>
            <c:numRef>
              <c:f>Sheet1!$B$2:$B$18</c:f>
              <c:numCache>
                <c:formatCode>General</c:formatCode>
                <c:ptCount val="17"/>
                <c:pt idx="0">
                  <c:v>117</c:v>
                </c:pt>
                <c:pt idx="1">
                  <c:v>123</c:v>
                </c:pt>
                <c:pt idx="2">
                  <c:v>126</c:v>
                </c:pt>
                <c:pt idx="3">
                  <c:v>199</c:v>
                </c:pt>
                <c:pt idx="4">
                  <c:v>189</c:v>
                </c:pt>
                <c:pt idx="5">
                  <c:v>172</c:v>
                </c:pt>
                <c:pt idx="6">
                  <c:v>174</c:v>
                </c:pt>
                <c:pt idx="7">
                  <c:v>390</c:v>
                </c:pt>
                <c:pt idx="8">
                  <c:v>400</c:v>
                </c:pt>
                <c:pt idx="9">
                  <c:v>330</c:v>
                </c:pt>
                <c:pt idx="10">
                  <c:v>396</c:v>
                </c:pt>
                <c:pt idx="11">
                  <c:v>775</c:v>
                </c:pt>
                <c:pt idx="12">
                  <c:v>697</c:v>
                </c:pt>
                <c:pt idx="13">
                  <c:v>876</c:v>
                </c:pt>
                <c:pt idx="14">
                  <c:v>823</c:v>
                </c:pt>
                <c:pt idx="15">
                  <c:v>1311</c:v>
                </c:pt>
                <c:pt idx="16">
                  <c:v>1089</c:v>
                </c:pt>
              </c:numCache>
            </c:numRef>
          </c:val>
        </c:ser>
        <c:ser>
          <c:idx val="1"/>
          <c:order val="1"/>
          <c:tx>
            <c:strRef>
              <c:f>Sheet1!$C$1</c:f>
              <c:strCache>
                <c:ptCount val="1"/>
                <c:pt idx="0">
                  <c:v>Starlink</c:v>
                </c:pt>
              </c:strCache>
            </c:strRef>
          </c:tx>
          <c:spPr>
            <a:solidFill>
              <a:srgbClr val="C0392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Sheet1!$A$2:$A$18</c:f>
              <c:multiLvlStrCache>
                <c:ptCount val="17"/>
                <c:lvl>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lvl>
              </c:multiLvlStrCache>
            </c:multiLvlStrRef>
          </c:cat>
          <c:val>
            <c:numRef>
              <c:f>Sheet1!$C$2:$C$18</c:f>
              <c:numCache>
                <c:formatCode>General</c:formatCode>
                <c:ptCount val="17"/>
                <c:pt idx="0">
                  <c:v>0</c:v>
                </c:pt>
                <c:pt idx="1">
                  <c:v>0</c:v>
                </c:pt>
                <c:pt idx="2">
                  <c:v>0</c:v>
                </c:pt>
                <c:pt idx="3">
                  <c:v>0</c:v>
                </c:pt>
                <c:pt idx="4">
                  <c:v>0</c:v>
                </c:pt>
                <c:pt idx="5">
                  <c:v>0</c:v>
                </c:pt>
                <c:pt idx="6">
                  <c:v>0</c:v>
                </c:pt>
                <c:pt idx="7">
                  <c:v>0</c:v>
                </c:pt>
                <c:pt idx="8">
                  <c:v>0</c:v>
                </c:pt>
                <c:pt idx="9">
                  <c:v>120</c:v>
                </c:pt>
                <c:pt idx="10">
                  <c:v>833</c:v>
                </c:pt>
                <c:pt idx="11">
                  <c:v>989</c:v>
                </c:pt>
                <c:pt idx="12">
                  <c:v>1690</c:v>
                </c:pt>
                <c:pt idx="13">
                  <c:v>1984</c:v>
                </c:pt>
                <c:pt idx="14">
                  <c:v>1964</c:v>
                </c:pt>
                <c:pt idx="15">
                  <c:v>3169</c:v>
                </c:pt>
                <c:pt idx="16">
                  <c:v>2141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573"/>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6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573"/>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3"/>
                </a:solidFill>
                <a:latin typeface="Calibri"/>
              </a:defRPr>
            </a:pPr>
            <a:r>
              <a:rPr sz="1300" b="0" i="0" u="none" strike="noStrike">
                <a:solidFill>
                  <a:srgbClr val="1B2433"/>
                </a:solidFill>
                <a:latin typeface="Calibri"/>
              </a:rPr>
              <a:t>Share of working satellites by country (%)</a:t>
            </a:r>
          </a:p>
        </c:rich>
      </c:tx>
      <c:layout/>
      <c:overlay val="0"/>
    </c:title>
    <c:autoTitleDeleted val="0"/>
    <c:plotArea>
      <c:layout/>
      <c:barChart>
        <c:barDir val="col"/>
        <c:grouping val="clustered"/>
        <c:varyColors val="0"/>
        <c:ser>
          <c:idx val="0"/>
          <c:order val="0"/>
          <c:tx>
            <c:strRef>
              <c:f>Sheet1!$B$1</c:f>
              <c:strCache>
                <c:ptCount val="1"/>
                <c:pt idx="0">
                  <c:v>Jan 2014</c:v>
                </c:pt>
              </c:strCache>
            </c:strRef>
          </c:tx>
          <c:spPr>
            <a:solidFill>
              <a:srgbClr val="9AA3AE"/>
            </a:solidFill>
            <a:effectLst/>
          </c:spPr>
          <c:invertIfNegative val="0"/>
          <c:dLbls>
            <c:numFmt formatCode="0.0" sourceLinked="0"/>
            <c:txPr>
              <a:bodyPr/>
              <a:lstStyle/>
              <a:p>
                <a:pPr>
                  <a:defRPr b="0" i="0" strike="noStrike" sz="1000" u="none">
                    <a:solidFill>
                      <a:srgbClr val="1B2433"/>
                    </a:solidFill>
                    <a:latin typeface="Arial"/>
                  </a:defRPr>
                </a:pPr>
              </a:p>
            </c:txPr>
            <c:showLegendKey val="0"/>
            <c:showVal val="1"/>
            <c:showCatName val="0"/>
            <c:showSerName val="0"/>
            <c:showPercent val="0"/>
            <c:showBubbleSize val="0"/>
            <c:showLeaderLines val="0"/>
          </c:dLbls>
          <c:cat>
            <c:multiLvlStrRef>
              <c:f>Sheet1!$A$2:$A$7</c:f>
              <c:multiLvlStrCache>
                <c:ptCount val="6"/>
                <c:lvl>
                  <c:pt idx="0">
                    <c:v>USA</c:v>
                  </c:pt>
                  <c:pt idx="1">
                    <c:v>China</c:v>
                  </c:pt>
                  <c:pt idx="2">
                    <c:v>Russia</c:v>
                  </c:pt>
                  <c:pt idx="3">
                    <c:v>UK</c:v>
                  </c:pt>
                  <c:pt idx="4">
                    <c:v>Japan</c:v>
                  </c:pt>
                  <c:pt idx="5">
                    <c:v>India</c:v>
                  </c:pt>
                </c:lvl>
              </c:multiLvlStrCache>
            </c:multiLvlStrRef>
          </c:cat>
          <c:val>
            <c:numRef>
              <c:f>Sheet1!$B$2:$B$7</c:f>
              <c:numCache>
                <c:formatCode>General</c:formatCode>
                <c:ptCount val="6"/>
                <c:pt idx="0">
                  <c:v>43</c:v>
                </c:pt>
                <c:pt idx="1">
                  <c:v>10</c:v>
                </c:pt>
                <c:pt idx="2">
                  <c:v>10.1</c:v>
                </c:pt>
                <c:pt idx="3">
                  <c:v>2.1</c:v>
                </c:pt>
                <c:pt idx="4">
                  <c:v>3.7</c:v>
                </c:pt>
                <c:pt idx="5">
                  <c:v>2.8</c:v>
                </c:pt>
              </c:numCache>
            </c:numRef>
          </c:val>
        </c:ser>
        <c:ser>
          <c:idx val="1"/>
          <c:order val="1"/>
          <c:tx>
            <c:strRef>
              <c:f>Sheet1!$C$1</c:f>
              <c:strCache>
                <c:ptCount val="1"/>
                <c:pt idx="0">
                  <c:v>Sep 2026</c:v>
                </c:pt>
              </c:strCache>
            </c:strRef>
          </c:tx>
          <c:spPr>
            <a:solidFill>
              <a:srgbClr val="0B1D3A"/>
            </a:solidFill>
            <a:effectLst/>
          </c:spPr>
          <c:invertIfNegative val="0"/>
          <c:dLbls>
            <c:numFmt formatCode="0.0" sourceLinked="0"/>
            <c:txPr>
              <a:bodyPr/>
              <a:lstStyle/>
              <a:p>
                <a:pPr>
                  <a:defRPr b="0" i="0" strike="noStrike" sz="1000" u="none">
                    <a:solidFill>
                      <a:srgbClr val="1B2433"/>
                    </a:solidFill>
                    <a:latin typeface="Arial"/>
                  </a:defRPr>
                </a:pPr>
              </a:p>
            </c:txPr>
            <c:showLegendKey val="0"/>
            <c:showVal val="1"/>
            <c:showCatName val="0"/>
            <c:showSerName val="0"/>
            <c:showPercent val="0"/>
            <c:showBubbleSize val="0"/>
            <c:showLeaderLines val="0"/>
          </c:dLbls>
          <c:cat>
            <c:multiLvlStrRef>
              <c:f>Sheet1!$A$2:$A$7</c:f>
              <c:multiLvlStrCache>
                <c:ptCount val="6"/>
                <c:lvl>
                  <c:pt idx="0">
                    <c:v>USA</c:v>
                  </c:pt>
                  <c:pt idx="1">
                    <c:v>China</c:v>
                  </c:pt>
                  <c:pt idx="2">
                    <c:v>Russia</c:v>
                  </c:pt>
                  <c:pt idx="3">
                    <c:v>UK</c:v>
                  </c:pt>
                  <c:pt idx="4">
                    <c:v>Japan</c:v>
                  </c:pt>
                  <c:pt idx="5">
                    <c:v>India</c:v>
                  </c:pt>
                </c:lvl>
              </c:multiLvlStrCache>
            </c:multiLvlStrRef>
          </c:cat>
          <c:val>
            <c:numRef>
              <c:f>Sheet1!$C$2:$C$7</c:f>
              <c:numCache>
                <c:formatCode>General</c:formatCode>
                <c:ptCount val="6"/>
                <c:pt idx="0">
                  <c:v>76</c:v>
                </c:pt>
                <c:pt idx="1">
                  <c:v>9</c:v>
                </c:pt>
                <c:pt idx="2">
                  <c:v>2.2</c:v>
                </c:pt>
                <c:pt idx="3">
                  <c:v>4.1</c:v>
                </c:pt>
                <c:pt idx="4">
                  <c:v>0.9</c:v>
                </c:pt>
                <c:pt idx="5">
                  <c:v>0.5</c:v>
                </c:pt>
              </c:numCache>
            </c:numRef>
          </c:val>
        </c:ser>
        <c:dLbls>
          <c:numFmt formatCode="0.0" sourceLinked="0"/>
          <c:txPr>
            <a:bodyPr/>
            <a:lstStyle/>
            <a:p>
              <a:pPr>
                <a:defRPr b="0" i="0" strike="noStrike" sz="1000" u="none">
                  <a:solidFill>
                    <a:srgbClr val="1B24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573"/>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6EA"/>
              </a:solidFill>
              <a:prstDash val="solid"/>
              <a:round/>
            </a:ln>
          </c:spPr>
        </c:majorGridlines>
        <c:title>
          <c:tx>
            <c:rich>
              <a:bodyPr/>
              <a:lstStyle/>
              <a:p>
                <a:pPr>
                  <a:defRPr sz="1000" b="0" i="0" u="none" strike="noStrike">
                    <a:solidFill>
                      <a:srgbClr val="5B6573"/>
                    </a:solidFill>
                    <a:latin typeface="Arial"/>
                  </a:defRPr>
                </a:pPr>
                <a:r>
                  <a:rPr sz="1000" b="0" i="0" u="none" strike="noStrike">
                    <a:solidFill>
                      <a:srgbClr val="5B6573"/>
                    </a:solidFill>
                    <a:latin typeface="Arial"/>
                  </a:rPr>
                  <a:t>% of working satellites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573"/>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3"/>
                </a:solidFill>
                <a:latin typeface="Calibri"/>
              </a:defRPr>
            </a:pPr>
            <a:r>
              <a:rPr sz="1300" b="0" i="0" u="none" strike="noStrike">
                <a:solidFill>
                  <a:srgbClr val="1B2433"/>
                </a:solidFill>
                <a:latin typeface="Calibri"/>
              </a:rPr>
              <a:t>Objects in low orbit by altitude (km, 25 km shells), Sep 2026</a:t>
            </a:r>
          </a:p>
        </c:rich>
      </c:tx>
      <c:layout/>
      <c:overlay val="0"/>
    </c:title>
    <c:autoTitleDeleted val="0"/>
    <c:plotArea>
      <c:layout/>
      <c:barChart>
        <c:barDir val="col"/>
        <c:grouping val="stacked"/>
        <c:varyColors val="0"/>
        <c:ser>
          <c:idx val="0"/>
          <c:order val="0"/>
          <c:tx>
            <c:strRef>
              <c:f>Sheet1!$B$1</c:f>
              <c:strCache>
                <c:ptCount val="1"/>
                <c:pt idx="0">
                  <c:v>Working satellites</c:v>
                </c:pt>
              </c:strCache>
            </c:strRef>
          </c:tx>
          <c:spPr>
            <a:solidFill>
              <a:srgbClr val="2F5D8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Sheet1!$A$2:$A$53</c:f>
              <c:multiLvlStrCache>
                <c:ptCount val="52"/>
                <c:lvl>
                  <c:pt idx="0">
                    <c:v>200</c:v>
                  </c:pt>
                  <c:pt idx="1">
                    <c:v>225</c:v>
                  </c:pt>
                  <c:pt idx="2">
                    <c:v>250</c:v>
                  </c:pt>
                  <c:pt idx="3">
                    <c:v>275</c:v>
                  </c:pt>
                  <c:pt idx="4">
                    <c:v>300</c:v>
                  </c:pt>
                  <c:pt idx="5">
                    <c:v>325</c:v>
                  </c:pt>
                  <c:pt idx="6">
                    <c:v>350</c:v>
                  </c:pt>
                  <c:pt idx="7">
                    <c:v>375</c:v>
                  </c:pt>
                  <c:pt idx="8">
                    <c:v>400</c:v>
                  </c:pt>
                  <c:pt idx="9">
                    <c:v>425</c:v>
                  </c:pt>
                  <c:pt idx="10">
                    <c:v>450</c:v>
                  </c:pt>
                  <c:pt idx="11">
                    <c:v>475</c:v>
                  </c:pt>
                  <c:pt idx="12">
                    <c:v>500</c:v>
                  </c:pt>
                  <c:pt idx="13">
                    <c:v>525</c:v>
                  </c:pt>
                  <c:pt idx="14">
                    <c:v>550</c:v>
                  </c:pt>
                  <c:pt idx="15">
                    <c:v>575</c:v>
                  </c:pt>
                  <c:pt idx="16">
                    <c:v>600</c:v>
                  </c:pt>
                  <c:pt idx="17">
                    <c:v>625</c:v>
                  </c:pt>
                  <c:pt idx="18">
                    <c:v>650</c:v>
                  </c:pt>
                  <c:pt idx="19">
                    <c:v>675</c:v>
                  </c:pt>
                  <c:pt idx="20">
                    <c:v>700</c:v>
                  </c:pt>
                  <c:pt idx="21">
                    <c:v>725</c:v>
                  </c:pt>
                  <c:pt idx="22">
                    <c:v>750</c:v>
                  </c:pt>
                  <c:pt idx="23">
                    <c:v>775</c:v>
                  </c:pt>
                  <c:pt idx="24">
                    <c:v>800</c:v>
                  </c:pt>
                  <c:pt idx="25">
                    <c:v>825</c:v>
                  </c:pt>
                  <c:pt idx="26">
                    <c:v>850</c:v>
                  </c:pt>
                  <c:pt idx="27">
                    <c:v>875</c:v>
                  </c:pt>
                  <c:pt idx="28">
                    <c:v>900</c:v>
                  </c:pt>
                  <c:pt idx="29">
                    <c:v>925</c:v>
                  </c:pt>
                  <c:pt idx="30">
                    <c:v>950</c:v>
                  </c:pt>
                  <c:pt idx="31">
                    <c:v>975</c:v>
                  </c:pt>
                  <c:pt idx="32">
                    <c:v>1000</c:v>
                  </c:pt>
                  <c:pt idx="33">
                    <c:v>1025</c:v>
                  </c:pt>
                  <c:pt idx="34">
                    <c:v>1050</c:v>
                  </c:pt>
                  <c:pt idx="35">
                    <c:v>1075</c:v>
                  </c:pt>
                  <c:pt idx="36">
                    <c:v>1100</c:v>
                  </c:pt>
                  <c:pt idx="37">
                    <c:v>1125</c:v>
                  </c:pt>
                  <c:pt idx="38">
                    <c:v>1150</c:v>
                  </c:pt>
                  <c:pt idx="39">
                    <c:v>1175</c:v>
                  </c:pt>
                  <c:pt idx="40">
                    <c:v>1200</c:v>
                  </c:pt>
                  <c:pt idx="41">
                    <c:v>1225</c:v>
                  </c:pt>
                  <c:pt idx="42">
                    <c:v>1250</c:v>
                  </c:pt>
                  <c:pt idx="43">
                    <c:v>1275</c:v>
                  </c:pt>
                  <c:pt idx="44">
                    <c:v>1300</c:v>
                  </c:pt>
                  <c:pt idx="45">
                    <c:v>1325</c:v>
                  </c:pt>
                  <c:pt idx="46">
                    <c:v>1350</c:v>
                  </c:pt>
                  <c:pt idx="47">
                    <c:v>1375</c:v>
                  </c:pt>
                  <c:pt idx="48">
                    <c:v>1400</c:v>
                  </c:pt>
                  <c:pt idx="49">
                    <c:v>1425</c:v>
                  </c:pt>
                  <c:pt idx="50">
                    <c:v>1450</c:v>
                  </c:pt>
                  <c:pt idx="51">
                    <c:v>1475</c:v>
                  </c:pt>
                </c:lvl>
              </c:multiLvlStrCache>
            </c:multiLvlStrRef>
          </c:cat>
          <c:val>
            <c:numRef>
              <c:f>Sheet1!$B$2:$B$53</c:f>
              <c:numCache>
                <c:formatCode>General</c:formatCode>
                <c:ptCount val="52"/>
                <c:pt idx="0">
                  <c:v>6</c:v>
                </c:pt>
                <c:pt idx="1">
                  <c:v>10</c:v>
                </c:pt>
                <c:pt idx="2">
                  <c:v>54</c:v>
                </c:pt>
                <c:pt idx="3">
                  <c:v>23</c:v>
                </c:pt>
                <c:pt idx="4">
                  <c:v>82</c:v>
                </c:pt>
                <c:pt idx="5">
                  <c:v>187</c:v>
                </c:pt>
                <c:pt idx="6">
                  <c:v>753</c:v>
                </c:pt>
                <c:pt idx="7">
                  <c:v>99</c:v>
                </c:pt>
                <c:pt idx="8">
                  <c:v>272</c:v>
                </c:pt>
                <c:pt idx="9">
                  <c:v>275</c:v>
                </c:pt>
                <c:pt idx="10">
                  <c:v>5979</c:v>
                </c:pt>
                <c:pt idx="11">
                  <c:v>3843</c:v>
                </c:pt>
                <c:pt idx="12">
                  <c:v>523</c:v>
                </c:pt>
                <c:pt idx="13">
                  <c:v>457</c:v>
                </c:pt>
                <c:pt idx="14">
                  <c:v>556</c:v>
                </c:pt>
                <c:pt idx="15">
                  <c:v>504</c:v>
                </c:pt>
                <c:pt idx="16">
                  <c:v>170</c:v>
                </c:pt>
                <c:pt idx="17">
                  <c:v>443</c:v>
                </c:pt>
                <c:pt idx="18">
                  <c:v>54</c:v>
                </c:pt>
                <c:pt idx="19">
                  <c:v>83</c:v>
                </c:pt>
                <c:pt idx="20">
                  <c:v>23</c:v>
                </c:pt>
                <c:pt idx="21">
                  <c:v>23</c:v>
                </c:pt>
                <c:pt idx="22">
                  <c:v>29</c:v>
                </c:pt>
                <c:pt idx="23">
                  <c:v>125</c:v>
                </c:pt>
                <c:pt idx="24">
                  <c:v>54</c:v>
                </c:pt>
                <c:pt idx="25">
                  <c:v>30</c:v>
                </c:pt>
                <c:pt idx="26">
                  <c:v>18</c:v>
                </c:pt>
                <c:pt idx="27">
                  <c:v>44</c:v>
                </c:pt>
                <c:pt idx="28">
                  <c:v>47</c:v>
                </c:pt>
                <c:pt idx="29">
                  <c:v>55</c:v>
                </c:pt>
                <c:pt idx="30">
                  <c:v>51</c:v>
                </c:pt>
                <c:pt idx="31">
                  <c:v>15</c:v>
                </c:pt>
                <c:pt idx="32">
                  <c:v>2</c:v>
                </c:pt>
                <c:pt idx="33">
                  <c:v>20</c:v>
                </c:pt>
                <c:pt idx="34">
                  <c:v>201</c:v>
                </c:pt>
                <c:pt idx="35">
                  <c:v>42</c:v>
                </c:pt>
                <c:pt idx="36">
                  <c:v>30</c:v>
                </c:pt>
                <c:pt idx="37">
                  <c:v>128</c:v>
                </c:pt>
                <c:pt idx="38">
                  <c:v>65</c:v>
                </c:pt>
                <c:pt idx="39">
                  <c:v>318</c:v>
                </c:pt>
                <c:pt idx="40">
                  <c:v>336</c:v>
                </c:pt>
                <c:pt idx="41">
                  <c:v>2</c:v>
                </c:pt>
                <c:pt idx="42">
                  <c:v>0</c:v>
                </c:pt>
                <c:pt idx="43">
                  <c:v>0</c:v>
                </c:pt>
                <c:pt idx="44">
                  <c:v>1</c:v>
                </c:pt>
                <c:pt idx="45">
                  <c:v>3</c:v>
                </c:pt>
                <c:pt idx="46">
                  <c:v>0</c:v>
                </c:pt>
                <c:pt idx="47">
                  <c:v>0</c:v>
                </c:pt>
                <c:pt idx="48">
                  <c:v>26</c:v>
                </c:pt>
                <c:pt idx="49">
                  <c:v>3</c:v>
                </c:pt>
                <c:pt idx="50">
                  <c:v>0</c:v>
                </c:pt>
                <c:pt idx="51">
                  <c:v>59</c:v>
                </c:pt>
              </c:numCache>
            </c:numRef>
          </c:val>
        </c:ser>
        <c:ser>
          <c:idx val="1"/>
          <c:order val="1"/>
          <c:tx>
            <c:strRef>
              <c:f>Sheet1!$C$1</c:f>
              <c:strCache>
                <c:ptCount val="1"/>
                <c:pt idx="0">
                  <c:v>Debris</c:v>
                </c:pt>
              </c:strCache>
            </c:strRef>
          </c:tx>
          <c:spPr>
            <a:solidFill>
              <a:srgbClr val="C0392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Sheet1!$A$2:$A$53</c:f>
              <c:multiLvlStrCache>
                <c:ptCount val="52"/>
                <c:lvl>
                  <c:pt idx="0">
                    <c:v>200</c:v>
                  </c:pt>
                  <c:pt idx="1">
                    <c:v>225</c:v>
                  </c:pt>
                  <c:pt idx="2">
                    <c:v>250</c:v>
                  </c:pt>
                  <c:pt idx="3">
                    <c:v>275</c:v>
                  </c:pt>
                  <c:pt idx="4">
                    <c:v>300</c:v>
                  </c:pt>
                  <c:pt idx="5">
                    <c:v>325</c:v>
                  </c:pt>
                  <c:pt idx="6">
                    <c:v>350</c:v>
                  </c:pt>
                  <c:pt idx="7">
                    <c:v>375</c:v>
                  </c:pt>
                  <c:pt idx="8">
                    <c:v>400</c:v>
                  </c:pt>
                  <c:pt idx="9">
                    <c:v>425</c:v>
                  </c:pt>
                  <c:pt idx="10">
                    <c:v>450</c:v>
                  </c:pt>
                  <c:pt idx="11">
                    <c:v>475</c:v>
                  </c:pt>
                  <c:pt idx="12">
                    <c:v>500</c:v>
                  </c:pt>
                  <c:pt idx="13">
                    <c:v>525</c:v>
                  </c:pt>
                  <c:pt idx="14">
                    <c:v>550</c:v>
                  </c:pt>
                  <c:pt idx="15">
                    <c:v>575</c:v>
                  </c:pt>
                  <c:pt idx="16">
                    <c:v>600</c:v>
                  </c:pt>
                  <c:pt idx="17">
                    <c:v>625</c:v>
                  </c:pt>
                  <c:pt idx="18">
                    <c:v>650</c:v>
                  </c:pt>
                  <c:pt idx="19">
                    <c:v>675</c:v>
                  </c:pt>
                  <c:pt idx="20">
                    <c:v>700</c:v>
                  </c:pt>
                  <c:pt idx="21">
                    <c:v>725</c:v>
                  </c:pt>
                  <c:pt idx="22">
                    <c:v>750</c:v>
                  </c:pt>
                  <c:pt idx="23">
                    <c:v>775</c:v>
                  </c:pt>
                  <c:pt idx="24">
                    <c:v>800</c:v>
                  </c:pt>
                  <c:pt idx="25">
                    <c:v>825</c:v>
                  </c:pt>
                  <c:pt idx="26">
                    <c:v>850</c:v>
                  </c:pt>
                  <c:pt idx="27">
                    <c:v>875</c:v>
                  </c:pt>
                  <c:pt idx="28">
                    <c:v>900</c:v>
                  </c:pt>
                  <c:pt idx="29">
                    <c:v>925</c:v>
                  </c:pt>
                  <c:pt idx="30">
                    <c:v>950</c:v>
                  </c:pt>
                  <c:pt idx="31">
                    <c:v>975</c:v>
                  </c:pt>
                  <c:pt idx="32">
                    <c:v>1000</c:v>
                  </c:pt>
                  <c:pt idx="33">
                    <c:v>1025</c:v>
                  </c:pt>
                  <c:pt idx="34">
                    <c:v>1050</c:v>
                  </c:pt>
                  <c:pt idx="35">
                    <c:v>1075</c:v>
                  </c:pt>
                  <c:pt idx="36">
                    <c:v>1100</c:v>
                  </c:pt>
                  <c:pt idx="37">
                    <c:v>1125</c:v>
                  </c:pt>
                  <c:pt idx="38">
                    <c:v>1150</c:v>
                  </c:pt>
                  <c:pt idx="39">
                    <c:v>1175</c:v>
                  </c:pt>
                  <c:pt idx="40">
                    <c:v>1200</c:v>
                  </c:pt>
                  <c:pt idx="41">
                    <c:v>1225</c:v>
                  </c:pt>
                  <c:pt idx="42">
                    <c:v>1250</c:v>
                  </c:pt>
                  <c:pt idx="43">
                    <c:v>1275</c:v>
                  </c:pt>
                  <c:pt idx="44">
                    <c:v>1300</c:v>
                  </c:pt>
                  <c:pt idx="45">
                    <c:v>1325</c:v>
                  </c:pt>
                  <c:pt idx="46">
                    <c:v>1350</c:v>
                  </c:pt>
                  <c:pt idx="47">
                    <c:v>1375</c:v>
                  </c:pt>
                  <c:pt idx="48">
                    <c:v>1400</c:v>
                  </c:pt>
                  <c:pt idx="49">
                    <c:v>1425</c:v>
                  </c:pt>
                  <c:pt idx="50">
                    <c:v>1450</c:v>
                  </c:pt>
                  <c:pt idx="51">
                    <c:v>1475</c:v>
                  </c:pt>
                </c:lvl>
              </c:multiLvlStrCache>
            </c:multiLvlStrRef>
          </c:cat>
          <c:val>
            <c:numRef>
              <c:f>Sheet1!$C$2:$C$53</c:f>
              <c:numCache>
                <c:formatCode>General</c:formatCode>
                <c:ptCount val="52"/>
                <c:pt idx="0">
                  <c:v>0</c:v>
                </c:pt>
                <c:pt idx="1">
                  <c:v>1</c:v>
                </c:pt>
                <c:pt idx="2">
                  <c:v>1</c:v>
                </c:pt>
                <c:pt idx="3">
                  <c:v>6</c:v>
                </c:pt>
                <c:pt idx="4">
                  <c:v>2</c:v>
                </c:pt>
                <c:pt idx="5">
                  <c:v>4</c:v>
                </c:pt>
                <c:pt idx="6">
                  <c:v>6</c:v>
                </c:pt>
                <c:pt idx="7">
                  <c:v>10</c:v>
                </c:pt>
                <c:pt idx="8">
                  <c:v>14</c:v>
                </c:pt>
                <c:pt idx="9">
                  <c:v>24</c:v>
                </c:pt>
                <c:pt idx="10">
                  <c:v>28</c:v>
                </c:pt>
                <c:pt idx="11">
                  <c:v>33</c:v>
                </c:pt>
                <c:pt idx="12">
                  <c:v>52</c:v>
                </c:pt>
                <c:pt idx="13">
                  <c:v>67</c:v>
                </c:pt>
                <c:pt idx="14">
                  <c:v>92</c:v>
                </c:pt>
                <c:pt idx="15">
                  <c:v>131</c:v>
                </c:pt>
                <c:pt idx="16">
                  <c:v>159</c:v>
                </c:pt>
                <c:pt idx="17">
                  <c:v>223</c:v>
                </c:pt>
                <c:pt idx="18">
                  <c:v>263</c:v>
                </c:pt>
                <c:pt idx="19">
                  <c:v>377</c:v>
                </c:pt>
                <c:pt idx="20">
                  <c:v>424</c:v>
                </c:pt>
                <c:pt idx="21">
                  <c:v>494</c:v>
                </c:pt>
                <c:pt idx="22">
                  <c:v>583</c:v>
                </c:pt>
                <c:pt idx="23">
                  <c:v>656</c:v>
                </c:pt>
                <c:pt idx="24">
                  <c:v>692</c:v>
                </c:pt>
                <c:pt idx="25">
                  <c:v>670</c:v>
                </c:pt>
                <c:pt idx="26">
                  <c:v>645</c:v>
                </c:pt>
                <c:pt idx="27">
                  <c:v>510</c:v>
                </c:pt>
                <c:pt idx="28">
                  <c:v>371</c:v>
                </c:pt>
                <c:pt idx="29">
                  <c:v>320</c:v>
                </c:pt>
                <c:pt idx="30">
                  <c:v>285</c:v>
                </c:pt>
                <c:pt idx="31">
                  <c:v>282</c:v>
                </c:pt>
                <c:pt idx="32">
                  <c:v>201</c:v>
                </c:pt>
                <c:pt idx="33">
                  <c:v>181</c:v>
                </c:pt>
                <c:pt idx="34">
                  <c:v>143</c:v>
                </c:pt>
                <c:pt idx="35">
                  <c:v>133</c:v>
                </c:pt>
                <c:pt idx="36">
                  <c:v>125</c:v>
                </c:pt>
                <c:pt idx="37">
                  <c:v>114</c:v>
                </c:pt>
                <c:pt idx="38">
                  <c:v>85</c:v>
                </c:pt>
                <c:pt idx="39">
                  <c:v>73</c:v>
                </c:pt>
                <c:pt idx="40">
                  <c:v>64</c:v>
                </c:pt>
                <c:pt idx="41">
                  <c:v>59</c:v>
                </c:pt>
                <c:pt idx="42">
                  <c:v>165</c:v>
                </c:pt>
                <c:pt idx="43">
                  <c:v>129</c:v>
                </c:pt>
                <c:pt idx="44">
                  <c:v>49</c:v>
                </c:pt>
                <c:pt idx="45">
                  <c:v>61</c:v>
                </c:pt>
                <c:pt idx="46">
                  <c:v>58</c:v>
                </c:pt>
                <c:pt idx="47">
                  <c:v>51</c:v>
                </c:pt>
                <c:pt idx="48">
                  <c:v>59</c:v>
                </c:pt>
                <c:pt idx="49">
                  <c:v>67</c:v>
                </c:pt>
                <c:pt idx="50">
                  <c:v>68</c:v>
                </c:pt>
                <c:pt idx="51">
                  <c:v>109</c:v>
                </c:pt>
              </c:numCache>
            </c:numRef>
          </c:val>
        </c:ser>
        <c:ser>
          <c:idx val="2"/>
          <c:order val="2"/>
          <c:tx>
            <c:strRef>
              <c:f>Sheet1!$D$1</c:f>
              <c:strCache>
                <c:ptCount val="1"/>
                <c:pt idx="0">
                  <c:v>Dead satellites and rocket bodies</c:v>
                </c:pt>
              </c:strCache>
            </c:strRef>
          </c:tx>
          <c:spPr>
            <a:solidFill>
              <a:srgbClr val="9AA3A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Sheet1!$A$2:$A$53</c:f>
              <c:multiLvlStrCache>
                <c:ptCount val="52"/>
                <c:lvl>
                  <c:pt idx="0">
                    <c:v>200</c:v>
                  </c:pt>
                  <c:pt idx="1">
                    <c:v>225</c:v>
                  </c:pt>
                  <c:pt idx="2">
                    <c:v>250</c:v>
                  </c:pt>
                  <c:pt idx="3">
                    <c:v>275</c:v>
                  </c:pt>
                  <c:pt idx="4">
                    <c:v>300</c:v>
                  </c:pt>
                  <c:pt idx="5">
                    <c:v>325</c:v>
                  </c:pt>
                  <c:pt idx="6">
                    <c:v>350</c:v>
                  </c:pt>
                  <c:pt idx="7">
                    <c:v>375</c:v>
                  </c:pt>
                  <c:pt idx="8">
                    <c:v>400</c:v>
                  </c:pt>
                  <c:pt idx="9">
                    <c:v>425</c:v>
                  </c:pt>
                  <c:pt idx="10">
                    <c:v>450</c:v>
                  </c:pt>
                  <c:pt idx="11">
                    <c:v>475</c:v>
                  </c:pt>
                  <c:pt idx="12">
                    <c:v>500</c:v>
                  </c:pt>
                  <c:pt idx="13">
                    <c:v>525</c:v>
                  </c:pt>
                  <c:pt idx="14">
                    <c:v>550</c:v>
                  </c:pt>
                  <c:pt idx="15">
                    <c:v>575</c:v>
                  </c:pt>
                  <c:pt idx="16">
                    <c:v>600</c:v>
                  </c:pt>
                  <c:pt idx="17">
                    <c:v>625</c:v>
                  </c:pt>
                  <c:pt idx="18">
                    <c:v>650</c:v>
                  </c:pt>
                  <c:pt idx="19">
                    <c:v>675</c:v>
                  </c:pt>
                  <c:pt idx="20">
                    <c:v>700</c:v>
                  </c:pt>
                  <c:pt idx="21">
                    <c:v>725</c:v>
                  </c:pt>
                  <c:pt idx="22">
                    <c:v>750</c:v>
                  </c:pt>
                  <c:pt idx="23">
                    <c:v>775</c:v>
                  </c:pt>
                  <c:pt idx="24">
                    <c:v>800</c:v>
                  </c:pt>
                  <c:pt idx="25">
                    <c:v>825</c:v>
                  </c:pt>
                  <c:pt idx="26">
                    <c:v>850</c:v>
                  </c:pt>
                  <c:pt idx="27">
                    <c:v>875</c:v>
                  </c:pt>
                  <c:pt idx="28">
                    <c:v>900</c:v>
                  </c:pt>
                  <c:pt idx="29">
                    <c:v>925</c:v>
                  </c:pt>
                  <c:pt idx="30">
                    <c:v>950</c:v>
                  </c:pt>
                  <c:pt idx="31">
                    <c:v>975</c:v>
                  </c:pt>
                  <c:pt idx="32">
                    <c:v>1000</c:v>
                  </c:pt>
                  <c:pt idx="33">
                    <c:v>1025</c:v>
                  </c:pt>
                  <c:pt idx="34">
                    <c:v>1050</c:v>
                  </c:pt>
                  <c:pt idx="35">
                    <c:v>1075</c:v>
                  </c:pt>
                  <c:pt idx="36">
                    <c:v>1100</c:v>
                  </c:pt>
                  <c:pt idx="37">
                    <c:v>1125</c:v>
                  </c:pt>
                  <c:pt idx="38">
                    <c:v>1150</c:v>
                  </c:pt>
                  <c:pt idx="39">
                    <c:v>1175</c:v>
                  </c:pt>
                  <c:pt idx="40">
                    <c:v>1200</c:v>
                  </c:pt>
                  <c:pt idx="41">
                    <c:v>1225</c:v>
                  </c:pt>
                  <c:pt idx="42">
                    <c:v>1250</c:v>
                  </c:pt>
                  <c:pt idx="43">
                    <c:v>1275</c:v>
                  </c:pt>
                  <c:pt idx="44">
                    <c:v>1300</c:v>
                  </c:pt>
                  <c:pt idx="45">
                    <c:v>1325</c:v>
                  </c:pt>
                  <c:pt idx="46">
                    <c:v>1350</c:v>
                  </c:pt>
                  <c:pt idx="47">
                    <c:v>1375</c:v>
                  </c:pt>
                  <c:pt idx="48">
                    <c:v>1400</c:v>
                  </c:pt>
                  <c:pt idx="49">
                    <c:v>1425</c:v>
                  </c:pt>
                  <c:pt idx="50">
                    <c:v>1450</c:v>
                  </c:pt>
                  <c:pt idx="51">
                    <c:v>1475</c:v>
                  </c:pt>
                </c:lvl>
              </c:multiLvlStrCache>
            </c:multiLvlStrRef>
          </c:cat>
          <c:val>
            <c:numRef>
              <c:f>Sheet1!$D$2:$D$53</c:f>
              <c:numCache>
                <c:formatCode>General</c:formatCode>
                <c:ptCount val="52"/>
                <c:pt idx="0">
                  <c:v>3</c:v>
                </c:pt>
                <c:pt idx="1">
                  <c:v>3</c:v>
                </c:pt>
                <c:pt idx="2">
                  <c:v>2</c:v>
                </c:pt>
                <c:pt idx="3">
                  <c:v>6</c:v>
                </c:pt>
                <c:pt idx="4">
                  <c:v>9</c:v>
                </c:pt>
                <c:pt idx="5">
                  <c:v>11</c:v>
                </c:pt>
                <c:pt idx="6">
                  <c:v>16</c:v>
                </c:pt>
                <c:pt idx="7">
                  <c:v>18</c:v>
                </c:pt>
                <c:pt idx="8">
                  <c:v>19</c:v>
                </c:pt>
                <c:pt idx="9">
                  <c:v>27</c:v>
                </c:pt>
                <c:pt idx="10">
                  <c:v>45</c:v>
                </c:pt>
                <c:pt idx="11">
                  <c:v>36</c:v>
                </c:pt>
                <c:pt idx="12">
                  <c:v>31</c:v>
                </c:pt>
                <c:pt idx="13">
                  <c:v>46</c:v>
                </c:pt>
                <c:pt idx="14">
                  <c:v>56</c:v>
                </c:pt>
                <c:pt idx="15">
                  <c:v>53</c:v>
                </c:pt>
                <c:pt idx="16">
                  <c:v>98</c:v>
                </c:pt>
                <c:pt idx="17">
                  <c:v>49</c:v>
                </c:pt>
                <c:pt idx="18">
                  <c:v>44</c:v>
                </c:pt>
                <c:pt idx="19">
                  <c:v>56</c:v>
                </c:pt>
                <c:pt idx="20">
                  <c:v>55</c:v>
                </c:pt>
                <c:pt idx="21">
                  <c:v>59</c:v>
                </c:pt>
                <c:pt idx="22">
                  <c:v>151</c:v>
                </c:pt>
                <c:pt idx="23">
                  <c:v>124</c:v>
                </c:pt>
                <c:pt idx="24">
                  <c:v>61</c:v>
                </c:pt>
                <c:pt idx="25">
                  <c:v>85</c:v>
                </c:pt>
                <c:pt idx="26">
                  <c:v>69</c:v>
                </c:pt>
                <c:pt idx="27">
                  <c:v>37</c:v>
                </c:pt>
                <c:pt idx="28">
                  <c:v>50</c:v>
                </c:pt>
                <c:pt idx="29">
                  <c:v>62</c:v>
                </c:pt>
                <c:pt idx="30">
                  <c:v>113</c:v>
                </c:pt>
                <c:pt idx="31">
                  <c:v>261</c:v>
                </c:pt>
                <c:pt idx="32">
                  <c:v>25</c:v>
                </c:pt>
                <c:pt idx="33">
                  <c:v>21</c:v>
                </c:pt>
                <c:pt idx="34">
                  <c:v>21</c:v>
                </c:pt>
                <c:pt idx="35">
                  <c:v>41</c:v>
                </c:pt>
                <c:pt idx="36">
                  <c:v>20</c:v>
                </c:pt>
                <c:pt idx="37">
                  <c:v>9</c:v>
                </c:pt>
                <c:pt idx="38">
                  <c:v>10</c:v>
                </c:pt>
                <c:pt idx="39">
                  <c:v>29</c:v>
                </c:pt>
                <c:pt idx="40">
                  <c:v>6</c:v>
                </c:pt>
                <c:pt idx="41">
                  <c:v>6</c:v>
                </c:pt>
                <c:pt idx="42">
                  <c:v>1</c:v>
                </c:pt>
                <c:pt idx="43">
                  <c:v>4</c:v>
                </c:pt>
                <c:pt idx="44">
                  <c:v>7</c:v>
                </c:pt>
                <c:pt idx="45">
                  <c:v>19</c:v>
                </c:pt>
                <c:pt idx="46">
                  <c:v>6</c:v>
                </c:pt>
                <c:pt idx="47">
                  <c:v>35</c:v>
                </c:pt>
                <c:pt idx="48">
                  <c:v>143</c:v>
                </c:pt>
                <c:pt idx="49">
                  <c:v>138</c:v>
                </c:pt>
                <c:pt idx="50">
                  <c:v>134</c:v>
                </c:pt>
                <c:pt idx="51">
                  <c:v>103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2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573"/>
                </a:solidFill>
                <a:latin typeface="Calibri"/>
              </a:defRPr>
            </a:pPr>
            <a:endParaRPr lang="en-US"/>
          </a:p>
        </c:txPr>
        <c:crossAx val="2094734552"/>
        <c:crosses val="autoZero"/>
        <c:auto val="1"/>
        <c:lblAlgn val="ctr"/>
        <c:noMultiLvlLbl val="1"/>
        <c:tickLblSkip val="4"/>
      </c:catAx>
      <c:valAx>
        <c:axId val="2094734552"/>
        <c:scaling>
          <c:orientation val="minMax"/>
        </c:scaling>
        <c:delete val="0"/>
        <c:axPos val="l"/>
        <c:majorGridlines>
          <c:spPr>
            <a:ln w="6350" cap="flat">
              <a:solidFill>
                <a:srgbClr val="E3E6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573"/>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3"/>
                </a:solidFill>
                <a:latin typeface="Calibri"/>
              </a:defRPr>
            </a:pPr>
            <a:r>
              <a:rPr sz="1300" b="0" i="0" u="none" strike="noStrike">
                <a:solidFill>
                  <a:srgbClr val="1B2433"/>
                </a:solidFill>
                <a:latin typeface="Calibri"/>
              </a:rPr>
              <a:t>Share of catalogued debris still in orbit, Sep 2026 (%)</a:t>
            </a:r>
          </a:p>
        </c:rich>
      </c:tx>
      <c:layout/>
      <c:overlay val="0"/>
    </c:title>
    <c:autoTitleDeleted val="0"/>
    <c:plotArea>
      <c:layout/>
      <c:barChart>
        <c:barDir val="bar"/>
        <c:grouping val="clustered"/>
        <c:varyColors val="0"/>
        <c:ser>
          <c:idx val="0"/>
          <c:order val="0"/>
          <c:tx>
            <c:strRef>
              <c:f>Sheet1!$B$1</c:f>
              <c:strCache>
                <c:ptCount val="1"/>
                <c:pt idx="0">
                  <c:v>Still in orbit %</c:v>
                </c:pt>
              </c:strCache>
            </c:strRef>
          </c:tx>
          <c:spPr>
            <a:solidFill>
              <a:srgbClr val="C0392B"/>
            </a:solidFill>
            <a:effectLst/>
          </c:spPr>
          <c:invertIfNegative val="0"/>
          <c:dLbls>
            <c:numFmt formatCode="0.0" sourceLinked="0"/>
            <c:txPr>
              <a:bodyPr/>
              <a:lstStyle/>
              <a:p>
                <a:pPr>
                  <a:defRPr b="0" i="0" strike="noStrike" sz="1100" u="none">
                    <a:solidFill>
                      <a:srgbClr val="1B2433"/>
                    </a:solidFill>
                    <a:latin typeface="Arial"/>
                  </a:defRPr>
                </a:pPr>
              </a:p>
            </c:txPr>
            <c:showLegendKey val="0"/>
            <c:showVal val="1"/>
            <c:showCatName val="0"/>
            <c:showSerName val="0"/>
            <c:showPercent val="0"/>
            <c:showBubbleSize val="0"/>
            <c:showLeaderLines val="0"/>
          </c:dLbls>
          <c:cat>
            <c:multiLvlStrRef>
              <c:f>Sheet1!$A$2:$A$7</c:f>
              <c:multiLvlStrCache>
                <c:ptCount val="6"/>
                <c:lvl>
                  <c:pt idx="0">
                    <c:v>China ASAT test (Jan 2007)</c:v>
                  </c:pt>
                  <c:pt idx="1">
                    <c:v>Iridium-Cosmos collision (Russian debris) (Feb 2009)</c:v>
                  </c:pt>
                  <c:pt idx="2">
                    <c:v>Iridium-Cosmos collision (US debris) (Feb 2009)</c:v>
                  </c:pt>
                  <c:pt idx="3">
                    <c:v>US ASAT intercept (Feb 2008)</c:v>
                  </c:pt>
                  <c:pt idx="4">
                    <c:v>India ASAT test (Mission Shakti) (Mar 2019)</c:v>
                  </c:pt>
                  <c:pt idx="5">
                    <c:v>Russia ASAT test (Nov 2021)</c:v>
                  </c:pt>
                </c:lvl>
              </c:multiLvlStrCache>
            </c:multiLvlStrRef>
          </c:cat>
          <c:val>
            <c:numRef>
              <c:f>Sheet1!$B$2:$B$7</c:f>
              <c:numCache>
                <c:formatCode>General</c:formatCode>
                <c:ptCount val="6"/>
                <c:pt idx="0">
                  <c:v>65.5</c:v>
                </c:pt>
                <c:pt idx="1">
                  <c:v>35.8</c:v>
                </c:pt>
                <c:pt idx="2">
                  <c:v>17.8</c:v>
                </c:pt>
                <c:pt idx="3">
                  <c:v>0</c:v>
                </c:pt>
                <c:pt idx="4">
                  <c:v>0</c:v>
                </c:pt>
                <c:pt idx="5">
                  <c:v>0.2</c:v>
                </c:pt>
              </c:numCache>
            </c:numRef>
          </c:val>
        </c:ser>
        <c:dLbls>
          <c:numFmt formatCode="0.0" sourceLinked="0"/>
          <c:txPr>
            <a:bodyPr/>
            <a:lstStyle/>
            <a:p>
              <a:pPr>
                <a:defRPr b="0" i="0" strike="noStrike" sz="1100" u="none">
                  <a:solidFill>
                    <a:srgbClr val="1B24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573"/>
                </a:solidFill>
                <a:latin typeface="Calibri"/>
              </a:defRPr>
            </a:pPr>
            <a:endParaRPr lang="en-US"/>
          </a:p>
        </c:txPr>
        <c:crossAx val="2094734552"/>
        <c:crosses val="autoZero"/>
        <c:auto val="1"/>
        <c:lblAlgn val="ctr"/>
        <c:noMultiLvlLbl val="1"/>
      </c:catAx>
      <c:valAx>
        <c:axId val="2094734552"/>
        <c:scaling>
          <c:orientation val="minMax"/>
          <c:max val="100"/>
        </c:scaling>
        <c:delete val="0"/>
        <c:axPos val="b"/>
        <c:majorGridlines>
          <c:spPr>
            <a:ln w="6350" cap="flat">
              <a:solidFill>
                <a:srgbClr val="E3E6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57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3"/>
                </a:solidFill>
                <a:latin typeface="Calibri"/>
              </a:defRPr>
            </a:pPr>
            <a:r>
              <a:rPr sz="1300" b="0" i="0" u="none" strike="noStrike">
                <a:solidFill>
                  <a:srgbClr val="1B2433"/>
                </a:solidFill>
                <a:latin typeface="Calibri"/>
              </a:rPr>
              <a:t>Military, state-ISR and imaging satellites working, Sep 2026 (name-based lower bound)</a:t>
            </a:r>
          </a:p>
        </c:rich>
      </c:tx>
      <c:layout/>
      <c:overlay val="0"/>
    </c:title>
    <c:autoTitleDeleted val="0"/>
    <c:plotArea>
      <c:layout/>
      <c:barChart>
        <c:barDir val="bar"/>
        <c:grouping val="clustered"/>
        <c:varyColors val="0"/>
        <c:ser>
          <c:idx val="0"/>
          <c:order val="0"/>
          <c:tx>
            <c:strRef>
              <c:f>Sheet1!$B$1</c:f>
              <c:strCache>
                <c:ptCount val="1"/>
                <c:pt idx="0">
                  <c:v>Operational</c:v>
                </c:pt>
              </c:strCache>
            </c:strRef>
          </c:tx>
          <c:spPr>
            <a:solidFill>
              <a:srgbClr val="0B1D3A"/>
            </a:solidFill>
            <a:effectLst/>
          </c:spPr>
          <c:invertIfNegative val="0"/>
          <c:dLbls>
            <c:numFmt formatCode="#,##0" sourceLinked="0"/>
            <c:txPr>
              <a:bodyPr/>
              <a:lstStyle/>
              <a:p>
                <a:pPr>
                  <a:defRPr b="0" i="0" strike="noStrike" sz="1200" u="none">
                    <a:solidFill>
                      <a:srgbClr val="1B2433"/>
                    </a:solidFill>
                    <a:latin typeface="Arial"/>
                  </a:defRPr>
                </a:pPr>
              </a:p>
            </c:txPr>
            <c:showLegendKey val="0"/>
            <c:showVal val="1"/>
            <c:showCatName val="0"/>
            <c:showSerName val="0"/>
            <c:showPercent val="0"/>
            <c:showBubbleSize val="0"/>
            <c:showLeaderLines val="0"/>
          </c:dLbls>
          <c:cat>
            <c:multiLvlStrRef>
              <c:f>Sheet1!$A$2:$A$6</c:f>
              <c:multiLvlStrCache>
                <c:ptCount val="5"/>
                <c:lvl>
                  <c:pt idx="0">
                    <c:v>USA</c:v>
                  </c:pt>
                  <c:pt idx="1">
                    <c:v>China</c:v>
                  </c:pt>
                  <c:pt idx="2">
                    <c:v>Russia</c:v>
                  </c:pt>
                  <c:pt idx="3">
                    <c:v>India</c:v>
                  </c:pt>
                  <c:pt idx="4">
                    <c:v>India + SBS-III (2029)</c:v>
                  </c:pt>
                </c:lvl>
              </c:multiLvlStrCache>
            </c:multiLvlStrRef>
          </c:cat>
          <c:val>
            <c:numRef>
              <c:f>Sheet1!$B$2:$B$6</c:f>
              <c:numCache>
                <c:formatCode>General</c:formatCode>
                <c:ptCount val="5"/>
                <c:pt idx="0">
                  <c:v>542</c:v>
                </c:pt>
                <c:pt idx="1">
                  <c:v>406</c:v>
                </c:pt>
                <c:pt idx="2">
                  <c:v>146</c:v>
                </c:pt>
                <c:pt idx="3">
                  <c:v>17</c:v>
                </c:pt>
                <c:pt idx="4">
                  <c:v>69</c:v>
                </c:pt>
              </c:numCache>
            </c:numRef>
          </c:val>
        </c:ser>
        <c:dLbls>
          <c:numFmt formatCode="#,##0" sourceLinked="0"/>
          <c:txPr>
            <a:bodyPr/>
            <a:lstStyle/>
            <a:p>
              <a:pPr>
                <a:defRPr b="0" i="0" strike="noStrike" sz="1200" u="none">
                  <a:solidFill>
                    <a:srgbClr val="1B24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573"/>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3E6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57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3"/>
                </a:solidFill>
                <a:latin typeface="Calibri"/>
              </a:defRPr>
            </a:pPr>
            <a:r>
              <a:rPr sz="1300" b="0" i="0" u="none" strike="noStrike">
                <a:solidFill>
                  <a:srgbClr val="1B2433"/>
                </a:solidFill>
                <a:latin typeface="Calibri"/>
              </a:rPr>
              <a:t>Intense storms per 30 days (CDM Dst data)</a:t>
            </a:r>
          </a:p>
        </c:rich>
      </c:tx>
      <c:layout/>
      <c:overlay val="0"/>
    </c:title>
    <c:autoTitleDeleted val="0"/>
    <c:plotArea>
      <c:layout/>
      <c:barChart>
        <c:barDir val="col"/>
        <c:grouping val="clustered"/>
        <c:varyColors val="0"/>
        <c:ser>
          <c:idx val="0"/>
          <c:order val="0"/>
          <c:tx>
            <c:strRef>
              <c:f>Sheet1!$B$1</c:f>
              <c:strCache>
                <c:ptCount val="1"/>
                <c:pt idx="0">
                  <c:v>Intense storms per 30 days</c:v>
                </c:pt>
              </c:strCache>
            </c:strRef>
          </c:tx>
          <c:spPr>
            <a:solidFill>
              <a:srgbClr val="D99A1E"/>
            </a:solidFill>
            <a:effectLst/>
          </c:spPr>
          <c:invertIfNegative val="0"/>
          <c:dLbls>
            <c:numFmt formatCode="0.00" sourceLinked="0"/>
            <c:txPr>
              <a:bodyPr/>
              <a:lstStyle/>
              <a:p>
                <a:pPr>
                  <a:defRPr b="0" i="0" strike="noStrike" sz="1200" u="none">
                    <a:solidFill>
                      <a:srgbClr val="1B2433"/>
                    </a:solidFill>
                    <a:latin typeface="Arial"/>
                  </a:defRPr>
                </a:pPr>
              </a:p>
            </c:txPr>
            <c:showLegendKey val="0"/>
            <c:showVal val="1"/>
            <c:showCatName val="0"/>
            <c:showSerName val="0"/>
            <c:showPercent val="0"/>
            <c:showBubbleSize val="0"/>
            <c:showLeaderLines val="0"/>
          </c:dLbls>
          <c:cat>
            <c:multiLvlStrRef>
              <c:f>Sheet1!$A$2:$A$5</c:f>
              <c:multiLvlStrCache>
                <c:ptCount val="4"/>
                <c:lvl>
                  <c:pt idx="0">
                    <c:v>&lt;30</c:v>
                  </c:pt>
                  <c:pt idx="1">
                    <c:v>30-60</c:v>
                  </c:pt>
                  <c:pt idx="2">
                    <c:v>60-100</c:v>
                  </c:pt>
                  <c:pt idx="3">
                    <c:v>&gt;=100</c:v>
                  </c:pt>
                </c:lvl>
              </c:multiLvlStrCache>
            </c:multiLvlStrRef>
          </c:cat>
          <c:val>
            <c:numRef>
              <c:f>Sheet1!$B$2:$B$5</c:f>
              <c:numCache>
                <c:formatCode>General</c:formatCode>
                <c:ptCount val="4"/>
                <c:pt idx="0">
                  <c:v>0.06</c:v>
                </c:pt>
                <c:pt idx="1">
                  <c:v>0.39</c:v>
                </c:pt>
                <c:pt idx="2">
                  <c:v>0.5</c:v>
                </c:pt>
                <c:pt idx="3">
                  <c:v>0.59</c:v>
                </c:pt>
              </c:numCache>
            </c:numRef>
          </c:val>
        </c:ser>
        <c:dLbls>
          <c:numFmt formatCode="0.00" sourceLinked="0"/>
          <c:txPr>
            <a:bodyPr/>
            <a:lstStyle/>
            <a:p>
              <a:pPr>
                <a:defRPr b="0" i="0" strike="noStrike" sz="1200" u="none">
                  <a:solidFill>
                    <a:srgbClr val="1B24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5B6573"/>
                    </a:solidFill>
                    <a:latin typeface="Arial"/>
                  </a:defRPr>
                </a:pPr>
                <a:r>
                  <a:rPr sz="1000" b="0" i="0" u="none" strike="noStrike">
                    <a:solidFill>
                      <a:srgbClr val="5B6573"/>
                    </a:solidFill>
                    <a:latin typeface="Arial"/>
                  </a:rPr>
                  <a:t>smoothed sunspot number</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573"/>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6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57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3"/>
                </a:solidFill>
                <a:latin typeface="Calibri"/>
              </a:defRPr>
            </a:pPr>
            <a:r>
              <a:rPr sz="1300" b="0" i="0" u="none" strike="noStrike">
                <a:solidFill>
                  <a:srgbClr val="1B2433"/>
                </a:solidFill>
                <a:latin typeface="Calibri"/>
              </a:rPr>
              <a:t>Low-orbit debris re-entering per year (%): a 12-year cycle</a:t>
            </a:r>
          </a:p>
        </c:rich>
      </c:tx>
      <c:layout/>
      <c:overlay val="0"/>
    </c:title>
    <c:autoTitleDeleted val="0"/>
    <c:plotArea>
      <c:layout/>
      <c:lineChart>
        <c:varyColors val="0"/>
        <c:ser>
          <c:idx val="0"/>
          <c:order val="0"/>
          <c:tx>
            <c:strRef>
              <c:f>Sheet1!$B$1</c:f>
              <c:strCache>
                <c:ptCount val="1"/>
                <c:pt idx="0">
                  <c:v>Re-entry rate %</c:v>
                </c:pt>
              </c:strCache>
            </c:strRef>
          </c:tx>
          <c:spPr>
            <a:solidFill>
              <a:srgbClr val="2F5D8C"/>
            </a:solidFill>
            <a:ln w="25400" cap="flat">
              <a:solidFill>
                <a:srgbClr val="2F5D8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F5D8C"/>
              </a:solidFill>
              <a:ln w="9525" cap="flat">
                <a:solidFill>
                  <a:srgbClr val="2F5D8C"/>
                </a:solidFill>
                <a:prstDash val="solid"/>
                <a:round/>
              </a:ln>
              <a:effectLst/>
            </c:spPr>
          </c:marker>
          <c:cat>
            <c:multiLvlStrRef>
              <c:f>Sheet1!$A$2:$A$62</c:f>
              <c:multiLvlStrCache>
                <c:ptCount val="61"/>
                <c:lvl>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pt idx="51">
                    <c:v>2016</c:v>
                  </c:pt>
                  <c:pt idx="52">
                    <c:v>2017</c:v>
                  </c:pt>
                  <c:pt idx="53">
                    <c:v>2018</c:v>
                  </c:pt>
                  <c:pt idx="54">
                    <c:v>2019</c:v>
                  </c:pt>
                  <c:pt idx="55">
                    <c:v>2020</c:v>
                  </c:pt>
                  <c:pt idx="56">
                    <c:v>2021</c:v>
                  </c:pt>
                  <c:pt idx="57">
                    <c:v>2022</c:v>
                  </c:pt>
                  <c:pt idx="58">
                    <c:v>2023</c:v>
                  </c:pt>
                  <c:pt idx="59">
                    <c:v>2024</c:v>
                  </c:pt>
                  <c:pt idx="60">
                    <c:v>2025</c:v>
                  </c:pt>
                </c:lvl>
              </c:multiLvlStrCache>
            </c:multiLvlStrRef>
          </c:cat>
          <c:val>
            <c:numRef>
              <c:f>Sheet1!$B$2:$B$62</c:f>
              <c:numCache>
                <c:formatCode>General</c:formatCode>
                <c:ptCount val="61"/>
                <c:pt idx="0">
                  <c:v>2.22</c:v>
                </c:pt>
                <c:pt idx="1">
                  <c:v>4.26</c:v>
                </c:pt>
                <c:pt idx="2">
                  <c:v>4.82</c:v>
                </c:pt>
                <c:pt idx="3">
                  <c:v>4.27</c:v>
                </c:pt>
                <c:pt idx="4">
                  <c:v>5.2</c:v>
                </c:pt>
                <c:pt idx="5">
                  <c:v>4.04</c:v>
                </c:pt>
                <c:pt idx="6">
                  <c:v>2.31</c:v>
                </c:pt>
                <c:pt idx="7">
                  <c:v>3.59</c:v>
                </c:pt>
                <c:pt idx="8">
                  <c:v>1.94</c:v>
                </c:pt>
                <c:pt idx="9">
                  <c:v>2.44</c:v>
                </c:pt>
                <c:pt idx="10">
                  <c:v>2.39</c:v>
                </c:pt>
                <c:pt idx="11">
                  <c:v>2.57</c:v>
                </c:pt>
                <c:pt idx="12">
                  <c:v>4.58</c:v>
                </c:pt>
                <c:pt idx="13">
                  <c:v>5.19</c:v>
                </c:pt>
                <c:pt idx="14">
                  <c:v>6.23</c:v>
                </c:pt>
                <c:pt idx="15">
                  <c:v>4.55</c:v>
                </c:pt>
                <c:pt idx="16">
                  <c:v>5.72</c:v>
                </c:pt>
                <c:pt idx="17">
                  <c:v>3.95</c:v>
                </c:pt>
                <c:pt idx="18">
                  <c:v>2.42</c:v>
                </c:pt>
                <c:pt idx="19">
                  <c:v>2.88</c:v>
                </c:pt>
                <c:pt idx="20">
                  <c:v>1.51</c:v>
                </c:pt>
                <c:pt idx="21">
                  <c:v>3.12</c:v>
                </c:pt>
                <c:pt idx="22">
                  <c:v>2.49</c:v>
                </c:pt>
                <c:pt idx="23">
                  <c:v>6.18</c:v>
                </c:pt>
                <c:pt idx="24">
                  <c:v>7.59</c:v>
                </c:pt>
                <c:pt idx="25">
                  <c:v>3.09</c:v>
                </c:pt>
                <c:pt idx="26">
                  <c:v>4.05</c:v>
                </c:pt>
                <c:pt idx="27">
                  <c:v>1.9</c:v>
                </c:pt>
                <c:pt idx="28">
                  <c:v>1.07</c:v>
                </c:pt>
                <c:pt idx="29">
                  <c:v>0.6</c:v>
                </c:pt>
                <c:pt idx="30">
                  <c:v>0.61</c:v>
                </c:pt>
                <c:pt idx="31">
                  <c:v>1.33</c:v>
                </c:pt>
                <c:pt idx="32">
                  <c:v>2.46</c:v>
                </c:pt>
                <c:pt idx="33">
                  <c:v>2.17</c:v>
                </c:pt>
                <c:pt idx="34">
                  <c:v>2.48</c:v>
                </c:pt>
                <c:pt idx="35">
                  <c:v>1.8</c:v>
                </c:pt>
                <c:pt idx="36">
                  <c:v>1.77</c:v>
                </c:pt>
                <c:pt idx="37">
                  <c:v>2.4</c:v>
                </c:pt>
                <c:pt idx="38">
                  <c:v>1.26</c:v>
                </c:pt>
                <c:pt idx="39">
                  <c:v>0.81</c:v>
                </c:pt>
                <c:pt idx="40">
                  <c:v>0.83</c:v>
                </c:pt>
                <c:pt idx="41">
                  <c:v>0.92</c:v>
                </c:pt>
                <c:pt idx="42">
                  <c:v>0.75</c:v>
                </c:pt>
                <c:pt idx="43">
                  <c:v>3.82</c:v>
                </c:pt>
                <c:pt idx="44">
                  <c:v>1.4</c:v>
                </c:pt>
                <c:pt idx="45">
                  <c:v>1.79</c:v>
                </c:pt>
                <c:pt idx="46">
                  <c:v>2.4</c:v>
                </c:pt>
                <c:pt idx="47">
                  <c:v>2.22</c:v>
                </c:pt>
                <c:pt idx="48">
                  <c:v>2.15</c:v>
                </c:pt>
                <c:pt idx="49">
                  <c:v>3.21</c:v>
                </c:pt>
                <c:pt idx="50">
                  <c:v>2.11</c:v>
                </c:pt>
                <c:pt idx="51">
                  <c:v>0.93</c:v>
                </c:pt>
                <c:pt idx="52">
                  <c:v>0.67</c:v>
                </c:pt>
                <c:pt idx="53">
                  <c:v>0.66</c:v>
                </c:pt>
                <c:pt idx="54">
                  <c:v>0.61</c:v>
                </c:pt>
                <c:pt idx="55">
                  <c:v>1.38</c:v>
                </c:pt>
                <c:pt idx="56">
                  <c:v>1.61</c:v>
                </c:pt>
                <c:pt idx="57">
                  <c:v>11.82</c:v>
                </c:pt>
                <c:pt idx="58">
                  <c:v>8.24</c:v>
                </c:pt>
                <c:pt idx="59">
                  <c:v>7.09</c:v>
                </c:pt>
                <c:pt idx="60">
                  <c:v>5.12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573"/>
                </a:solidFill>
                <a:latin typeface="Calibri"/>
              </a:defRPr>
            </a:pPr>
            <a:endParaRPr lang="en-US"/>
          </a:p>
        </c:txPr>
        <c:crossAx val="2094734552"/>
        <c:crosses val="autoZero"/>
        <c:auto val="1"/>
        <c:lblAlgn val="ctr"/>
        <c:noMultiLvlLbl val="1"/>
        <c:tickLblSkip val="10"/>
      </c:catAx>
      <c:valAx>
        <c:axId val="2094734552"/>
        <c:scaling>
          <c:orientation val="minMax"/>
        </c:scaling>
        <c:delete val="0"/>
        <c:axPos val="l"/>
        <c:majorGridlines>
          <c:spPr>
            <a:ln w="6350" cap="flat">
              <a:solidFill>
                <a:srgbClr val="E3E6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57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3"/>
                </a:solidFill>
                <a:latin typeface="Calibri"/>
              </a:defRPr>
            </a:pPr>
            <a:r>
              <a:rPr sz="1300" b="0" i="0" u="none" strike="noStrike">
                <a:solidFill>
                  <a:srgbClr val="1B2433"/>
                </a:solidFill>
                <a:latin typeface="Calibri"/>
              </a:rPr>
              <a:t>Who saw each fire-day (10 km grid)</a:t>
            </a:r>
          </a:p>
        </c:rich>
      </c:tx>
      <c:layout/>
      <c:overlay val="0"/>
    </c:title>
    <c:autoTitleDeleted val="0"/>
    <c:plotArea>
      <c:layout/>
      <c:doughnutChart>
        <c:varyColors val="1"/>
        <c:ser>
          <c:idx val="0"/>
          <c:order val="0"/>
          <c:tx>
            <c:strRef>
              <c:f>Sheet1!$B$1</c:f>
              <c:strCache>
                <c:ptCount val="1"/>
                <c:pt idx="0">
                  <c:v>Fire-days</c:v>
                </c:pt>
              </c:strCache>
            </c:strRef>
          </c:tx>
          <c:spPr>
            <a:solidFill>
              <a:schemeClr val="accent1"/>
            </a:solidFill>
            <a:ln w="9525" cap="flat">
              <a:solidFill>
                <a:srgbClr val="F9F9F9"/>
              </a:solidFill>
              <a:prstDash val="solid"/>
              <a:round/>
            </a:ln>
            <a:effectLst/>
          </c:spPr>
          <c:dPt>
            <c:idx val="0"/>
            <c:bubble3D val="0"/>
            <c:spPr>
              <a:solidFill>
                <a:srgbClr val="2F5D8C"/>
              </a:solidFill>
              <a:effectLst/>
            </c:spPr>
          </c:dPt>
          <c:dPt>
            <c:idx val="1"/>
            <c:bubble3D val="0"/>
            <c:spPr>
              <a:solidFill>
                <a:srgbClr val="D99A1E"/>
              </a:solidFill>
              <a:effectLst/>
            </c:spPr>
          </c:dPt>
          <c:dPt>
            <c:idx val="2"/>
            <c:bubble3D val="0"/>
            <c:spPr>
              <a:solidFill>
                <a:srgbClr val="0B1D3A"/>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Aqua only</c:v>
                </c:pt>
                <c:pt idx="1">
                  <c:v>Terra only</c:v>
                </c:pt>
                <c:pt idx="2">
                  <c:v>Both</c:v>
                </c:pt>
              </c:strCache>
            </c:strRef>
          </c:cat>
          <c:val>
            <c:numRef>
              <c:f>Sheet1!$B$2:$B$4</c:f>
              <c:numCache>
                <c:ptCount val="3"/>
                <c:pt idx="0">
                  <c:v>45.5</c:v>
                </c:pt>
                <c:pt idx="1">
                  <c:v>38.5</c:v>
                </c:pt>
                <c:pt idx="2">
                  <c:v>16</c:v>
                </c:pt>
              </c:numCache>
            </c:numRef>
          </c:val>
        </c:ser>
        <c:firstSliceAng val="0"/>
        <c:holeSize val="55"/>
      </c:doughnutChart>
      <c:spPr>
        <a:noFill/>
        <a:ln>
          <a:noFill/>
        </a:ln>
        <a:effectLst/>
      </c:spPr>
    </c:plotArea>
    <c:legend>
      <c:legendPos val="r"/>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3"/>
                </a:solidFill>
                <a:latin typeface="Calibri"/>
              </a:defRPr>
            </a:pPr>
            <a:r>
              <a:rPr sz="1300" b="0" i="0" u="none" strike="noStrike">
                <a:solidFill>
                  <a:srgbClr val="1B2433"/>
                </a:solidFill>
                <a:latin typeface="Calibri"/>
              </a:rPr>
              <a:t>Satellites in orbit, 2000-2030</a:t>
            </a:r>
          </a:p>
        </c:rich>
      </c:tx>
      <c:layout/>
      <c:overlay val="0"/>
    </c:title>
    <c:autoTitleDeleted val="0"/>
    <c:plotArea>
      <c:layout/>
      <c:lineChart>
        <c:varyColors val="0"/>
        <c:ser>
          <c:idx val="0"/>
          <c:order val="0"/>
          <c:tx>
            <c:strRef>
              <c:f>Sheet1!$B$1</c:f>
              <c:strCache>
                <c:ptCount val="1"/>
                <c:pt idx="0">
                  <c:v>Payloads in orbit (catalogue)</c:v>
                </c:pt>
              </c:strCache>
            </c:strRef>
          </c:tx>
          <c:spPr>
            <a:solidFill>
              <a:srgbClr val="2F5D8C"/>
            </a:solidFill>
            <a:ln w="31750" cap="flat">
              <a:solidFill>
                <a:srgbClr val="2F5D8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F5D8C"/>
              </a:solidFill>
              <a:ln w="9525" cap="flat">
                <a:solidFill>
                  <a:srgbClr val="2F5D8C"/>
                </a:solidFill>
                <a:prstDash val="solid"/>
                <a:round/>
              </a:ln>
              <a:effectLst/>
            </c:spPr>
          </c:marker>
          <c:cat>
            <c:multiLvlStrRef>
              <c:f>Sheet1!$A$2:$A$32</c:f>
              <c:multiLvlStrCache>
                <c:ptCount val="31"/>
                <c:lvl>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pt idx="24">
                    <c:v>2024</c:v>
                  </c:pt>
                  <c:pt idx="25">
                    <c:v>2025</c:v>
                  </c:pt>
                  <c:pt idx="26">
                    <c:v>2026</c:v>
                  </c:pt>
                  <c:pt idx="27">
                    <c:v>2027</c:v>
                  </c:pt>
                  <c:pt idx="28">
                    <c:v>2028</c:v>
                  </c:pt>
                  <c:pt idx="29">
                    <c:v>2029</c:v>
                  </c:pt>
                  <c:pt idx="30">
                    <c:v>2030</c:v>
                  </c:pt>
                </c:lvl>
              </c:multiLvlStrCache>
            </c:multiLvlStrRef>
          </c:cat>
          <c:val>
            <c:numRef>
              <c:f>Sheet1!$B$2:$B$32</c:f>
              <c:numCache>
                <c:formatCode>General</c:formatCode>
                <c:ptCount val="31"/>
                <c:pt idx="0">
                  <c:v>3145</c:v>
                </c:pt>
                <c:pt idx="1">
                  <c:v>3178</c:v>
                </c:pt>
                <c:pt idx="2">
                  <c:v>3228</c:v>
                </c:pt>
                <c:pt idx="3">
                  <c:v>3288</c:v>
                </c:pt>
                <c:pt idx="4">
                  <c:v>3340</c:v>
                </c:pt>
                <c:pt idx="5">
                  <c:v>3387</c:v>
                </c:pt>
                <c:pt idx="6">
                  <c:v>3455</c:v>
                </c:pt>
                <c:pt idx="7">
                  <c:v>3533</c:v>
                </c:pt>
                <c:pt idx="8">
                  <c:v>3614</c:v>
                </c:pt>
                <c:pt idx="9">
                  <c:v>3710</c:v>
                </c:pt>
                <c:pt idx="10">
                  <c:v>3790</c:v>
                </c:pt>
                <c:pt idx="11">
                  <c:v>3874</c:v>
                </c:pt>
                <c:pt idx="12">
                  <c:v>3966</c:v>
                </c:pt>
                <c:pt idx="13">
                  <c:v>4126</c:v>
                </c:pt>
                <c:pt idx="14">
                  <c:v>4227</c:v>
                </c:pt>
                <c:pt idx="15">
                  <c:v>4322</c:v>
                </c:pt>
                <c:pt idx="16">
                  <c:v>4427</c:v>
                </c:pt>
                <c:pt idx="17">
                  <c:v>4762</c:v>
                </c:pt>
                <c:pt idx="18">
                  <c:v>5050</c:v>
                </c:pt>
                <c:pt idx="19">
                  <c:v>5415</c:v>
                </c:pt>
                <c:pt idx="20">
                  <c:v>6528</c:v>
                </c:pt>
                <c:pt idx="21">
                  <c:v>8123</c:v>
                </c:pt>
                <c:pt idx="22">
                  <c:v>10146</c:v>
                </c:pt>
                <c:pt idx="23">
                  <c:v>12338</c:v>
                </c:pt>
                <c:pt idx="24">
                  <c:v>14042</c:v>
                </c:pt>
                <c:pt idx="25">
                  <c:v>17414</c:v>
                </c:pt>
                <c:pt idx="26">
                  <c:v>19971</c:v>
                </c:pt>
                <c:pt idx="27">
                  <c:v/>
                </c:pt>
                <c:pt idx="28">
                  <c:v/>
                </c:pt>
                <c:pt idx="29">
                  <c:v/>
                </c:pt>
                <c:pt idx="30">
                  <c:v/>
                </c:pt>
              </c:numCache>
            </c:numRef>
          </c:val>
          <c:smooth val="0"/>
        </c:ser>
        <c:ser>
          <c:idx val="1"/>
          <c:order val="1"/>
          <c:tx>
            <c:strRef>
              <c:f>Sheet1!$C$1</c:f>
              <c:strCache>
                <c:ptCount val="1"/>
                <c:pt idx="0">
                  <c:v>Statistical trend (damped)</c:v>
                </c:pt>
              </c:strCache>
            </c:strRef>
          </c:tx>
          <c:spPr>
            <a:solidFill>
              <a:srgbClr val="C0392B"/>
            </a:solidFill>
            <a:ln w="31750" cap="flat">
              <a:solidFill>
                <a:srgbClr val="C039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0392B"/>
              </a:solidFill>
              <a:ln w="9525" cap="flat">
                <a:solidFill>
                  <a:srgbClr val="C0392B"/>
                </a:solidFill>
                <a:prstDash val="solid"/>
                <a:round/>
              </a:ln>
              <a:effectLst/>
            </c:spPr>
          </c:marker>
          <c:cat>
            <c:multiLvlStrRef>
              <c:f>Sheet1!$A$2:$A$32</c:f>
              <c:multiLvlStrCache>
                <c:ptCount val="31"/>
                <c:lvl>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pt idx="24">
                    <c:v>2024</c:v>
                  </c:pt>
                  <c:pt idx="25">
                    <c:v>2025</c:v>
                  </c:pt>
                  <c:pt idx="26">
                    <c:v>2026</c:v>
                  </c:pt>
                  <c:pt idx="27">
                    <c:v>2027</c:v>
                  </c:pt>
                  <c:pt idx="28">
                    <c:v>2028</c:v>
                  </c:pt>
                  <c:pt idx="29">
                    <c:v>2029</c:v>
                  </c:pt>
                  <c:pt idx="30">
                    <c:v>2030</c:v>
                  </c:pt>
                </c:lvl>
              </c:multiLvlStrCache>
            </c:multiLvlStrRef>
          </c:cat>
          <c:val>
            <c:numRef>
              <c:f>Sheet1!$C$2:$C$32</c:f>
              <c:numCache>
                <c:formatCode>General</c:formatCode>
                <c:ptCount val="3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19971</c:v>
                </c:pt>
                <c:pt idx="27">
                  <c:v>23257</c:v>
                </c:pt>
                <c:pt idx="28">
                  <c:v>26944</c:v>
                </c:pt>
                <c:pt idx="29">
                  <c:v>31178</c:v>
                </c:pt>
                <c:pt idx="30">
                  <c:v>36033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573"/>
                </a:solidFill>
                <a:latin typeface="Calibri"/>
              </a:defRPr>
            </a:pPr>
            <a:endParaRPr lang="en-US"/>
          </a:p>
        </c:txPr>
        <c:crossAx val="2094734552"/>
        <c:crosses val="autoZero"/>
        <c:auto val="1"/>
        <c:lblAlgn val="ctr"/>
        <c:noMultiLvlLbl val="1"/>
        <c:tickLblSkip val="5"/>
      </c:catAx>
      <c:valAx>
        <c:axId val="2094734552"/>
        <c:scaling>
          <c:orientation val="minMax"/>
        </c:scaling>
        <c:delete val="0"/>
        <c:axPos val="l"/>
        <c:majorGridlines>
          <c:spPr>
            <a:ln w="6350" cap="flat">
              <a:solidFill>
                <a:srgbClr val="E3E6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573"/>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3"/>
                </a:solidFill>
                <a:latin typeface="Calibri"/>
              </a:defRPr>
            </a:pPr>
            <a:r>
              <a:rPr sz="1300" b="0" i="0" u="none" strike="noStrike">
                <a:solidFill>
                  <a:srgbClr val="1B2433"/>
                </a:solidFill>
                <a:latin typeface="Calibri"/>
              </a:rPr>
              <a:t>Collision-risk index, low orbit (2014 = 1)</a:t>
            </a:r>
          </a:p>
        </c:rich>
      </c:tx>
      <c:layout/>
      <c:overlay val="0"/>
    </c:title>
    <c:autoTitleDeleted val="0"/>
    <c:plotArea>
      <c:layout/>
      <c:barChart>
        <c:barDir val="col"/>
        <c:grouping val="clustered"/>
        <c:varyColors val="0"/>
        <c:ser>
          <c:idx val="0"/>
          <c:order val="0"/>
          <c:tx>
            <c:strRef>
              <c:f>Sheet1!$B$1</c:f>
              <c:strCache>
                <c:ptCount val="1"/>
                <c:pt idx="0">
                  <c:v>Index</c:v>
                </c:pt>
              </c:strCache>
            </c:strRef>
          </c:tx>
          <c:spPr>
            <a:solidFill>
              <a:srgbClr val="0B1D3A"/>
            </a:solidFill>
            <a:effectLst/>
          </c:spPr>
          <c:invertIfNegative val="0"/>
          <c:dLbls>
            <c:numFmt formatCode="0.0" sourceLinked="0"/>
            <c:txPr>
              <a:bodyPr/>
              <a:lstStyle/>
              <a:p>
                <a:pPr>
                  <a:defRPr b="0" i="0" strike="noStrike" sz="1100" u="none">
                    <a:solidFill>
                      <a:srgbClr val="1B2433"/>
                    </a:solidFill>
                    <a:latin typeface="Arial"/>
                  </a:defRPr>
                </a:pPr>
              </a:p>
            </c:txPr>
            <c:showLegendKey val="0"/>
            <c:showVal val="1"/>
            <c:showCatName val="0"/>
            <c:showSerName val="0"/>
            <c:showPercent val="0"/>
            <c:showBubbleSize val="0"/>
            <c:showLeaderLines val="0"/>
          </c:dLbls>
          <c:cat>
            <c:multiLvlStrRef>
              <c:f>Sheet1!$A$2:$A$6</c:f>
              <c:multiLvlStrCache>
                <c:ptCount val="5"/>
                <c:lvl>
                  <c:pt idx="0">
                    <c:v>Jan 2014</c:v>
                  </c:pt>
                  <c:pt idx="1">
                    <c:v>Sep 2026</c:v>
                  </c:pt>
                  <c:pt idx="2">
                    <c:v>2030 Low</c:v>
                  </c:pt>
                  <c:pt idx="3">
                    <c:v>2030 Base</c:v>
                  </c:pt>
                  <c:pt idx="4">
                    <c:v>2030 High</c:v>
                  </c:pt>
                </c:lvl>
              </c:multiLvlStrCache>
            </c:multiLvlStrRef>
          </c:cat>
          <c:val>
            <c:numRef>
              <c:f>Sheet1!$B$2:$B$6</c:f>
              <c:numCache>
                <c:formatCode>General</c:formatCode>
                <c:ptCount val="5"/>
                <c:pt idx="0">
                  <c:v>1</c:v>
                </c:pt>
                <c:pt idx="1">
                  <c:v>10.3</c:v>
                </c:pt>
                <c:pt idx="2">
                  <c:v>11.6</c:v>
                </c:pt>
                <c:pt idx="3">
                  <c:v>16.8</c:v>
                </c:pt>
                <c:pt idx="4">
                  <c:v>27.2</c:v>
                </c:pt>
              </c:numCache>
            </c:numRef>
          </c:val>
        </c:ser>
        <c:dLbls>
          <c:numFmt formatCode="0.0" sourceLinked="0"/>
          <c:txPr>
            <a:bodyPr/>
            <a:lstStyle/>
            <a:p>
              <a:pPr>
                <a:defRPr b="0" i="0" strike="noStrike" sz="1100" u="none">
                  <a:solidFill>
                    <a:srgbClr val="1B24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573"/>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6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57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Sir, my study takes the CDM satellite data and asks five questions: how crowded orbit has become, who owns it, how dangerous it is, who is building military eyes in it, and what India should do. About fifteen minutes,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carry the study. Working satellites rose 15-fold in twelve years. Collision risk in low orbit is about ten times the 2014 level. And China operates about 406 state intelligence and military satellites to India's 17. India's share of working satellites has fallen to 0.5 percent. Everything that follows is the evidence, and at the end one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theme asks for insights into satellite proliferation and a prediction of the trajectory. I turned that into five questions a commander would ask. The CDM data give the 2014 baseline, space weather and a real example of what satellites see. The open catalogue brings the picture to September 2026. Every number is regenerated from raw data by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independent counts: the CDM census of 2014, the UCS database of 2020, and today's catalogue. From 1,167 to 17,062. A change-point test puts the break around 2021, when the mega-constellations began. Satellites launched a year went from 199 in 2013 to 4,480 in 2025. UN registrations match the catalogue almost exactly, so the count is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of orbit is concentrating. The USA went from 43 to 76 percent of working satellites, mostly one company. China grew thirteen-fold in numbers but held its share near ten percent. India grew from 33 to 78 satellites, but its share fell from 2.8 to 0.5 percent. The concentration index is more than double the 'highly concentrated'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Orbit is crowded in two places. The live crowd at 450 to 500 kilometres, almost all working satellites. The dead crowd at 750 to 900 kilometres, mostly debris from the 2007 Chinese test and the 2009 collision. Collisions grow with the square of the number of objects at each height, so the collision-risk index is about 10 times its 2014 level. Higher up, the geostationary arc India uses holds 162 satellites; China and the USA each have more there than India.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events, one lesson. China's 2007 test at high altitude made over three and a half thousand tracked pieces, and two thirds are still up nearly twenty years later. India's 2019 test was done low; every piece re-entered, most within half a year. Russia's 2021 test has almost cleared. A responsible test is a low one, and India can say so with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Grouping satellites by official programme names gives a transparent lower bound. China operates about 406, including 164 Yaogan reconnaissance satellites, and adds about 43 a year. India operates about 17. SBS-III is the right answer but closes only about 13% of today's gap. During Operation Sindoor ten Indian satellites worked round the clock: the need is proven, the capacity is thin.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Sun is the adversary nobody can deter. In the CDM records, when sunspots are high, the chance of an intense magnetic storm in a month is 39%; when quiet, 6%. A Poisson model gives 1.88 times the rate per 50 sunspots. A periodogram of debris re-entries finds a 12-year cycle on its own: the solar cycle heats the upper atmosphere and drags objects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take all this risk? Because of what satellites see. Terra passes in the morning, Aqua in the afternoon. On a ten-kilometre grid, 84% of fire-days were seen by only one of them: a single satellite would have missed nearly half. For the Services the lesson is direct: persistence comes from numbers, and revisit decides whether a mobilisation or a launcher is caught in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routes agree. A damped-trend forecast reaches about 36,000 satellites in orbit by 2030; tested on held-back years it erred by 8.6 percent. A bottom-up build from the announced constellations gives 20,901, 30,875 or 43,606 working satellites. The collision-risk index rises to about 17 times the 2014 level in the base case. China's planned shells at 1,050 to 1,200 kilometres are the concern: debris there stays for centuries.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 commander acts, he asks how sure we are. Each headline was checked by a second source or a second method: UN registrations for growth, a second shell size for congestion, a sensitivity test for the intelligence count, two statistical tests for storms, and a back-test for the forecast. The intelligence count is a lower bound: covert satellites would only widen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India the problem is structural: rising dependence on space for banking, navigation, communications and warning, a falling share of working satellites, and a launch rate far behind China's. For the Services: plan on being watched, and plan on losing some space services in war.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study becomes a standing monitor. Seven indicators, each with thresholds and an action on Red. Today six are Red: collision risk, growth rate, Chinese ISR build rate, India's share, storm odds, and crowding of our geostationary arc. The anti-satellite test indicator is Amber.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actions from the booklet, each with a lead, a timeline and a measure of success. The first costs almost nothing: the open catalogue and the pipeline already exist. The others build capacity and resilience.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technical criteria: everything is code. One command rebuilds every figure, table and number, and the Power BI dashboard uses the same tables. I can show the dashboard live if the panel wishes.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in twelve years orbit became crowded, concentrated and contested, and India's share shrank while its dependence grew. The remedy is numbers, resilience and awareness. The ask is small and time-bound, with a clear stop test. Thank you, sir.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slideLayout" Target="../slideLayouts/slideLayout1.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9.xm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chart" Target="/ppt/charts/chart11.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A"/>
        </a:solidFill>
      </p:bgPr>
    </p:bg>
    <p:spTree>
      <p:nvGrpSpPr>
        <p:cNvPr id="1" name=""/>
        <p:cNvGrpSpPr/>
        <p:nvPr/>
      </p:nvGrpSpPr>
      <p:grpSpPr>
        <a:xfrm>
          <a:off x="0" y="0"/>
          <a:ext cx="0" cy="0"/>
          <a:chOff x="0" y="0"/>
          <a:chExt cx="0" cy="0"/>
        </a:xfrm>
      </p:grpSpPr>
      <p:sp>
        <p:nvSpPr>
          <p:cNvPr id="2" name="Shape 0"/>
          <p:cNvSpPr/>
          <p:nvPr/>
        </p:nvSpPr>
        <p:spPr>
          <a:xfrm>
            <a:off x="548640" y="548640"/>
            <a:ext cx="822960" cy="822960"/>
          </a:xfrm>
          <a:prstGeom prst="ellipse">
            <a:avLst/>
          </a:prstGeom>
          <a:solidFill>
            <a:srgbClr val="2F5D8C"/>
          </a:solidFill>
          <a:ln w="12700">
            <a:solidFill>
              <a:srgbClr val="2F5D8C"/>
            </a:solidFill>
            <a:prstDash val="solid"/>
          </a:ln>
        </p:spPr>
      </p:sp>
      <p:pic>
        <p:nvPicPr>
          <p:cNvPr id="3" name="Image 0" descr="preencoded.png">    </p:cNvPr>
          <p:cNvPicPr>
            <a:picLocks noChangeAspect="1"/>
          </p:cNvPicPr>
          <p:nvPr/>
        </p:nvPicPr>
        <p:blipFill>
          <a:blip r:embed="rId1"/>
          <a:stretch>
            <a:fillRect/>
          </a:stretch>
        </p:blipFill>
        <p:spPr>
          <a:xfrm>
            <a:off x="729691" y="729691"/>
            <a:ext cx="460858" cy="460858"/>
          </a:xfrm>
          <a:prstGeom prst="rect">
            <a:avLst/>
          </a:prstGeom>
        </p:spPr>
      </p:pic>
      <p:sp>
        <p:nvSpPr>
          <p:cNvPr id="4" name="Text 1"/>
          <p:cNvSpPr txBox="1"/>
          <p:nvPr/>
        </p:nvSpPr>
        <p:spPr>
          <a:xfrm>
            <a:off x="1554480" y="713232"/>
            <a:ext cx="10058400" cy="457200"/>
          </a:xfrm>
          <a:prstGeom prst="rect">
            <a:avLst/>
          </a:prstGeom>
          <a:noFill/>
          <a:ln/>
        </p:spPr>
        <p:txBody>
          <a:bodyPr wrap="square" lIns="0" tIns="0" rIns="0" bIns="0" rtlCol="0" anchor="ctr"/>
          <a:lstStyle/>
          <a:p>
            <a:pPr indent="0" marL="0">
              <a:buNone/>
            </a:pPr>
            <a:r>
              <a:rPr lang="en-US" sz="1400" b="1" spc="200" kern="0" dirty="0">
                <a:solidFill>
                  <a:srgbClr val="D99A1E"/>
                </a:solidFill>
                <a:latin typeface="Calibri" pitchFamily="34" charset="0"/>
                <a:ea typeface="Calibri" pitchFamily="34" charset="-122"/>
                <a:cs typeface="Calibri" pitchFamily="34" charset="-120"/>
              </a:rPr>
              <a:t>CDM DATATHON-2026  ·  THEME 6.1  ·  CONTESTED AND CONGESTED</a:t>
            </a:r>
            <a:endParaRPr lang="en-US" sz="1400" dirty="0"/>
          </a:p>
        </p:txBody>
      </p:sp>
      <p:sp>
        <p:nvSpPr>
          <p:cNvPr id="5" name="Text 2"/>
          <p:cNvSpPr txBox="1"/>
          <p:nvPr/>
        </p:nvSpPr>
        <p:spPr>
          <a:xfrm>
            <a:off x="548640" y="1828800"/>
            <a:ext cx="10972800" cy="118872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Project High Ground</a:t>
            </a:r>
            <a:endParaRPr lang="en-US" sz="6000" dirty="0"/>
          </a:p>
        </p:txBody>
      </p:sp>
      <p:sp>
        <p:nvSpPr>
          <p:cNvPr id="6" name="Text 3"/>
          <p:cNvSpPr txBox="1"/>
          <p:nvPr/>
        </p:nvSpPr>
        <p:spPr>
          <a:xfrm>
            <a:off x="548640" y="3063240"/>
            <a:ext cx="10515600" cy="822960"/>
          </a:xfrm>
          <a:prstGeom prst="rect">
            <a:avLst/>
          </a:prstGeom>
          <a:noFill/>
          <a:ln/>
        </p:spPr>
        <p:txBody>
          <a:bodyPr wrap="square" lIns="0" tIns="0" rIns="0" bIns="0" rtlCol="0" anchor="ctr"/>
          <a:lstStyle/>
          <a:p>
            <a:pPr indent="0" marL="0">
              <a:buNone/>
            </a:pPr>
            <a:r>
              <a:rPr lang="en-US" sz="2400" i="1" dirty="0">
                <a:solidFill>
                  <a:srgbClr val="D9DEE7"/>
                </a:solidFill>
                <a:latin typeface="Cambria" pitchFamily="34" charset="0"/>
                <a:ea typeface="Cambria" pitchFamily="34" charset="-122"/>
                <a:cs typeface="Cambria" pitchFamily="34" charset="-120"/>
              </a:rPr>
              <a:t>The crowding of orbit, and what it means for India and the Indian Armed Forces</a:t>
            </a:r>
            <a:endParaRPr lang="en-US" sz="2400" dirty="0"/>
          </a:p>
        </p:txBody>
      </p:sp>
      <p:sp>
        <p:nvSpPr>
          <p:cNvPr id="7" name="Text 4"/>
          <p:cNvSpPr txBox="1"/>
          <p:nvPr/>
        </p:nvSpPr>
        <p:spPr>
          <a:xfrm>
            <a:off x="548640" y="4572000"/>
            <a:ext cx="7315200" cy="1097280"/>
          </a:xfrm>
          <a:prstGeom prst="rect">
            <a:avLst/>
          </a:prstGeom>
          <a:noFill/>
          <a:ln/>
        </p:spPr>
        <p:txBody>
          <a:bodyPr wrap="square" lIns="0" tIns="0" rIns="0" bIns="0" rtlCol="0" anchor="ctr"/>
          <a:lstStyle/>
          <a:p>
            <a:pPr indent="0" marL="0">
              <a:spcAft>
                <a:spcPts val="400"/>
              </a:spcAft>
              <a:buNone/>
            </a:pPr>
            <a:r>
              <a:rPr lang="en-US" sz="1600" b="1" dirty="0">
                <a:solidFill>
                  <a:srgbClr val="FFFFFF"/>
                </a:solidFill>
                <a:latin typeface="Calibri" pitchFamily="34" charset="0"/>
                <a:ea typeface="Calibri" pitchFamily="34" charset="-122"/>
                <a:cs typeface="Calibri" pitchFamily="34" charset="-120"/>
              </a:rPr>
              <a:t>[Rank] Arjun Jayadev</a:t>
            </a:r>
            <a:endParaRPr lang="en-US" sz="1600" dirty="0"/>
          </a:p>
          <a:p>
            <a:pPr indent="0" marL="0">
              <a:spcAft>
                <a:spcPts val="400"/>
              </a:spcAft>
              <a:buNone/>
            </a:pPr>
            <a:r>
              <a:rPr lang="en-US" sz="1600" dirty="0">
                <a:solidFill>
                  <a:srgbClr val="AEB9C8"/>
                </a:solidFill>
                <a:latin typeface="Calibri" pitchFamily="34" charset="0"/>
                <a:ea typeface="Calibri" pitchFamily="34" charset="-122"/>
                <a:cs typeface="Calibri" pitchFamily="34" charset="-120"/>
              </a:rPr>
              <a:t>[Service No]  ·  [Unit / Formation]</a:t>
            </a:r>
            <a:endParaRPr lang="en-US" sz="1600" dirty="0"/>
          </a:p>
          <a:p>
            <a:pPr indent="0" marL="0">
              <a:spcAft>
                <a:spcPts val="400"/>
              </a:spcAft>
              <a:buNone/>
            </a:pPr>
            <a:r>
              <a:rPr lang="en-US" sz="1600" dirty="0">
                <a:solidFill>
                  <a:srgbClr val="AEB9C8"/>
                </a:solidFill>
                <a:latin typeface="Calibri" pitchFamily="34" charset="0"/>
                <a:ea typeface="Calibri" pitchFamily="34" charset="-122"/>
                <a:cs typeface="Calibri" pitchFamily="34" charset="-120"/>
              </a:rPr>
              <a:t>College of Defence Management  ·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D99A1E"/>
                </a:solidFill>
                <a:latin typeface="Calibri" pitchFamily="34" charset="0"/>
                <a:ea typeface="Calibri" pitchFamily="34" charset="-122"/>
                <a:cs typeface="Calibri" pitchFamily="34" charset="-120"/>
              </a:rPr>
              <a:t>BOTTOM LINE UP FRONT</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2800" b="1" dirty="0">
                <a:solidFill>
                  <a:srgbClr val="0B1D3A"/>
                </a:solidFill>
                <a:latin typeface="Cambria" pitchFamily="34" charset="0"/>
                <a:ea typeface="Cambria" pitchFamily="34" charset="-122"/>
                <a:cs typeface="Cambria" pitchFamily="34" charset="-120"/>
              </a:rPr>
              <a:t>Orbit is crowded, concentrated and contested</a:t>
            </a:r>
            <a:endParaRPr lang="en-US" sz="2800" dirty="0"/>
          </a:p>
        </p:txBody>
      </p:sp>
      <p:sp>
        <p:nvSpPr>
          <p:cNvPr id="4" name="Shape 2"/>
          <p:cNvSpPr/>
          <p:nvPr/>
        </p:nvSpPr>
        <p:spPr>
          <a:xfrm>
            <a:off x="548640" y="1737360"/>
            <a:ext cx="3474720" cy="3017520"/>
          </a:xfrm>
          <a:prstGeom prst="roundRect">
            <a:avLst>
              <a:gd name="adj" fmla="val 2424"/>
            </a:avLst>
          </a:prstGeom>
          <a:solidFill>
            <a:srgbClr val="EEF2F7"/>
          </a:solidFill>
          <a:ln w="12700">
            <a:solidFill>
              <a:srgbClr val="EEF2F7"/>
            </a:solidFill>
            <a:prstDash val="solid"/>
          </a:ln>
        </p:spPr>
      </p:sp>
      <p:sp>
        <p:nvSpPr>
          <p:cNvPr id="5" name="Shape 3"/>
          <p:cNvSpPr/>
          <p:nvPr/>
        </p:nvSpPr>
        <p:spPr>
          <a:xfrm>
            <a:off x="868680" y="2011680"/>
            <a:ext cx="685800" cy="685800"/>
          </a:xfrm>
          <a:prstGeom prst="ellipse">
            <a:avLst/>
          </a:prstGeom>
          <a:solidFill>
            <a:srgbClr val="0B1D3A"/>
          </a:solidFill>
          <a:ln w="12700">
            <a:solidFill>
              <a:srgbClr val="0B1D3A"/>
            </a:solidFill>
            <a:prstDash val="solid"/>
          </a:ln>
        </p:spPr>
      </p:sp>
      <p:pic>
        <p:nvPicPr>
          <p:cNvPr id="6" name="Image 0" descr="preencoded.png">    </p:cNvPr>
          <p:cNvPicPr>
            <a:picLocks noChangeAspect="1"/>
          </p:cNvPicPr>
          <p:nvPr/>
        </p:nvPicPr>
        <p:blipFill>
          <a:blip r:embed="rId1"/>
          <a:stretch>
            <a:fillRect/>
          </a:stretch>
        </p:blipFill>
        <p:spPr>
          <a:xfrm>
            <a:off x="1019556" y="2162556"/>
            <a:ext cx="384048" cy="384048"/>
          </a:xfrm>
          <a:prstGeom prst="rect">
            <a:avLst/>
          </a:prstGeom>
        </p:spPr>
      </p:pic>
      <p:sp>
        <p:nvSpPr>
          <p:cNvPr id="7" name="Text 4"/>
          <p:cNvSpPr txBox="1"/>
          <p:nvPr/>
        </p:nvSpPr>
        <p:spPr>
          <a:xfrm>
            <a:off x="868680" y="2834640"/>
            <a:ext cx="2926080" cy="822960"/>
          </a:xfrm>
          <a:prstGeom prst="rect">
            <a:avLst/>
          </a:prstGeom>
          <a:noFill/>
          <a:ln/>
        </p:spPr>
        <p:txBody>
          <a:bodyPr wrap="square" lIns="0" tIns="0" rIns="0" bIns="0" rtlCol="0" anchor="ctr"/>
          <a:lstStyle/>
          <a:p>
            <a:pPr indent="0" marL="0">
              <a:buNone/>
            </a:pPr>
            <a:r>
              <a:rPr lang="en-US" sz="4400" b="1" dirty="0">
                <a:solidFill>
                  <a:srgbClr val="C0392B"/>
                </a:solidFill>
                <a:latin typeface="Cambria" pitchFamily="34" charset="0"/>
                <a:ea typeface="Cambria" pitchFamily="34" charset="-122"/>
                <a:cs typeface="Cambria" pitchFamily="34" charset="-120"/>
              </a:rPr>
              <a:t>15×</a:t>
            </a:r>
            <a:endParaRPr lang="en-US" sz="4400" dirty="0"/>
          </a:p>
        </p:txBody>
      </p:sp>
      <p:sp>
        <p:nvSpPr>
          <p:cNvPr id="8" name="Text 5"/>
          <p:cNvSpPr txBox="1"/>
          <p:nvPr/>
        </p:nvSpPr>
        <p:spPr>
          <a:xfrm>
            <a:off x="868680" y="3703320"/>
            <a:ext cx="2926080" cy="822960"/>
          </a:xfrm>
          <a:prstGeom prst="rect">
            <a:avLst/>
          </a:prstGeom>
          <a:noFill/>
          <a:ln/>
        </p:spPr>
        <p:txBody>
          <a:bodyPr wrap="square" lIns="0" tIns="0" rIns="0" bIns="0" rtlCol="0" anchor="t"/>
          <a:lstStyle/>
          <a:p>
            <a:pPr indent="0" marL="0">
              <a:buNone/>
            </a:pPr>
            <a:r>
              <a:rPr lang="en-US" sz="1500" dirty="0">
                <a:solidFill>
                  <a:srgbClr val="1B2433"/>
                </a:solidFill>
                <a:latin typeface="Calibri" pitchFamily="34" charset="0"/>
                <a:ea typeface="Calibri" pitchFamily="34" charset="-122"/>
                <a:cs typeface="Calibri" pitchFamily="34" charset="-120"/>
              </a:rPr>
              <a:t>working satellites since 2014: 1,167 to 17,062</a:t>
            </a:r>
            <a:endParaRPr lang="en-US" sz="1500" dirty="0"/>
          </a:p>
        </p:txBody>
      </p:sp>
      <p:sp>
        <p:nvSpPr>
          <p:cNvPr id="9" name="Shape 6"/>
          <p:cNvSpPr/>
          <p:nvPr/>
        </p:nvSpPr>
        <p:spPr>
          <a:xfrm>
            <a:off x="4297680" y="1737360"/>
            <a:ext cx="3474720" cy="3017520"/>
          </a:xfrm>
          <a:prstGeom prst="roundRect">
            <a:avLst>
              <a:gd name="adj" fmla="val 2424"/>
            </a:avLst>
          </a:prstGeom>
          <a:solidFill>
            <a:srgbClr val="EEF2F7"/>
          </a:solidFill>
          <a:ln w="12700">
            <a:solidFill>
              <a:srgbClr val="EEF2F7"/>
            </a:solidFill>
            <a:prstDash val="solid"/>
          </a:ln>
        </p:spPr>
      </p:sp>
      <p:sp>
        <p:nvSpPr>
          <p:cNvPr id="10" name="Shape 7"/>
          <p:cNvSpPr/>
          <p:nvPr/>
        </p:nvSpPr>
        <p:spPr>
          <a:xfrm>
            <a:off x="4617720" y="2011680"/>
            <a:ext cx="685800" cy="685800"/>
          </a:xfrm>
          <a:prstGeom prst="ellipse">
            <a:avLst/>
          </a:prstGeom>
          <a:solidFill>
            <a:srgbClr val="0B1D3A"/>
          </a:solidFill>
          <a:ln w="12700">
            <a:solidFill>
              <a:srgbClr val="0B1D3A"/>
            </a:solidFill>
            <a:prstDash val="solid"/>
          </a:ln>
        </p:spPr>
      </p:sp>
      <p:pic>
        <p:nvPicPr>
          <p:cNvPr id="11" name="Image 1" descr="preencoded.png">    </p:cNvPr>
          <p:cNvPicPr>
            <a:picLocks noChangeAspect="1"/>
          </p:cNvPicPr>
          <p:nvPr/>
        </p:nvPicPr>
        <p:blipFill>
          <a:blip r:embed="rId2"/>
          <a:stretch>
            <a:fillRect/>
          </a:stretch>
        </p:blipFill>
        <p:spPr>
          <a:xfrm>
            <a:off x="4768596" y="2162556"/>
            <a:ext cx="384048" cy="384048"/>
          </a:xfrm>
          <a:prstGeom prst="rect">
            <a:avLst/>
          </a:prstGeom>
        </p:spPr>
      </p:pic>
      <p:sp>
        <p:nvSpPr>
          <p:cNvPr id="12" name="Text 8"/>
          <p:cNvSpPr txBox="1"/>
          <p:nvPr/>
        </p:nvSpPr>
        <p:spPr>
          <a:xfrm>
            <a:off x="4617720" y="2834640"/>
            <a:ext cx="2926080" cy="822960"/>
          </a:xfrm>
          <a:prstGeom prst="rect">
            <a:avLst/>
          </a:prstGeom>
          <a:noFill/>
          <a:ln/>
        </p:spPr>
        <p:txBody>
          <a:bodyPr wrap="square" lIns="0" tIns="0" rIns="0" bIns="0" rtlCol="0" anchor="ctr"/>
          <a:lstStyle/>
          <a:p>
            <a:pPr indent="0" marL="0">
              <a:buNone/>
            </a:pPr>
            <a:r>
              <a:rPr lang="en-US" sz="4400" b="1" dirty="0">
                <a:solidFill>
                  <a:srgbClr val="C0392B"/>
                </a:solidFill>
                <a:latin typeface="Cambria" pitchFamily="34" charset="0"/>
                <a:ea typeface="Cambria" pitchFamily="34" charset="-122"/>
                <a:cs typeface="Cambria" pitchFamily="34" charset="-120"/>
              </a:rPr>
              <a:t>×10</a:t>
            </a:r>
            <a:endParaRPr lang="en-US" sz="4400" dirty="0"/>
          </a:p>
        </p:txBody>
      </p:sp>
      <p:sp>
        <p:nvSpPr>
          <p:cNvPr id="13" name="Text 9"/>
          <p:cNvSpPr txBox="1"/>
          <p:nvPr/>
        </p:nvSpPr>
        <p:spPr>
          <a:xfrm>
            <a:off x="4617720" y="3703320"/>
            <a:ext cx="2926080" cy="822960"/>
          </a:xfrm>
          <a:prstGeom prst="rect">
            <a:avLst/>
          </a:prstGeom>
          <a:noFill/>
          <a:ln/>
        </p:spPr>
        <p:txBody>
          <a:bodyPr wrap="square" lIns="0" tIns="0" rIns="0" bIns="0" rtlCol="0" anchor="t"/>
          <a:lstStyle/>
          <a:p>
            <a:pPr indent="0" marL="0">
              <a:buNone/>
            </a:pPr>
            <a:r>
              <a:rPr lang="en-US" sz="1500" dirty="0">
                <a:solidFill>
                  <a:srgbClr val="1B2433"/>
                </a:solidFill>
                <a:latin typeface="Calibri" pitchFamily="34" charset="0"/>
                <a:ea typeface="Calibri" pitchFamily="34" charset="-122"/>
                <a:cs typeface="Calibri" pitchFamily="34" charset="-120"/>
              </a:rPr>
              <a:t>collision-risk index in low orbit, against 2014</a:t>
            </a:r>
            <a:endParaRPr lang="en-US" sz="1500" dirty="0"/>
          </a:p>
        </p:txBody>
      </p:sp>
      <p:sp>
        <p:nvSpPr>
          <p:cNvPr id="14" name="Shape 10"/>
          <p:cNvSpPr/>
          <p:nvPr/>
        </p:nvSpPr>
        <p:spPr>
          <a:xfrm>
            <a:off x="8046720" y="1737360"/>
            <a:ext cx="3474720" cy="3017520"/>
          </a:xfrm>
          <a:prstGeom prst="roundRect">
            <a:avLst>
              <a:gd name="adj" fmla="val 2424"/>
            </a:avLst>
          </a:prstGeom>
          <a:solidFill>
            <a:srgbClr val="EEF2F7"/>
          </a:solidFill>
          <a:ln w="12700">
            <a:solidFill>
              <a:srgbClr val="EEF2F7"/>
            </a:solidFill>
            <a:prstDash val="solid"/>
          </a:ln>
        </p:spPr>
      </p:sp>
      <p:sp>
        <p:nvSpPr>
          <p:cNvPr id="15" name="Shape 11"/>
          <p:cNvSpPr/>
          <p:nvPr/>
        </p:nvSpPr>
        <p:spPr>
          <a:xfrm>
            <a:off x="8366760" y="2011680"/>
            <a:ext cx="685800" cy="685800"/>
          </a:xfrm>
          <a:prstGeom prst="ellipse">
            <a:avLst/>
          </a:prstGeom>
          <a:solidFill>
            <a:srgbClr val="0B1D3A"/>
          </a:solidFill>
          <a:ln w="12700">
            <a:solidFill>
              <a:srgbClr val="0B1D3A"/>
            </a:solidFill>
            <a:prstDash val="solid"/>
          </a:ln>
        </p:spPr>
      </p:sp>
      <p:pic>
        <p:nvPicPr>
          <p:cNvPr id="16" name="Image 2" descr="preencoded.png">    </p:cNvPr>
          <p:cNvPicPr>
            <a:picLocks noChangeAspect="1"/>
          </p:cNvPicPr>
          <p:nvPr/>
        </p:nvPicPr>
        <p:blipFill>
          <a:blip r:embed="rId3"/>
          <a:stretch>
            <a:fillRect/>
          </a:stretch>
        </p:blipFill>
        <p:spPr>
          <a:xfrm>
            <a:off x="8517636" y="2162556"/>
            <a:ext cx="384048" cy="384048"/>
          </a:xfrm>
          <a:prstGeom prst="rect">
            <a:avLst/>
          </a:prstGeom>
        </p:spPr>
      </p:pic>
      <p:sp>
        <p:nvSpPr>
          <p:cNvPr id="17" name="Text 12"/>
          <p:cNvSpPr txBox="1"/>
          <p:nvPr/>
        </p:nvSpPr>
        <p:spPr>
          <a:xfrm>
            <a:off x="8366760" y="2834640"/>
            <a:ext cx="2926080" cy="822960"/>
          </a:xfrm>
          <a:prstGeom prst="rect">
            <a:avLst/>
          </a:prstGeom>
          <a:noFill/>
          <a:ln/>
        </p:spPr>
        <p:txBody>
          <a:bodyPr wrap="square" lIns="0" tIns="0" rIns="0" bIns="0" rtlCol="0" anchor="ctr"/>
          <a:lstStyle/>
          <a:p>
            <a:pPr indent="0" marL="0">
              <a:buNone/>
            </a:pPr>
            <a:r>
              <a:rPr lang="en-US" sz="4400" b="1" dirty="0">
                <a:solidFill>
                  <a:srgbClr val="C0392B"/>
                </a:solidFill>
                <a:latin typeface="Cambria" pitchFamily="34" charset="0"/>
                <a:ea typeface="Cambria" pitchFamily="34" charset="-122"/>
                <a:cs typeface="Cambria" pitchFamily="34" charset="-120"/>
              </a:rPr>
              <a:t>406 : 17</a:t>
            </a:r>
            <a:endParaRPr lang="en-US" sz="4400" dirty="0"/>
          </a:p>
        </p:txBody>
      </p:sp>
      <p:sp>
        <p:nvSpPr>
          <p:cNvPr id="18" name="Text 13"/>
          <p:cNvSpPr txBox="1"/>
          <p:nvPr/>
        </p:nvSpPr>
        <p:spPr>
          <a:xfrm>
            <a:off x="8366760" y="3703320"/>
            <a:ext cx="2926080" cy="822960"/>
          </a:xfrm>
          <a:prstGeom prst="rect">
            <a:avLst/>
          </a:prstGeom>
          <a:noFill/>
          <a:ln/>
        </p:spPr>
        <p:txBody>
          <a:bodyPr wrap="square" lIns="0" tIns="0" rIns="0" bIns="0" rtlCol="0" anchor="t"/>
          <a:lstStyle/>
          <a:p>
            <a:pPr indent="0" marL="0">
              <a:buNone/>
            </a:pPr>
            <a:r>
              <a:rPr lang="en-US" sz="1500" dirty="0">
                <a:solidFill>
                  <a:srgbClr val="1B2433"/>
                </a:solidFill>
                <a:latin typeface="Calibri" pitchFamily="34" charset="0"/>
                <a:ea typeface="Calibri" pitchFamily="34" charset="-122"/>
                <a:cs typeface="Calibri" pitchFamily="34" charset="-120"/>
              </a:rPr>
              <a:t>state ISR and military satellites, China : India</a:t>
            </a:r>
            <a:endParaRPr lang="en-US" sz="1500" dirty="0"/>
          </a:p>
        </p:txBody>
      </p:sp>
      <p:sp>
        <p:nvSpPr>
          <p:cNvPr id="19" name="Text 14"/>
          <p:cNvSpPr txBox="1"/>
          <p:nvPr/>
        </p:nvSpPr>
        <p:spPr>
          <a:xfrm>
            <a:off x="548640" y="5120640"/>
            <a:ext cx="11064240" cy="731520"/>
          </a:xfrm>
          <a:prstGeom prst="rect">
            <a:avLst/>
          </a:prstGeom>
          <a:noFill/>
          <a:ln/>
        </p:spPr>
        <p:txBody>
          <a:bodyPr wrap="square" lIns="0" tIns="0" rIns="0" bIns="0" rtlCol="0" anchor="ctr"/>
          <a:lstStyle/>
          <a:p>
            <a:pPr indent="0" marL="0">
              <a:buNone/>
            </a:pPr>
            <a:r>
              <a:rPr lang="en-US" sz="1700" b="1" dirty="0">
                <a:solidFill>
                  <a:srgbClr val="0B1D3A"/>
                </a:solidFill>
                <a:latin typeface="Calibri" pitchFamily="34" charset="0"/>
                <a:ea typeface="Calibri" pitchFamily="34" charset="-122"/>
                <a:cs typeface="Calibri" pitchFamily="34" charset="-120"/>
              </a:rPr>
              <a:t>Decision sought: </a:t>
            </a:r>
            <a:pPr indent="0" marL="0">
              <a:buNone/>
            </a:pPr>
            <a:r>
              <a:rPr lang="en-US" sz="1700" dirty="0">
                <a:solidFill>
                  <a:srgbClr val="1B2433"/>
                </a:solidFill>
                <a:latin typeface="Calibri" pitchFamily="34" charset="0"/>
                <a:ea typeface="Calibri" pitchFamily="34" charset="-122"/>
                <a:cs typeface="Calibri" pitchFamily="34" charset="-120"/>
              </a:rPr>
              <a:t>a four-month ORBITWATCH proof of concept at the Defence Space Agency, using the open catalogue and the pipeline already built.</a:t>
            </a:r>
            <a:endParaRPr lang="en-US" sz="1700" dirty="0"/>
          </a:p>
        </p:txBody>
      </p:sp>
      <p:sp>
        <p:nvSpPr>
          <p:cNvPr id="20" name="Text 1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573"/>
                </a:solidFill>
                <a:latin typeface="Calibri" pitchFamily="34" charset="0"/>
                <a:ea typeface="Calibri" pitchFamily="34" charset="-122"/>
                <a:cs typeface="Calibri" pitchFamily="34" charset="-120"/>
              </a:rPr>
              <a:t>PROJECT HIGH GROUND  ·  CDM Datathon-2026  ·  Theme 6.1</a:t>
            </a:r>
            <a:endParaRPr lang="en-US" sz="1000" dirty="0"/>
          </a:p>
        </p:txBody>
      </p:sp>
      <p:sp>
        <p:nvSpPr>
          <p:cNvPr id="21" name="Text 16"/>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573"/>
                </a:solidFill>
                <a:latin typeface="Calibri" pitchFamily="34" charset="0"/>
                <a:ea typeface="Calibri" pitchFamily="34" charset="-122"/>
                <a:cs typeface="Calibri" pitchFamily="34" charset="-120"/>
              </a:rPr>
              <a:t>2 / 17</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D99A1E"/>
                </a:solidFill>
                <a:latin typeface="Calibri" pitchFamily="34" charset="0"/>
                <a:ea typeface="Calibri" pitchFamily="34" charset="-122"/>
                <a:cs typeface="Calibri" pitchFamily="34" charset="-120"/>
              </a:rPr>
              <a:t>DEFINING THE PROBLEM · DATA</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2800" b="1" dirty="0">
                <a:solidFill>
                  <a:srgbClr val="0B1D3A"/>
                </a:solidFill>
                <a:latin typeface="Cambria" pitchFamily="34" charset="0"/>
                <a:ea typeface="Cambria" pitchFamily="34" charset="-122"/>
                <a:cs typeface="Cambria" pitchFamily="34" charset="-120"/>
              </a:rPr>
              <a:t>Five questions, seven sources of evidence</a:t>
            </a:r>
            <a:endParaRPr lang="en-US" sz="2800" dirty="0"/>
          </a:p>
        </p:txBody>
      </p:sp>
      <p:sp>
        <p:nvSpPr>
          <p:cNvPr id="4" name="Shape 2"/>
          <p:cNvSpPr/>
          <p:nvPr/>
        </p:nvSpPr>
        <p:spPr>
          <a:xfrm>
            <a:off x="548640" y="1691640"/>
            <a:ext cx="457200" cy="457200"/>
          </a:xfrm>
          <a:prstGeom prst="ellipse">
            <a:avLst/>
          </a:prstGeom>
          <a:solidFill>
            <a:srgbClr val="0B1D3A"/>
          </a:solidFill>
          <a:ln w="12700">
            <a:solidFill>
              <a:srgbClr val="0B1D3A"/>
            </a:solidFill>
            <a:prstDash val="solid"/>
          </a:ln>
        </p:spPr>
      </p:sp>
      <p:pic>
        <p:nvPicPr>
          <p:cNvPr id="5" name="Image 0" descr="preencoded.png">    </p:cNvPr>
          <p:cNvPicPr>
            <a:picLocks noChangeAspect="1"/>
          </p:cNvPicPr>
          <p:nvPr/>
        </p:nvPicPr>
        <p:blipFill>
          <a:blip r:embed="rId1"/>
          <a:stretch>
            <a:fillRect/>
          </a:stretch>
        </p:blipFill>
        <p:spPr>
          <a:xfrm>
            <a:off x="649224" y="1792224"/>
            <a:ext cx="256032" cy="256032"/>
          </a:xfrm>
          <a:prstGeom prst="rect">
            <a:avLst/>
          </a:prstGeom>
        </p:spPr>
      </p:pic>
      <p:sp>
        <p:nvSpPr>
          <p:cNvPr id="6" name="Text 3"/>
          <p:cNvSpPr txBox="1"/>
          <p:nvPr/>
        </p:nvSpPr>
        <p:spPr>
          <a:xfrm>
            <a:off x="1143000" y="1691640"/>
            <a:ext cx="4754880" cy="457200"/>
          </a:xfrm>
          <a:prstGeom prst="rect">
            <a:avLst/>
          </a:prstGeom>
          <a:noFill/>
          <a:ln/>
        </p:spPr>
        <p:txBody>
          <a:bodyPr wrap="square" lIns="0" tIns="0" rIns="0" bIns="0" rtlCol="0" anchor="ctr"/>
          <a:lstStyle/>
          <a:p>
            <a:pPr indent="0" marL="0">
              <a:buNone/>
            </a:pPr>
            <a:r>
              <a:rPr lang="en-US" sz="1600" dirty="0">
                <a:solidFill>
                  <a:srgbClr val="1B2433"/>
                </a:solidFill>
                <a:latin typeface="Calibri" pitchFamily="34" charset="0"/>
                <a:ea typeface="Calibri" pitchFamily="34" charset="-122"/>
                <a:cs typeface="Calibri" pitchFamily="34" charset="-120"/>
              </a:rPr>
              <a:t>How crowded has orbit become since 2014?</a:t>
            </a:r>
            <a:endParaRPr lang="en-US" sz="1600" dirty="0"/>
          </a:p>
        </p:txBody>
      </p:sp>
      <p:sp>
        <p:nvSpPr>
          <p:cNvPr id="7" name="Shape 4"/>
          <p:cNvSpPr/>
          <p:nvPr/>
        </p:nvSpPr>
        <p:spPr>
          <a:xfrm>
            <a:off x="548640" y="2468880"/>
            <a:ext cx="457200" cy="457200"/>
          </a:xfrm>
          <a:prstGeom prst="ellipse">
            <a:avLst/>
          </a:prstGeom>
          <a:solidFill>
            <a:srgbClr val="0B1D3A"/>
          </a:solidFill>
          <a:ln w="12700">
            <a:solidFill>
              <a:srgbClr val="0B1D3A"/>
            </a:solidFill>
            <a:prstDash val="solid"/>
          </a:ln>
        </p:spPr>
      </p:sp>
      <p:pic>
        <p:nvPicPr>
          <p:cNvPr id="8" name="Image 1" descr="preencoded.png">    </p:cNvPr>
          <p:cNvPicPr>
            <a:picLocks noChangeAspect="1"/>
          </p:cNvPicPr>
          <p:nvPr/>
        </p:nvPicPr>
        <p:blipFill>
          <a:blip r:embed="rId2"/>
          <a:stretch>
            <a:fillRect/>
          </a:stretch>
        </p:blipFill>
        <p:spPr>
          <a:xfrm>
            <a:off x="649224" y="2569464"/>
            <a:ext cx="256032" cy="256032"/>
          </a:xfrm>
          <a:prstGeom prst="rect">
            <a:avLst/>
          </a:prstGeom>
        </p:spPr>
      </p:pic>
      <p:sp>
        <p:nvSpPr>
          <p:cNvPr id="9" name="Text 5"/>
          <p:cNvSpPr txBox="1"/>
          <p:nvPr/>
        </p:nvSpPr>
        <p:spPr>
          <a:xfrm>
            <a:off x="1143000" y="2468880"/>
            <a:ext cx="4754880" cy="457200"/>
          </a:xfrm>
          <a:prstGeom prst="rect">
            <a:avLst/>
          </a:prstGeom>
          <a:noFill/>
          <a:ln/>
        </p:spPr>
        <p:txBody>
          <a:bodyPr wrap="square" lIns="0" tIns="0" rIns="0" bIns="0" rtlCol="0" anchor="ctr"/>
          <a:lstStyle/>
          <a:p>
            <a:pPr indent="0" marL="0">
              <a:buNone/>
            </a:pPr>
            <a:r>
              <a:rPr lang="en-US" sz="1600" dirty="0">
                <a:solidFill>
                  <a:srgbClr val="1B2433"/>
                </a:solidFill>
                <a:latin typeface="Calibri" pitchFamily="34" charset="0"/>
                <a:ea typeface="Calibri" pitchFamily="34" charset="-122"/>
                <a:cs typeface="Calibri" pitchFamily="34" charset="-120"/>
              </a:rPr>
              <a:t>Whose satellites are they, and what are they for?</a:t>
            </a:r>
            <a:endParaRPr lang="en-US" sz="1600" dirty="0"/>
          </a:p>
        </p:txBody>
      </p:sp>
      <p:sp>
        <p:nvSpPr>
          <p:cNvPr id="10" name="Shape 6"/>
          <p:cNvSpPr/>
          <p:nvPr/>
        </p:nvSpPr>
        <p:spPr>
          <a:xfrm>
            <a:off x="548640" y="3246120"/>
            <a:ext cx="457200" cy="457200"/>
          </a:xfrm>
          <a:prstGeom prst="ellipse">
            <a:avLst/>
          </a:prstGeom>
          <a:solidFill>
            <a:srgbClr val="0B1D3A"/>
          </a:solidFill>
          <a:ln w="12700">
            <a:solidFill>
              <a:srgbClr val="0B1D3A"/>
            </a:solidFill>
            <a:prstDash val="solid"/>
          </a:ln>
        </p:spPr>
      </p:sp>
      <p:pic>
        <p:nvPicPr>
          <p:cNvPr id="11" name="Image 2" descr="preencoded.png">    </p:cNvPr>
          <p:cNvPicPr>
            <a:picLocks noChangeAspect="1"/>
          </p:cNvPicPr>
          <p:nvPr/>
        </p:nvPicPr>
        <p:blipFill>
          <a:blip r:embed="rId3"/>
          <a:stretch>
            <a:fillRect/>
          </a:stretch>
        </p:blipFill>
        <p:spPr>
          <a:xfrm>
            <a:off x="649224" y="3346704"/>
            <a:ext cx="256032" cy="256032"/>
          </a:xfrm>
          <a:prstGeom prst="rect">
            <a:avLst/>
          </a:prstGeom>
        </p:spPr>
      </p:pic>
      <p:sp>
        <p:nvSpPr>
          <p:cNvPr id="12" name="Text 7"/>
          <p:cNvSpPr txBox="1"/>
          <p:nvPr/>
        </p:nvSpPr>
        <p:spPr>
          <a:xfrm>
            <a:off x="1143000" y="3246120"/>
            <a:ext cx="4754880" cy="457200"/>
          </a:xfrm>
          <a:prstGeom prst="rect">
            <a:avLst/>
          </a:prstGeom>
          <a:noFill/>
          <a:ln/>
        </p:spPr>
        <p:txBody>
          <a:bodyPr wrap="square" lIns="0" tIns="0" rIns="0" bIns="0" rtlCol="0" anchor="ctr"/>
          <a:lstStyle/>
          <a:p>
            <a:pPr indent="0" marL="0">
              <a:buNone/>
            </a:pPr>
            <a:r>
              <a:rPr lang="en-US" sz="1600" dirty="0">
                <a:solidFill>
                  <a:srgbClr val="1B2433"/>
                </a:solidFill>
                <a:latin typeface="Calibri" pitchFamily="34" charset="0"/>
                <a:ea typeface="Calibri" pitchFamily="34" charset="-122"/>
                <a:cs typeface="Calibri" pitchFamily="34" charset="-120"/>
              </a:rPr>
              <a:t>Where is orbit crowded, and how dangerous is it?</a:t>
            </a:r>
            <a:endParaRPr lang="en-US" sz="1600" dirty="0"/>
          </a:p>
        </p:txBody>
      </p:sp>
      <p:sp>
        <p:nvSpPr>
          <p:cNvPr id="13" name="Shape 8"/>
          <p:cNvSpPr/>
          <p:nvPr/>
        </p:nvSpPr>
        <p:spPr>
          <a:xfrm>
            <a:off x="548640" y="4023360"/>
            <a:ext cx="457200" cy="457200"/>
          </a:xfrm>
          <a:prstGeom prst="ellipse">
            <a:avLst/>
          </a:prstGeom>
          <a:solidFill>
            <a:srgbClr val="0B1D3A"/>
          </a:solidFill>
          <a:ln w="12700">
            <a:solidFill>
              <a:srgbClr val="0B1D3A"/>
            </a:solidFill>
            <a:prstDash val="solid"/>
          </a:ln>
        </p:spPr>
      </p:sp>
      <p:pic>
        <p:nvPicPr>
          <p:cNvPr id="14" name="Image 3" descr="preencoded.png">    </p:cNvPr>
          <p:cNvPicPr>
            <a:picLocks noChangeAspect="1"/>
          </p:cNvPicPr>
          <p:nvPr/>
        </p:nvPicPr>
        <p:blipFill>
          <a:blip r:embed="rId4"/>
          <a:stretch>
            <a:fillRect/>
          </a:stretch>
        </p:blipFill>
        <p:spPr>
          <a:xfrm>
            <a:off x="649224" y="4123944"/>
            <a:ext cx="256032" cy="256032"/>
          </a:xfrm>
          <a:prstGeom prst="rect">
            <a:avLst/>
          </a:prstGeom>
        </p:spPr>
      </p:pic>
      <p:sp>
        <p:nvSpPr>
          <p:cNvPr id="15" name="Text 9"/>
          <p:cNvSpPr txBox="1"/>
          <p:nvPr/>
        </p:nvSpPr>
        <p:spPr>
          <a:xfrm>
            <a:off x="1143000" y="4023360"/>
            <a:ext cx="4754880" cy="457200"/>
          </a:xfrm>
          <a:prstGeom prst="rect">
            <a:avLst/>
          </a:prstGeom>
          <a:noFill/>
          <a:ln/>
        </p:spPr>
        <p:txBody>
          <a:bodyPr wrap="square" lIns="0" tIns="0" rIns="0" bIns="0" rtlCol="0" anchor="ctr"/>
          <a:lstStyle/>
          <a:p>
            <a:pPr indent="0" marL="0">
              <a:buNone/>
            </a:pPr>
            <a:r>
              <a:rPr lang="en-US" sz="1600" dirty="0">
                <a:solidFill>
                  <a:srgbClr val="1B2433"/>
                </a:solidFill>
                <a:latin typeface="Calibri" pitchFamily="34" charset="0"/>
                <a:ea typeface="Calibri" pitchFamily="34" charset="-122"/>
                <a:cs typeface="Calibri" pitchFamily="34" charset="-120"/>
              </a:rPr>
              <a:t>Who is building military eyes in orbit?</a:t>
            </a:r>
            <a:endParaRPr lang="en-US" sz="1600" dirty="0"/>
          </a:p>
        </p:txBody>
      </p:sp>
      <p:sp>
        <p:nvSpPr>
          <p:cNvPr id="16" name="Shape 10"/>
          <p:cNvSpPr/>
          <p:nvPr/>
        </p:nvSpPr>
        <p:spPr>
          <a:xfrm>
            <a:off x="548640" y="4800600"/>
            <a:ext cx="457200" cy="457200"/>
          </a:xfrm>
          <a:prstGeom prst="ellipse">
            <a:avLst/>
          </a:prstGeom>
          <a:solidFill>
            <a:srgbClr val="0B1D3A"/>
          </a:solidFill>
          <a:ln w="12700">
            <a:solidFill>
              <a:srgbClr val="0B1D3A"/>
            </a:solidFill>
            <a:prstDash val="solid"/>
          </a:ln>
        </p:spPr>
      </p:sp>
      <p:pic>
        <p:nvPicPr>
          <p:cNvPr id="17" name="Image 4" descr="preencoded.png">    </p:cNvPr>
          <p:cNvPicPr>
            <a:picLocks noChangeAspect="1"/>
          </p:cNvPicPr>
          <p:nvPr/>
        </p:nvPicPr>
        <p:blipFill>
          <a:blip r:embed="rId5"/>
          <a:stretch>
            <a:fillRect/>
          </a:stretch>
        </p:blipFill>
        <p:spPr>
          <a:xfrm>
            <a:off x="649224" y="4901184"/>
            <a:ext cx="256032" cy="256032"/>
          </a:xfrm>
          <a:prstGeom prst="rect">
            <a:avLst/>
          </a:prstGeom>
        </p:spPr>
      </p:pic>
      <p:sp>
        <p:nvSpPr>
          <p:cNvPr id="18" name="Text 11"/>
          <p:cNvSpPr txBox="1"/>
          <p:nvPr/>
        </p:nvSpPr>
        <p:spPr>
          <a:xfrm>
            <a:off x="1143000" y="4800600"/>
            <a:ext cx="4754880" cy="457200"/>
          </a:xfrm>
          <a:prstGeom prst="rect">
            <a:avLst/>
          </a:prstGeom>
          <a:noFill/>
          <a:ln/>
        </p:spPr>
        <p:txBody>
          <a:bodyPr wrap="square" lIns="0" tIns="0" rIns="0" bIns="0" rtlCol="0" anchor="ctr"/>
          <a:lstStyle/>
          <a:p>
            <a:pPr indent="0" marL="0">
              <a:buNone/>
            </a:pPr>
            <a:r>
              <a:rPr lang="en-US" sz="1600" dirty="0">
                <a:solidFill>
                  <a:srgbClr val="1B2433"/>
                </a:solidFill>
                <a:latin typeface="Calibri" pitchFamily="34" charset="0"/>
                <a:ea typeface="Calibri" pitchFamily="34" charset="-122"/>
                <a:cs typeface="Calibri" pitchFamily="34" charset="-120"/>
              </a:rPr>
              <a:t>What should India and its Armed Forces do?</a:t>
            </a:r>
            <a:endParaRPr lang="en-US" sz="1600" dirty="0"/>
          </a:p>
        </p:txBody>
      </p:sp>
      <p:sp>
        <p:nvSpPr>
          <p:cNvPr id="19" name="Shape 12"/>
          <p:cNvSpPr/>
          <p:nvPr/>
        </p:nvSpPr>
        <p:spPr>
          <a:xfrm>
            <a:off x="6309360" y="1691640"/>
            <a:ext cx="2560320" cy="1188720"/>
          </a:xfrm>
          <a:prstGeom prst="roundRect">
            <a:avLst>
              <a:gd name="adj" fmla="val 6154"/>
            </a:avLst>
          </a:prstGeom>
          <a:solidFill>
            <a:srgbClr val="EEF2F7"/>
          </a:solidFill>
          <a:ln w="12700">
            <a:solidFill>
              <a:srgbClr val="EEF2F7"/>
            </a:solidFill>
            <a:prstDash val="solid"/>
          </a:ln>
        </p:spPr>
      </p:sp>
      <p:sp>
        <p:nvSpPr>
          <p:cNvPr id="20" name="Shape 13"/>
          <p:cNvSpPr/>
          <p:nvPr/>
        </p:nvSpPr>
        <p:spPr>
          <a:xfrm>
            <a:off x="6446520" y="1828800"/>
            <a:ext cx="411480" cy="411480"/>
          </a:xfrm>
          <a:prstGeom prst="ellipse">
            <a:avLst/>
          </a:prstGeom>
          <a:solidFill>
            <a:srgbClr val="C0392B"/>
          </a:solidFill>
          <a:ln w="12700">
            <a:solidFill>
              <a:srgbClr val="C0392B"/>
            </a:solidFill>
            <a:prstDash val="solid"/>
          </a:ln>
        </p:spPr>
      </p:sp>
      <p:pic>
        <p:nvPicPr>
          <p:cNvPr id="21" name="Image 5" descr="preencoded.png">    </p:cNvPr>
          <p:cNvPicPr>
            <a:picLocks noChangeAspect="1"/>
          </p:cNvPicPr>
          <p:nvPr/>
        </p:nvPicPr>
        <p:blipFill>
          <a:blip r:embed="rId6"/>
          <a:stretch>
            <a:fillRect/>
          </a:stretch>
        </p:blipFill>
        <p:spPr>
          <a:xfrm>
            <a:off x="6537046" y="1919326"/>
            <a:ext cx="230429" cy="230429"/>
          </a:xfrm>
          <a:prstGeom prst="rect">
            <a:avLst/>
          </a:prstGeom>
        </p:spPr>
      </p:pic>
      <p:sp>
        <p:nvSpPr>
          <p:cNvPr id="22" name="Text 14"/>
          <p:cNvSpPr txBox="1"/>
          <p:nvPr/>
        </p:nvSpPr>
        <p:spPr>
          <a:xfrm>
            <a:off x="6949440" y="1801368"/>
            <a:ext cx="1828800" cy="457200"/>
          </a:xfrm>
          <a:prstGeom prst="rect">
            <a:avLst/>
          </a:prstGeom>
          <a:noFill/>
          <a:ln/>
        </p:spPr>
        <p:txBody>
          <a:bodyPr wrap="square" lIns="0" tIns="0" rIns="0" bIns="0" rtlCol="0" anchor="ctr"/>
          <a:lstStyle/>
          <a:p>
            <a:pPr indent="0" marL="0">
              <a:buNone/>
            </a:pPr>
            <a:r>
              <a:rPr lang="en-US" sz="1250" b="1" dirty="0">
                <a:solidFill>
                  <a:srgbClr val="0B1D3A"/>
                </a:solidFill>
                <a:latin typeface="Calibri" pitchFamily="34" charset="0"/>
                <a:ea typeface="Calibri" pitchFamily="34" charset="-122"/>
                <a:cs typeface="Calibri" pitchFamily="34" charset="-120"/>
              </a:rPr>
              <a:t>CDM satellite census</a:t>
            </a:r>
            <a:endParaRPr lang="en-US" sz="1250" dirty="0"/>
          </a:p>
        </p:txBody>
      </p:sp>
      <p:sp>
        <p:nvSpPr>
          <p:cNvPr id="23" name="Text 15"/>
          <p:cNvSpPr txBox="1"/>
          <p:nvPr/>
        </p:nvSpPr>
        <p:spPr>
          <a:xfrm>
            <a:off x="6446520" y="2331720"/>
            <a:ext cx="2331720" cy="457200"/>
          </a:xfrm>
          <a:prstGeom prst="rect">
            <a:avLst/>
          </a:prstGeom>
          <a:noFill/>
          <a:ln/>
        </p:spPr>
        <p:txBody>
          <a:bodyPr wrap="square" lIns="0" tIns="0" rIns="0" bIns="0" rtlCol="0" anchor="t"/>
          <a:lstStyle/>
          <a:p>
            <a:pPr indent="0" marL="0">
              <a:buNone/>
            </a:pPr>
            <a:r>
              <a:rPr lang="en-US" sz="1150" dirty="0">
                <a:solidFill>
                  <a:srgbClr val="5B6573"/>
                </a:solidFill>
                <a:latin typeface="Calibri" pitchFamily="34" charset="0"/>
                <a:ea typeface="Calibri" pitchFamily="34" charset="-122"/>
                <a:cs typeface="Calibri" pitchFamily="34" charset="-120"/>
              </a:rPr>
              <a:t>1,167 active satellites, Jan 2014</a:t>
            </a:r>
            <a:endParaRPr lang="en-US" sz="1150" dirty="0"/>
          </a:p>
        </p:txBody>
      </p:sp>
      <p:sp>
        <p:nvSpPr>
          <p:cNvPr id="24" name="Shape 16"/>
          <p:cNvSpPr/>
          <p:nvPr/>
        </p:nvSpPr>
        <p:spPr>
          <a:xfrm>
            <a:off x="9052560" y="1691640"/>
            <a:ext cx="2560320" cy="1188720"/>
          </a:xfrm>
          <a:prstGeom prst="roundRect">
            <a:avLst>
              <a:gd name="adj" fmla="val 6154"/>
            </a:avLst>
          </a:prstGeom>
          <a:solidFill>
            <a:srgbClr val="EEF2F7"/>
          </a:solidFill>
          <a:ln w="12700">
            <a:solidFill>
              <a:srgbClr val="EEF2F7"/>
            </a:solidFill>
            <a:prstDash val="solid"/>
          </a:ln>
        </p:spPr>
      </p:sp>
      <p:sp>
        <p:nvSpPr>
          <p:cNvPr id="25" name="Shape 17"/>
          <p:cNvSpPr/>
          <p:nvPr/>
        </p:nvSpPr>
        <p:spPr>
          <a:xfrm>
            <a:off x="9189720" y="1828800"/>
            <a:ext cx="411480" cy="411480"/>
          </a:xfrm>
          <a:prstGeom prst="ellipse">
            <a:avLst/>
          </a:prstGeom>
          <a:solidFill>
            <a:srgbClr val="C0392B"/>
          </a:solidFill>
          <a:ln w="12700">
            <a:solidFill>
              <a:srgbClr val="C0392B"/>
            </a:solidFill>
            <a:prstDash val="solid"/>
          </a:ln>
        </p:spPr>
      </p:sp>
      <p:pic>
        <p:nvPicPr>
          <p:cNvPr id="26" name="Image 6" descr="preencoded.png">    </p:cNvPr>
          <p:cNvPicPr>
            <a:picLocks noChangeAspect="1"/>
          </p:cNvPicPr>
          <p:nvPr/>
        </p:nvPicPr>
        <p:blipFill>
          <a:blip r:embed="rId7"/>
          <a:stretch>
            <a:fillRect/>
          </a:stretch>
        </p:blipFill>
        <p:spPr>
          <a:xfrm>
            <a:off x="9280246" y="1919326"/>
            <a:ext cx="230429" cy="230429"/>
          </a:xfrm>
          <a:prstGeom prst="rect">
            <a:avLst/>
          </a:prstGeom>
        </p:spPr>
      </p:pic>
      <p:sp>
        <p:nvSpPr>
          <p:cNvPr id="27" name="Text 18"/>
          <p:cNvSpPr txBox="1"/>
          <p:nvPr/>
        </p:nvSpPr>
        <p:spPr>
          <a:xfrm>
            <a:off x="9692640" y="1801368"/>
            <a:ext cx="1828800" cy="457200"/>
          </a:xfrm>
          <a:prstGeom prst="rect">
            <a:avLst/>
          </a:prstGeom>
          <a:noFill/>
          <a:ln/>
        </p:spPr>
        <p:txBody>
          <a:bodyPr wrap="square" lIns="0" tIns="0" rIns="0" bIns="0" rtlCol="0" anchor="ctr"/>
          <a:lstStyle/>
          <a:p>
            <a:pPr indent="0" marL="0">
              <a:buNone/>
            </a:pPr>
            <a:r>
              <a:rPr lang="en-US" sz="1250" b="1" dirty="0">
                <a:solidFill>
                  <a:srgbClr val="0B1D3A"/>
                </a:solidFill>
                <a:latin typeface="Calibri" pitchFamily="34" charset="0"/>
                <a:ea typeface="Calibri" pitchFamily="34" charset="-122"/>
                <a:cs typeface="Calibri" pitchFamily="34" charset="-120"/>
              </a:rPr>
              <a:t>CDM space weather</a:t>
            </a:r>
            <a:endParaRPr lang="en-US" sz="1250" dirty="0"/>
          </a:p>
        </p:txBody>
      </p:sp>
      <p:sp>
        <p:nvSpPr>
          <p:cNvPr id="28" name="Text 19"/>
          <p:cNvSpPr txBox="1"/>
          <p:nvPr/>
        </p:nvSpPr>
        <p:spPr>
          <a:xfrm>
            <a:off x="9189720" y="2331720"/>
            <a:ext cx="2331720" cy="457200"/>
          </a:xfrm>
          <a:prstGeom prst="rect">
            <a:avLst/>
          </a:prstGeom>
          <a:noFill/>
          <a:ln/>
        </p:spPr>
        <p:txBody>
          <a:bodyPr wrap="square" lIns="0" tIns="0" rIns="0" bIns="0" rtlCol="0" anchor="t"/>
          <a:lstStyle/>
          <a:p>
            <a:pPr indent="0" marL="0">
              <a:buNone/>
            </a:pPr>
            <a:r>
              <a:rPr lang="en-US" sz="1150" dirty="0">
                <a:solidFill>
                  <a:srgbClr val="5B6573"/>
                </a:solidFill>
                <a:latin typeface="Calibri" pitchFamily="34" charset="0"/>
                <a:ea typeface="Calibri" pitchFamily="34" charset="-122"/>
                <a:cs typeface="Calibri" pitchFamily="34" charset="-120"/>
              </a:rPr>
              <a:t>139,872 hours of Dst + sunspots</a:t>
            </a:r>
            <a:endParaRPr lang="en-US" sz="1150" dirty="0"/>
          </a:p>
        </p:txBody>
      </p:sp>
      <p:sp>
        <p:nvSpPr>
          <p:cNvPr id="29" name="Shape 20"/>
          <p:cNvSpPr/>
          <p:nvPr/>
        </p:nvSpPr>
        <p:spPr>
          <a:xfrm>
            <a:off x="6309360" y="3017520"/>
            <a:ext cx="2560320" cy="1188720"/>
          </a:xfrm>
          <a:prstGeom prst="roundRect">
            <a:avLst>
              <a:gd name="adj" fmla="val 6154"/>
            </a:avLst>
          </a:prstGeom>
          <a:solidFill>
            <a:srgbClr val="EEF2F7"/>
          </a:solidFill>
          <a:ln w="12700">
            <a:solidFill>
              <a:srgbClr val="EEF2F7"/>
            </a:solidFill>
            <a:prstDash val="solid"/>
          </a:ln>
        </p:spPr>
      </p:sp>
      <p:sp>
        <p:nvSpPr>
          <p:cNvPr id="30" name="Shape 21"/>
          <p:cNvSpPr/>
          <p:nvPr/>
        </p:nvSpPr>
        <p:spPr>
          <a:xfrm>
            <a:off x="6446520" y="3154680"/>
            <a:ext cx="411480" cy="411480"/>
          </a:xfrm>
          <a:prstGeom prst="ellipse">
            <a:avLst/>
          </a:prstGeom>
          <a:solidFill>
            <a:srgbClr val="C0392B"/>
          </a:solidFill>
          <a:ln w="12700">
            <a:solidFill>
              <a:srgbClr val="C0392B"/>
            </a:solidFill>
            <a:prstDash val="solid"/>
          </a:ln>
        </p:spPr>
      </p:sp>
      <p:pic>
        <p:nvPicPr>
          <p:cNvPr id="31" name="Image 7" descr="preencoded.png">    </p:cNvPr>
          <p:cNvPicPr>
            <a:picLocks noChangeAspect="1"/>
          </p:cNvPicPr>
          <p:nvPr/>
        </p:nvPicPr>
        <p:blipFill>
          <a:blip r:embed="rId8"/>
          <a:stretch>
            <a:fillRect/>
          </a:stretch>
        </p:blipFill>
        <p:spPr>
          <a:xfrm>
            <a:off x="6537046" y="3245206"/>
            <a:ext cx="230429" cy="230429"/>
          </a:xfrm>
          <a:prstGeom prst="rect">
            <a:avLst/>
          </a:prstGeom>
        </p:spPr>
      </p:pic>
      <p:sp>
        <p:nvSpPr>
          <p:cNvPr id="32" name="Text 22"/>
          <p:cNvSpPr txBox="1"/>
          <p:nvPr/>
        </p:nvSpPr>
        <p:spPr>
          <a:xfrm>
            <a:off x="6949440" y="3127248"/>
            <a:ext cx="1828800" cy="457200"/>
          </a:xfrm>
          <a:prstGeom prst="rect">
            <a:avLst/>
          </a:prstGeom>
          <a:noFill/>
          <a:ln/>
        </p:spPr>
        <p:txBody>
          <a:bodyPr wrap="square" lIns="0" tIns="0" rIns="0" bIns="0" rtlCol="0" anchor="ctr"/>
          <a:lstStyle/>
          <a:p>
            <a:pPr indent="0" marL="0">
              <a:buNone/>
            </a:pPr>
            <a:r>
              <a:rPr lang="en-US" sz="1250" b="1" dirty="0">
                <a:solidFill>
                  <a:srgbClr val="0B1D3A"/>
                </a:solidFill>
                <a:latin typeface="Calibri" pitchFamily="34" charset="0"/>
                <a:ea typeface="Calibri" pitchFamily="34" charset="-122"/>
                <a:cs typeface="Calibri" pitchFamily="34" charset="-120"/>
              </a:rPr>
              <a:t>CDM MODIS fires</a:t>
            </a:r>
            <a:endParaRPr lang="en-US" sz="1250" dirty="0"/>
          </a:p>
        </p:txBody>
      </p:sp>
      <p:sp>
        <p:nvSpPr>
          <p:cNvPr id="33" name="Text 23"/>
          <p:cNvSpPr txBox="1"/>
          <p:nvPr/>
        </p:nvSpPr>
        <p:spPr>
          <a:xfrm>
            <a:off x="6446520" y="3657600"/>
            <a:ext cx="2331720" cy="457200"/>
          </a:xfrm>
          <a:prstGeom prst="rect">
            <a:avLst/>
          </a:prstGeom>
          <a:noFill/>
          <a:ln/>
        </p:spPr>
        <p:txBody>
          <a:bodyPr wrap="square" lIns="0" tIns="0" rIns="0" bIns="0" rtlCol="0" anchor="t"/>
          <a:lstStyle/>
          <a:p>
            <a:pPr indent="0" marL="0">
              <a:buNone/>
            </a:pPr>
            <a:r>
              <a:rPr lang="en-US" sz="1150" dirty="0">
                <a:solidFill>
                  <a:srgbClr val="5B6573"/>
                </a:solidFill>
                <a:latin typeface="Calibri" pitchFamily="34" charset="0"/>
                <a:ea typeface="Calibri" pitchFamily="34" charset="-122"/>
                <a:cs typeface="Calibri" pitchFamily="34" charset="-120"/>
              </a:rPr>
              <a:t>1.25 million detections, 2010-20</a:t>
            </a:r>
            <a:endParaRPr lang="en-US" sz="1150" dirty="0"/>
          </a:p>
        </p:txBody>
      </p:sp>
      <p:sp>
        <p:nvSpPr>
          <p:cNvPr id="34" name="Shape 24"/>
          <p:cNvSpPr/>
          <p:nvPr/>
        </p:nvSpPr>
        <p:spPr>
          <a:xfrm>
            <a:off x="9052560" y="3017520"/>
            <a:ext cx="2560320" cy="1188720"/>
          </a:xfrm>
          <a:prstGeom prst="roundRect">
            <a:avLst>
              <a:gd name="adj" fmla="val 6154"/>
            </a:avLst>
          </a:prstGeom>
          <a:solidFill>
            <a:srgbClr val="EEF2F7"/>
          </a:solidFill>
          <a:ln w="12700">
            <a:solidFill>
              <a:srgbClr val="EEF2F7"/>
            </a:solidFill>
            <a:prstDash val="solid"/>
          </a:ln>
        </p:spPr>
      </p:sp>
      <p:sp>
        <p:nvSpPr>
          <p:cNvPr id="35" name="Shape 25"/>
          <p:cNvSpPr/>
          <p:nvPr/>
        </p:nvSpPr>
        <p:spPr>
          <a:xfrm>
            <a:off x="9189720" y="3154680"/>
            <a:ext cx="411480" cy="411480"/>
          </a:xfrm>
          <a:prstGeom prst="ellipse">
            <a:avLst/>
          </a:prstGeom>
          <a:solidFill>
            <a:srgbClr val="2F5D8C"/>
          </a:solidFill>
          <a:ln w="12700">
            <a:solidFill>
              <a:srgbClr val="2F5D8C"/>
            </a:solidFill>
            <a:prstDash val="solid"/>
          </a:ln>
        </p:spPr>
      </p:sp>
      <p:pic>
        <p:nvPicPr>
          <p:cNvPr id="36" name="Image 8" descr="preencoded.png">    </p:cNvPr>
          <p:cNvPicPr>
            <a:picLocks noChangeAspect="1"/>
          </p:cNvPicPr>
          <p:nvPr/>
        </p:nvPicPr>
        <p:blipFill>
          <a:blip r:embed="rId9"/>
          <a:stretch>
            <a:fillRect/>
          </a:stretch>
        </p:blipFill>
        <p:spPr>
          <a:xfrm>
            <a:off x="9280246" y="3245206"/>
            <a:ext cx="230429" cy="230429"/>
          </a:xfrm>
          <a:prstGeom prst="rect">
            <a:avLst/>
          </a:prstGeom>
        </p:spPr>
      </p:pic>
      <p:sp>
        <p:nvSpPr>
          <p:cNvPr id="37" name="Text 26"/>
          <p:cNvSpPr txBox="1"/>
          <p:nvPr/>
        </p:nvSpPr>
        <p:spPr>
          <a:xfrm>
            <a:off x="9692640" y="3127248"/>
            <a:ext cx="1828800" cy="457200"/>
          </a:xfrm>
          <a:prstGeom prst="rect">
            <a:avLst/>
          </a:prstGeom>
          <a:noFill/>
          <a:ln/>
        </p:spPr>
        <p:txBody>
          <a:bodyPr wrap="square" lIns="0" tIns="0" rIns="0" bIns="0" rtlCol="0" anchor="ctr"/>
          <a:lstStyle/>
          <a:p>
            <a:pPr indent="0" marL="0">
              <a:buNone/>
            </a:pPr>
            <a:r>
              <a:rPr lang="en-US" sz="1250" b="1" dirty="0">
                <a:solidFill>
                  <a:srgbClr val="0B1D3A"/>
                </a:solidFill>
                <a:latin typeface="Calibri" pitchFamily="34" charset="0"/>
                <a:ea typeface="Calibri" pitchFamily="34" charset="-122"/>
                <a:cs typeface="Calibri" pitchFamily="34" charset="-120"/>
              </a:rPr>
              <a:t>Satellite catalogue (open)</a:t>
            </a:r>
            <a:endParaRPr lang="en-US" sz="1250" dirty="0"/>
          </a:p>
        </p:txBody>
      </p:sp>
      <p:sp>
        <p:nvSpPr>
          <p:cNvPr id="38" name="Text 27"/>
          <p:cNvSpPr txBox="1"/>
          <p:nvPr/>
        </p:nvSpPr>
        <p:spPr>
          <a:xfrm>
            <a:off x="9189720" y="3657600"/>
            <a:ext cx="2331720" cy="457200"/>
          </a:xfrm>
          <a:prstGeom prst="rect">
            <a:avLst/>
          </a:prstGeom>
          <a:noFill/>
          <a:ln/>
        </p:spPr>
        <p:txBody>
          <a:bodyPr wrap="square" lIns="0" tIns="0" rIns="0" bIns="0" rtlCol="0" anchor="t"/>
          <a:lstStyle/>
          <a:p>
            <a:pPr indent="0" marL="0">
              <a:buNone/>
            </a:pPr>
            <a:r>
              <a:rPr lang="en-US" sz="1150" dirty="0">
                <a:solidFill>
                  <a:srgbClr val="5B6573"/>
                </a:solidFill>
                <a:latin typeface="Calibri" pitchFamily="34" charset="0"/>
                <a:ea typeface="Calibri" pitchFamily="34" charset="-122"/>
                <a:cs typeface="Calibri" pitchFamily="34" charset="-120"/>
              </a:rPr>
              <a:t>70,366 objects to 21 Sep 2026</a:t>
            </a:r>
            <a:endParaRPr lang="en-US" sz="1150" dirty="0"/>
          </a:p>
        </p:txBody>
      </p:sp>
      <p:sp>
        <p:nvSpPr>
          <p:cNvPr id="39" name="Shape 28"/>
          <p:cNvSpPr/>
          <p:nvPr/>
        </p:nvSpPr>
        <p:spPr>
          <a:xfrm>
            <a:off x="6309360" y="4343400"/>
            <a:ext cx="2560320" cy="1188720"/>
          </a:xfrm>
          <a:prstGeom prst="roundRect">
            <a:avLst>
              <a:gd name="adj" fmla="val 6154"/>
            </a:avLst>
          </a:prstGeom>
          <a:solidFill>
            <a:srgbClr val="EEF2F7"/>
          </a:solidFill>
          <a:ln w="12700">
            <a:solidFill>
              <a:srgbClr val="EEF2F7"/>
            </a:solidFill>
            <a:prstDash val="solid"/>
          </a:ln>
        </p:spPr>
      </p:sp>
      <p:sp>
        <p:nvSpPr>
          <p:cNvPr id="40" name="Shape 29"/>
          <p:cNvSpPr/>
          <p:nvPr/>
        </p:nvSpPr>
        <p:spPr>
          <a:xfrm>
            <a:off x="6446520" y="4480560"/>
            <a:ext cx="411480" cy="411480"/>
          </a:xfrm>
          <a:prstGeom prst="ellipse">
            <a:avLst/>
          </a:prstGeom>
          <a:solidFill>
            <a:srgbClr val="2F5D8C"/>
          </a:solidFill>
          <a:ln w="12700">
            <a:solidFill>
              <a:srgbClr val="2F5D8C"/>
            </a:solidFill>
            <a:prstDash val="solid"/>
          </a:ln>
        </p:spPr>
      </p:sp>
      <p:pic>
        <p:nvPicPr>
          <p:cNvPr id="41" name="Image 9" descr="preencoded.png">    </p:cNvPr>
          <p:cNvPicPr>
            <a:picLocks noChangeAspect="1"/>
          </p:cNvPicPr>
          <p:nvPr/>
        </p:nvPicPr>
        <p:blipFill>
          <a:blip r:embed="rId10"/>
          <a:stretch>
            <a:fillRect/>
          </a:stretch>
        </p:blipFill>
        <p:spPr>
          <a:xfrm>
            <a:off x="6537046" y="4571086"/>
            <a:ext cx="230429" cy="230429"/>
          </a:xfrm>
          <a:prstGeom prst="rect">
            <a:avLst/>
          </a:prstGeom>
        </p:spPr>
      </p:pic>
      <p:sp>
        <p:nvSpPr>
          <p:cNvPr id="42" name="Text 30"/>
          <p:cNvSpPr txBox="1"/>
          <p:nvPr/>
        </p:nvSpPr>
        <p:spPr>
          <a:xfrm>
            <a:off x="6949440" y="4453128"/>
            <a:ext cx="1828800" cy="457200"/>
          </a:xfrm>
          <a:prstGeom prst="rect">
            <a:avLst/>
          </a:prstGeom>
          <a:noFill/>
          <a:ln/>
        </p:spPr>
        <p:txBody>
          <a:bodyPr wrap="square" lIns="0" tIns="0" rIns="0" bIns="0" rtlCol="0" anchor="ctr"/>
          <a:lstStyle/>
          <a:p>
            <a:pPr indent="0" marL="0">
              <a:buNone/>
            </a:pPr>
            <a:r>
              <a:rPr lang="en-US" sz="1250" b="1" dirty="0">
                <a:solidFill>
                  <a:srgbClr val="0B1D3A"/>
                </a:solidFill>
                <a:latin typeface="Calibri" pitchFamily="34" charset="0"/>
                <a:ea typeface="Calibri" pitchFamily="34" charset="-122"/>
                <a:cs typeface="Calibri" pitchFamily="34" charset="-120"/>
              </a:rPr>
              <a:t>UCS 2020 + UNOOSA (open)</a:t>
            </a:r>
            <a:endParaRPr lang="en-US" sz="1250" dirty="0"/>
          </a:p>
        </p:txBody>
      </p:sp>
      <p:sp>
        <p:nvSpPr>
          <p:cNvPr id="43" name="Text 31"/>
          <p:cNvSpPr txBox="1"/>
          <p:nvPr/>
        </p:nvSpPr>
        <p:spPr>
          <a:xfrm>
            <a:off x="6446520" y="4983480"/>
            <a:ext cx="2331720" cy="457200"/>
          </a:xfrm>
          <a:prstGeom prst="rect">
            <a:avLst/>
          </a:prstGeom>
          <a:noFill/>
          <a:ln/>
        </p:spPr>
        <p:txBody>
          <a:bodyPr wrap="square" lIns="0" tIns="0" rIns="0" bIns="0" rtlCol="0" anchor="t"/>
          <a:lstStyle/>
          <a:p>
            <a:pPr indent="0" marL="0">
              <a:buNone/>
            </a:pPr>
            <a:r>
              <a:rPr lang="en-US" sz="1150" dirty="0">
                <a:solidFill>
                  <a:srgbClr val="5B6573"/>
                </a:solidFill>
                <a:latin typeface="Calibri" pitchFamily="34" charset="0"/>
                <a:ea typeface="Calibri" pitchFamily="34" charset="-122"/>
                <a:cs typeface="Calibri" pitchFamily="34" charset="-120"/>
              </a:rPr>
              <a:t>second census; launches by country</a:t>
            </a:r>
            <a:endParaRPr lang="en-US" sz="1150" dirty="0"/>
          </a:p>
        </p:txBody>
      </p:sp>
      <p:sp>
        <p:nvSpPr>
          <p:cNvPr id="44" name="Shape 32"/>
          <p:cNvSpPr/>
          <p:nvPr/>
        </p:nvSpPr>
        <p:spPr>
          <a:xfrm>
            <a:off x="9052560" y="4343400"/>
            <a:ext cx="2560320" cy="1188720"/>
          </a:xfrm>
          <a:prstGeom prst="roundRect">
            <a:avLst>
              <a:gd name="adj" fmla="val 6154"/>
            </a:avLst>
          </a:prstGeom>
          <a:solidFill>
            <a:srgbClr val="EEF2F7"/>
          </a:solidFill>
          <a:ln w="12700">
            <a:solidFill>
              <a:srgbClr val="EEF2F7"/>
            </a:solidFill>
            <a:prstDash val="solid"/>
          </a:ln>
        </p:spPr>
      </p:sp>
      <p:sp>
        <p:nvSpPr>
          <p:cNvPr id="45" name="Shape 33"/>
          <p:cNvSpPr/>
          <p:nvPr/>
        </p:nvSpPr>
        <p:spPr>
          <a:xfrm>
            <a:off x="9189720" y="4480560"/>
            <a:ext cx="411480" cy="411480"/>
          </a:xfrm>
          <a:prstGeom prst="ellipse">
            <a:avLst/>
          </a:prstGeom>
          <a:solidFill>
            <a:srgbClr val="2F5D8C"/>
          </a:solidFill>
          <a:ln w="12700">
            <a:solidFill>
              <a:srgbClr val="2F5D8C"/>
            </a:solidFill>
            <a:prstDash val="solid"/>
          </a:ln>
        </p:spPr>
      </p:sp>
      <p:pic>
        <p:nvPicPr>
          <p:cNvPr id="46" name="Image 10" descr="preencoded.png">    </p:cNvPr>
          <p:cNvPicPr>
            <a:picLocks noChangeAspect="1"/>
          </p:cNvPicPr>
          <p:nvPr/>
        </p:nvPicPr>
        <p:blipFill>
          <a:blip r:embed="rId11"/>
          <a:stretch>
            <a:fillRect/>
          </a:stretch>
        </p:blipFill>
        <p:spPr>
          <a:xfrm>
            <a:off x="9280246" y="4571086"/>
            <a:ext cx="230429" cy="230429"/>
          </a:xfrm>
          <a:prstGeom prst="rect">
            <a:avLst/>
          </a:prstGeom>
        </p:spPr>
      </p:pic>
      <p:sp>
        <p:nvSpPr>
          <p:cNvPr id="47" name="Text 34"/>
          <p:cNvSpPr txBox="1"/>
          <p:nvPr/>
        </p:nvSpPr>
        <p:spPr>
          <a:xfrm>
            <a:off x="9692640" y="4453128"/>
            <a:ext cx="1828800" cy="457200"/>
          </a:xfrm>
          <a:prstGeom prst="rect">
            <a:avLst/>
          </a:prstGeom>
          <a:noFill/>
          <a:ln/>
        </p:spPr>
        <p:txBody>
          <a:bodyPr wrap="square" lIns="0" tIns="0" rIns="0" bIns="0" rtlCol="0" anchor="ctr"/>
          <a:lstStyle/>
          <a:p>
            <a:pPr indent="0" marL="0">
              <a:buNone/>
            </a:pPr>
            <a:r>
              <a:rPr lang="en-US" sz="1250" b="1" dirty="0">
                <a:solidFill>
                  <a:srgbClr val="0B1D3A"/>
                </a:solidFill>
                <a:latin typeface="Calibri" pitchFamily="34" charset="0"/>
                <a:ea typeface="Calibri" pitchFamily="34" charset="-122"/>
                <a:cs typeface="Calibri" pitchFamily="34" charset="-120"/>
              </a:rPr>
              <a:t>Official and news</a:t>
            </a:r>
            <a:endParaRPr lang="en-US" sz="1250" dirty="0"/>
          </a:p>
        </p:txBody>
      </p:sp>
      <p:sp>
        <p:nvSpPr>
          <p:cNvPr id="48" name="Text 35"/>
          <p:cNvSpPr txBox="1"/>
          <p:nvPr/>
        </p:nvSpPr>
        <p:spPr>
          <a:xfrm>
            <a:off x="9189720" y="4983480"/>
            <a:ext cx="2331720" cy="457200"/>
          </a:xfrm>
          <a:prstGeom prst="rect">
            <a:avLst/>
          </a:prstGeom>
          <a:noFill/>
          <a:ln/>
        </p:spPr>
        <p:txBody>
          <a:bodyPr wrap="square" lIns="0" tIns="0" rIns="0" bIns="0" rtlCol="0" anchor="t"/>
          <a:lstStyle/>
          <a:p>
            <a:pPr indent="0" marL="0">
              <a:buNone/>
            </a:pPr>
            <a:r>
              <a:rPr lang="en-US" sz="1150" dirty="0">
                <a:solidFill>
                  <a:srgbClr val="5B6573"/>
                </a:solidFill>
                <a:latin typeface="Calibri" pitchFamily="34" charset="0"/>
                <a:ea typeface="Calibri" pitchFamily="34" charset="-122"/>
                <a:cs typeface="Calibri" pitchFamily="34" charset="-120"/>
              </a:rPr>
              <a:t>ISRO, PIB, ESA, NOAA, 2024-26</a:t>
            </a:r>
            <a:endParaRPr lang="en-US" sz="1150" dirty="0"/>
          </a:p>
        </p:txBody>
      </p:sp>
      <p:sp>
        <p:nvSpPr>
          <p:cNvPr id="49" name="Text 3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573"/>
                </a:solidFill>
                <a:latin typeface="Calibri" pitchFamily="34" charset="0"/>
                <a:ea typeface="Calibri" pitchFamily="34" charset="-122"/>
                <a:cs typeface="Calibri" pitchFamily="34" charset="-120"/>
              </a:rPr>
              <a:t>PROJECT HIGH GROUND  ·  CDM Datathon-2026  ·  Theme 6.1</a:t>
            </a:r>
            <a:endParaRPr lang="en-US" sz="1000" dirty="0"/>
          </a:p>
        </p:txBody>
      </p:sp>
      <p:sp>
        <p:nvSpPr>
          <p:cNvPr id="50" name="Text 37"/>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573"/>
                </a:solidFill>
                <a:latin typeface="Calibri" pitchFamily="34" charset="0"/>
                <a:ea typeface="Calibri" pitchFamily="34" charset="-122"/>
                <a:cs typeface="Calibri" pitchFamily="34" charset="-120"/>
              </a:rPr>
              <a:t>3 / 17</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D99A1E"/>
                </a:solidFill>
                <a:latin typeface="Calibri" pitchFamily="34" charset="0"/>
                <a:ea typeface="Calibri" pitchFamily="34" charset="-122"/>
                <a:cs typeface="Calibri" pitchFamily="34" charset="-120"/>
              </a:rPr>
              <a:t>FINDING 1 · THE CROWD</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2800" b="1" dirty="0">
                <a:solidFill>
                  <a:srgbClr val="0B1D3A"/>
                </a:solidFill>
                <a:latin typeface="Cambria" pitchFamily="34" charset="0"/>
                <a:ea typeface="Cambria" pitchFamily="34" charset="-122"/>
                <a:cs typeface="Cambria" pitchFamily="34" charset="-120"/>
              </a:rPr>
              <a:t>15 times more working satellites in twelve years</a:t>
            </a:r>
            <a:endParaRPr lang="en-US" sz="2800" dirty="0"/>
          </a:p>
        </p:txBody>
      </p:sp>
      <p:graphicFrame>
        <p:nvGraphicFramePr>
          <p:cNvPr id="4" name="Chart 0" descr=""/>
          <p:cNvGraphicFramePr/>
          <p:nvPr/>
        </p:nvGraphicFramePr>
        <p:xfrm>
          <a:off x="548640" y="1554480"/>
          <a:ext cx="420624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937760" y="1554480"/>
          <a:ext cx="6675120" cy="374904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4937760" y="5440680"/>
            <a:ext cx="6675120" cy="685800"/>
          </a:xfrm>
          <a:prstGeom prst="rect">
            <a:avLst/>
          </a:prstGeom>
          <a:noFill/>
          <a:ln/>
        </p:spPr>
        <p:txBody>
          <a:bodyPr wrap="square" lIns="0" tIns="0" rIns="0" bIns="0" rtlCol="0" anchor="ctr"/>
          <a:lstStyle/>
          <a:p>
            <a:pPr indent="0" marL="0">
              <a:buNone/>
            </a:pPr>
            <a:r>
              <a:rPr lang="en-US" sz="1400" dirty="0">
                <a:solidFill>
                  <a:srgbClr val="1B2433"/>
                </a:solidFill>
                <a:latin typeface="Calibri" pitchFamily="34" charset="0"/>
                <a:ea typeface="Calibri" pitchFamily="34" charset="-122"/>
                <a:cs typeface="Calibri" pitchFamily="34" charset="-120"/>
              </a:rPr>
              <a:t>Growth changed gear in 2021: 4% a year before, 47% after. One constellation now holds 65% of working satellites.</a:t>
            </a:r>
            <a:endParaRPr lang="en-US" sz="1400" dirty="0"/>
          </a:p>
        </p:txBody>
      </p:sp>
      <p:sp>
        <p:nvSpPr>
          <p:cNvPr id="7" name="Text 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573"/>
                </a:solidFill>
                <a:latin typeface="Calibri" pitchFamily="34" charset="0"/>
                <a:ea typeface="Calibri" pitchFamily="34" charset="-122"/>
                <a:cs typeface="Calibri" pitchFamily="34" charset="-120"/>
              </a:rPr>
              <a:t>PROJECT HIGH GROUND  ·  CDM Datathon-2026  ·  Theme 6.1</a:t>
            </a:r>
            <a:endParaRPr lang="en-US" sz="1000" dirty="0"/>
          </a:p>
        </p:txBody>
      </p:sp>
      <p:sp>
        <p:nvSpPr>
          <p:cNvPr id="8" name="Text 4"/>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573"/>
                </a:solidFill>
                <a:latin typeface="Calibri" pitchFamily="34" charset="0"/>
                <a:ea typeface="Calibri" pitchFamily="34" charset="-122"/>
                <a:cs typeface="Calibri" pitchFamily="34" charset="-120"/>
              </a:rPr>
              <a:t>4 / 17</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D99A1E"/>
                </a:solidFill>
                <a:latin typeface="Calibri" pitchFamily="34" charset="0"/>
                <a:ea typeface="Calibri" pitchFamily="34" charset="-122"/>
                <a:cs typeface="Calibri" pitchFamily="34" charset="-120"/>
              </a:rPr>
              <a:t>FINDING 2 · WHO OWNS ORBIT</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2800" b="1" dirty="0">
                <a:solidFill>
                  <a:srgbClr val="0B1D3A"/>
                </a:solidFill>
                <a:latin typeface="Cambria" pitchFamily="34" charset="0"/>
                <a:ea typeface="Cambria" pitchFamily="34" charset="-122"/>
                <a:cs typeface="Cambria" pitchFamily="34" charset="-120"/>
              </a:rPr>
              <a:t>One country and one company own most of orbit</a:t>
            </a:r>
            <a:endParaRPr lang="en-US" sz="2800" dirty="0"/>
          </a:p>
        </p:txBody>
      </p:sp>
      <p:graphicFrame>
        <p:nvGraphicFramePr>
          <p:cNvPr id="4" name="Chart 0" descr=""/>
          <p:cNvGraphicFramePr/>
          <p:nvPr/>
        </p:nvGraphicFramePr>
        <p:xfrm>
          <a:off x="548640" y="155448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772400" y="1737360"/>
            <a:ext cx="3840480" cy="566928"/>
          </a:xfrm>
          <a:prstGeom prst="rect">
            <a:avLst/>
          </a:prstGeom>
          <a:noFill/>
          <a:ln/>
        </p:spPr>
        <p:txBody>
          <a:bodyPr wrap="square" lIns="0" tIns="0" rIns="0" bIns="0" rtlCol="0" anchor="b"/>
          <a:lstStyle/>
          <a:p>
            <a:pPr indent="0" marL="0">
              <a:buNone/>
            </a:pPr>
            <a:r>
              <a:rPr lang="en-US" sz="3600" b="1" dirty="0">
                <a:solidFill>
                  <a:srgbClr val="0B1D3A"/>
                </a:solidFill>
                <a:latin typeface="Cambria" pitchFamily="34" charset="0"/>
                <a:ea typeface="Cambria" pitchFamily="34" charset="-122"/>
                <a:cs typeface="Cambria" pitchFamily="34" charset="-120"/>
              </a:rPr>
              <a:t>76%</a:t>
            </a:r>
            <a:endParaRPr lang="en-US" sz="3600" dirty="0"/>
          </a:p>
        </p:txBody>
      </p:sp>
      <p:sp>
        <p:nvSpPr>
          <p:cNvPr id="6" name="Text 3"/>
          <p:cNvSpPr txBox="1"/>
          <p:nvPr/>
        </p:nvSpPr>
        <p:spPr>
          <a:xfrm>
            <a:off x="7772400" y="2340864"/>
            <a:ext cx="3840480" cy="566928"/>
          </a:xfrm>
          <a:prstGeom prst="rect">
            <a:avLst/>
          </a:prstGeom>
          <a:noFill/>
          <a:ln/>
        </p:spPr>
        <p:txBody>
          <a:bodyPr wrap="square" lIns="0" tIns="0" rIns="0" bIns="0" rtlCol="0" anchor="t"/>
          <a:lstStyle/>
          <a:p>
            <a:pPr indent="0" marL="0">
              <a:buNone/>
            </a:pPr>
            <a:r>
              <a:rPr lang="en-US" sz="1300" dirty="0">
                <a:solidFill>
                  <a:srgbClr val="5B6573"/>
                </a:solidFill>
                <a:latin typeface="Calibri" pitchFamily="34" charset="0"/>
                <a:ea typeface="Calibri" pitchFamily="34" charset="-122"/>
                <a:cs typeface="Calibri" pitchFamily="34" charset="-120"/>
              </a:rPr>
              <a:t>of working satellites are US-operated (43% in 2014)</a:t>
            </a:r>
            <a:endParaRPr lang="en-US" sz="1300" dirty="0"/>
          </a:p>
        </p:txBody>
      </p:sp>
      <p:sp>
        <p:nvSpPr>
          <p:cNvPr id="7" name="Text 4"/>
          <p:cNvSpPr txBox="1"/>
          <p:nvPr/>
        </p:nvSpPr>
        <p:spPr>
          <a:xfrm>
            <a:off x="7772400" y="3154680"/>
            <a:ext cx="3840480" cy="566928"/>
          </a:xfrm>
          <a:prstGeom prst="rect">
            <a:avLst/>
          </a:prstGeom>
          <a:noFill/>
          <a:ln/>
        </p:spPr>
        <p:txBody>
          <a:bodyPr wrap="square" lIns="0" tIns="0" rIns="0" bIns="0" rtlCol="0" anchor="b"/>
          <a:lstStyle/>
          <a:p>
            <a:pPr indent="0" marL="0">
              <a:buNone/>
            </a:pPr>
            <a:r>
              <a:rPr lang="en-US" sz="3600" b="1" dirty="0">
                <a:solidFill>
                  <a:srgbClr val="0B1D3A"/>
                </a:solidFill>
                <a:latin typeface="Cambria" pitchFamily="34" charset="0"/>
                <a:ea typeface="Cambria" pitchFamily="34" charset="-122"/>
                <a:cs typeface="Cambria" pitchFamily="34" charset="-120"/>
              </a:rPr>
              <a:t>5,879</a:t>
            </a:r>
            <a:endParaRPr lang="en-US" sz="3600" dirty="0"/>
          </a:p>
        </p:txBody>
      </p:sp>
      <p:sp>
        <p:nvSpPr>
          <p:cNvPr id="8" name="Text 5"/>
          <p:cNvSpPr txBox="1"/>
          <p:nvPr/>
        </p:nvSpPr>
        <p:spPr>
          <a:xfrm>
            <a:off x="7772400" y="3758184"/>
            <a:ext cx="3840480" cy="566928"/>
          </a:xfrm>
          <a:prstGeom prst="rect">
            <a:avLst/>
          </a:prstGeom>
          <a:noFill/>
          <a:ln/>
        </p:spPr>
        <p:txBody>
          <a:bodyPr wrap="square" lIns="0" tIns="0" rIns="0" bIns="0" rtlCol="0" anchor="t"/>
          <a:lstStyle/>
          <a:p>
            <a:pPr indent="0" marL="0">
              <a:buNone/>
            </a:pPr>
            <a:r>
              <a:rPr lang="en-US" sz="1300" dirty="0">
                <a:solidFill>
                  <a:srgbClr val="5B6573"/>
                </a:solidFill>
                <a:latin typeface="Calibri" pitchFamily="34" charset="0"/>
                <a:ea typeface="Calibri" pitchFamily="34" charset="-122"/>
                <a:cs typeface="Calibri" pitchFamily="34" charset="-120"/>
              </a:rPr>
              <a:t>concentration index (HHI); above 2,500 = highly concentrated. 2014: 2,171</a:t>
            </a:r>
            <a:endParaRPr lang="en-US" sz="1300" dirty="0"/>
          </a:p>
        </p:txBody>
      </p:sp>
      <p:sp>
        <p:nvSpPr>
          <p:cNvPr id="9" name="Text 6"/>
          <p:cNvSpPr txBox="1"/>
          <p:nvPr/>
        </p:nvSpPr>
        <p:spPr>
          <a:xfrm>
            <a:off x="7772400" y="4572000"/>
            <a:ext cx="3840480" cy="566928"/>
          </a:xfrm>
          <a:prstGeom prst="rect">
            <a:avLst/>
          </a:prstGeom>
          <a:noFill/>
          <a:ln/>
        </p:spPr>
        <p:txBody>
          <a:bodyPr wrap="square" lIns="0" tIns="0" rIns="0" bIns="0" rtlCol="0" anchor="b"/>
          <a:lstStyle/>
          <a:p>
            <a:pPr indent="0" marL="0">
              <a:buNone/>
            </a:pPr>
            <a:r>
              <a:rPr lang="en-US" sz="3600" b="1" dirty="0">
                <a:solidFill>
                  <a:srgbClr val="C0392B"/>
                </a:solidFill>
                <a:latin typeface="Cambria" pitchFamily="34" charset="0"/>
                <a:ea typeface="Cambria" pitchFamily="34" charset="-122"/>
                <a:cs typeface="Cambria" pitchFamily="34" charset="-120"/>
              </a:rPr>
              <a:t>0.5%</a:t>
            </a:r>
            <a:endParaRPr lang="en-US" sz="3600" dirty="0"/>
          </a:p>
        </p:txBody>
      </p:sp>
      <p:sp>
        <p:nvSpPr>
          <p:cNvPr id="10" name="Text 7"/>
          <p:cNvSpPr txBox="1"/>
          <p:nvPr/>
        </p:nvSpPr>
        <p:spPr>
          <a:xfrm>
            <a:off x="7772400" y="5175504"/>
            <a:ext cx="3840480" cy="566928"/>
          </a:xfrm>
          <a:prstGeom prst="rect">
            <a:avLst/>
          </a:prstGeom>
          <a:noFill/>
          <a:ln/>
        </p:spPr>
        <p:txBody>
          <a:bodyPr wrap="square" lIns="0" tIns="0" rIns="0" bIns="0" rtlCol="0" anchor="t"/>
          <a:lstStyle/>
          <a:p>
            <a:pPr indent="0" marL="0">
              <a:buNone/>
            </a:pPr>
            <a:r>
              <a:rPr lang="en-US" sz="1300" dirty="0">
                <a:solidFill>
                  <a:srgbClr val="5B6573"/>
                </a:solidFill>
                <a:latin typeface="Calibri" pitchFamily="34" charset="0"/>
                <a:ea typeface="Calibri" pitchFamily="34" charset="-122"/>
                <a:cs typeface="Calibri" pitchFamily="34" charset="-120"/>
              </a:rPr>
              <a:t>India's share: 33 satellites (2.8%) in 2014, 78 today</a:t>
            </a:r>
            <a:endParaRPr lang="en-US" sz="1300" dirty="0"/>
          </a:p>
        </p:txBody>
      </p:sp>
      <p:sp>
        <p:nvSpPr>
          <p:cNvPr id="11" name="Text 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573"/>
                </a:solidFill>
                <a:latin typeface="Calibri" pitchFamily="34" charset="0"/>
                <a:ea typeface="Calibri" pitchFamily="34" charset="-122"/>
                <a:cs typeface="Calibri" pitchFamily="34" charset="-120"/>
              </a:rPr>
              <a:t>PROJECT HIGH GROUND  ·  CDM Datathon-2026  ·  Theme 6.1</a:t>
            </a:r>
            <a:endParaRPr lang="en-US" sz="1000" dirty="0"/>
          </a:p>
        </p:txBody>
      </p:sp>
      <p:sp>
        <p:nvSpPr>
          <p:cNvPr id="12" name="Text 9"/>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573"/>
                </a:solidFill>
                <a:latin typeface="Calibri" pitchFamily="34" charset="0"/>
                <a:ea typeface="Calibri" pitchFamily="34" charset="-122"/>
                <a:cs typeface="Calibri" pitchFamily="34" charset="-120"/>
              </a:rPr>
              <a:t>5 / 17</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D99A1E"/>
                </a:solidFill>
                <a:latin typeface="Calibri" pitchFamily="34" charset="0"/>
                <a:ea typeface="Calibri" pitchFamily="34" charset="-122"/>
                <a:cs typeface="Calibri" pitchFamily="34" charset="-120"/>
              </a:rPr>
              <a:t>FINDING 3 · WHERE IT IS CROWDED</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2800" b="1" dirty="0">
                <a:solidFill>
                  <a:srgbClr val="0B1D3A"/>
                </a:solidFill>
                <a:latin typeface="Cambria" pitchFamily="34" charset="0"/>
                <a:ea typeface="Cambria" pitchFamily="34" charset="-122"/>
                <a:cs typeface="Cambria" pitchFamily="34" charset="-120"/>
              </a:rPr>
              <a:t>A live crowd, a dead crowd, and collision risk ×10</a:t>
            </a:r>
            <a:endParaRPr lang="en-US" sz="2800" dirty="0"/>
          </a:p>
        </p:txBody>
      </p:sp>
      <p:graphicFrame>
        <p:nvGraphicFramePr>
          <p:cNvPr id="4" name="Chart 0" descr=""/>
          <p:cNvGraphicFramePr/>
          <p:nvPr/>
        </p:nvGraphicFramePr>
        <p:xfrm>
          <a:off x="548640" y="1554480"/>
          <a:ext cx="7498080" cy="45720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412480" y="1737360"/>
            <a:ext cx="3291840" cy="566928"/>
          </a:xfrm>
          <a:prstGeom prst="rect">
            <a:avLst/>
          </a:prstGeom>
          <a:noFill/>
          <a:ln/>
        </p:spPr>
        <p:txBody>
          <a:bodyPr wrap="square" lIns="0" tIns="0" rIns="0" bIns="0" rtlCol="0" anchor="b"/>
          <a:lstStyle/>
          <a:p>
            <a:pPr indent="0" marL="0">
              <a:buNone/>
            </a:pPr>
            <a:r>
              <a:rPr lang="en-US" sz="3600" b="1" dirty="0">
                <a:solidFill>
                  <a:srgbClr val="2F5D8C"/>
                </a:solidFill>
                <a:latin typeface="Cambria" pitchFamily="34" charset="0"/>
                <a:ea typeface="Cambria" pitchFamily="34" charset="-122"/>
                <a:cs typeface="Cambria" pitchFamily="34" charset="-120"/>
              </a:rPr>
              <a:t>9,964</a:t>
            </a:r>
            <a:endParaRPr lang="en-US" sz="3600" dirty="0"/>
          </a:p>
        </p:txBody>
      </p:sp>
      <p:sp>
        <p:nvSpPr>
          <p:cNvPr id="6" name="Text 3"/>
          <p:cNvSpPr txBox="1"/>
          <p:nvPr/>
        </p:nvSpPr>
        <p:spPr>
          <a:xfrm>
            <a:off x="8412480" y="2340864"/>
            <a:ext cx="3291840" cy="566928"/>
          </a:xfrm>
          <a:prstGeom prst="rect">
            <a:avLst/>
          </a:prstGeom>
          <a:noFill/>
          <a:ln/>
        </p:spPr>
        <p:txBody>
          <a:bodyPr wrap="square" lIns="0" tIns="0" rIns="0" bIns="0" rtlCol="0" anchor="t"/>
          <a:lstStyle/>
          <a:p>
            <a:pPr indent="0" marL="0">
              <a:buNone/>
            </a:pPr>
            <a:r>
              <a:rPr lang="en-US" sz="1300" dirty="0">
                <a:solidFill>
                  <a:srgbClr val="5B6573"/>
                </a:solidFill>
                <a:latin typeface="Calibri" pitchFamily="34" charset="0"/>
                <a:ea typeface="Calibri" pitchFamily="34" charset="-122"/>
                <a:cs typeface="Calibri" pitchFamily="34" charset="-120"/>
              </a:rPr>
              <a:t>objects at 450-500 km, 99% working (425 in 2014)</a:t>
            </a:r>
            <a:endParaRPr lang="en-US" sz="1300" dirty="0"/>
          </a:p>
        </p:txBody>
      </p:sp>
      <p:sp>
        <p:nvSpPr>
          <p:cNvPr id="7" name="Text 4"/>
          <p:cNvSpPr txBox="1"/>
          <p:nvPr/>
        </p:nvSpPr>
        <p:spPr>
          <a:xfrm>
            <a:off x="8412480" y="3154680"/>
            <a:ext cx="3291840" cy="566928"/>
          </a:xfrm>
          <a:prstGeom prst="rect">
            <a:avLst/>
          </a:prstGeom>
          <a:noFill/>
          <a:ln/>
        </p:spPr>
        <p:txBody>
          <a:bodyPr wrap="square" lIns="0" tIns="0" rIns="0" bIns="0" rtlCol="0" anchor="b"/>
          <a:lstStyle/>
          <a:p>
            <a:pPr indent="0" marL="0">
              <a:buNone/>
            </a:pPr>
            <a:r>
              <a:rPr lang="en-US" sz="3600" b="1" dirty="0">
                <a:solidFill>
                  <a:srgbClr val="C0392B"/>
                </a:solidFill>
                <a:latin typeface="Cambria" pitchFamily="34" charset="0"/>
                <a:ea typeface="Cambria" pitchFamily="34" charset="-122"/>
                <a:cs typeface="Cambria" pitchFamily="34" charset="-120"/>
              </a:rPr>
              <a:t>4,583</a:t>
            </a:r>
            <a:endParaRPr lang="en-US" sz="3600" dirty="0"/>
          </a:p>
        </p:txBody>
      </p:sp>
      <p:sp>
        <p:nvSpPr>
          <p:cNvPr id="8" name="Text 5"/>
          <p:cNvSpPr txBox="1"/>
          <p:nvPr/>
        </p:nvSpPr>
        <p:spPr>
          <a:xfrm>
            <a:off x="8412480" y="3758184"/>
            <a:ext cx="3291840" cy="566928"/>
          </a:xfrm>
          <a:prstGeom prst="rect">
            <a:avLst/>
          </a:prstGeom>
          <a:noFill/>
          <a:ln/>
        </p:spPr>
        <p:txBody>
          <a:bodyPr wrap="square" lIns="0" tIns="0" rIns="0" bIns="0" rtlCol="0" anchor="t"/>
          <a:lstStyle/>
          <a:p>
            <a:pPr indent="0" marL="0">
              <a:buNone/>
            </a:pPr>
            <a:r>
              <a:rPr lang="en-US" sz="1300" dirty="0">
                <a:solidFill>
                  <a:srgbClr val="5B6573"/>
                </a:solidFill>
                <a:latin typeface="Calibri" pitchFamily="34" charset="0"/>
                <a:ea typeface="Calibri" pitchFamily="34" charset="-122"/>
                <a:cs typeface="Calibri" pitchFamily="34" charset="-120"/>
              </a:rPr>
              <a:t>objects at 750-900 km, 82% of them debris</a:t>
            </a:r>
            <a:endParaRPr lang="en-US" sz="1300" dirty="0"/>
          </a:p>
        </p:txBody>
      </p:sp>
      <p:sp>
        <p:nvSpPr>
          <p:cNvPr id="9" name="Text 6"/>
          <p:cNvSpPr txBox="1"/>
          <p:nvPr/>
        </p:nvSpPr>
        <p:spPr>
          <a:xfrm>
            <a:off x="8412480" y="4572000"/>
            <a:ext cx="3291840" cy="566928"/>
          </a:xfrm>
          <a:prstGeom prst="rect">
            <a:avLst/>
          </a:prstGeom>
          <a:noFill/>
          <a:ln/>
        </p:spPr>
        <p:txBody>
          <a:bodyPr wrap="square" lIns="0" tIns="0" rIns="0" bIns="0" rtlCol="0" anchor="b"/>
          <a:lstStyle/>
          <a:p>
            <a:pPr indent="0" marL="0">
              <a:buNone/>
            </a:pPr>
            <a:r>
              <a:rPr lang="en-US" sz="3600" b="1" dirty="0">
                <a:solidFill>
                  <a:srgbClr val="0B1D3A"/>
                </a:solidFill>
                <a:latin typeface="Cambria" pitchFamily="34" charset="0"/>
                <a:ea typeface="Cambria" pitchFamily="34" charset="-122"/>
                <a:cs typeface="Cambria" pitchFamily="34" charset="-120"/>
              </a:rPr>
              <a:t>162</a:t>
            </a:r>
            <a:endParaRPr lang="en-US" sz="3600" dirty="0"/>
          </a:p>
        </p:txBody>
      </p:sp>
      <p:sp>
        <p:nvSpPr>
          <p:cNvPr id="10" name="Text 7"/>
          <p:cNvSpPr txBox="1"/>
          <p:nvPr/>
        </p:nvSpPr>
        <p:spPr>
          <a:xfrm>
            <a:off x="8412480" y="5175504"/>
            <a:ext cx="3291840" cy="566928"/>
          </a:xfrm>
          <a:prstGeom prst="rect">
            <a:avLst/>
          </a:prstGeom>
          <a:noFill/>
          <a:ln/>
        </p:spPr>
        <p:txBody>
          <a:bodyPr wrap="square" lIns="0" tIns="0" rIns="0" bIns="0" rtlCol="0" anchor="t"/>
          <a:lstStyle/>
          <a:p>
            <a:pPr indent="0" marL="0">
              <a:buNone/>
            </a:pPr>
            <a:r>
              <a:rPr lang="en-US" sz="1300" dirty="0">
                <a:solidFill>
                  <a:srgbClr val="5B6573"/>
                </a:solidFill>
                <a:latin typeface="Calibri" pitchFamily="34" charset="0"/>
                <a:ea typeface="Calibri" pitchFamily="34" charset="-122"/>
                <a:cs typeface="Calibri" pitchFamily="34" charset="-120"/>
              </a:rPr>
              <a:t>GEO satellites in India's 40-110 E arc, 29% of the belt</a:t>
            </a:r>
            <a:endParaRPr lang="en-US" sz="1300" dirty="0"/>
          </a:p>
        </p:txBody>
      </p:sp>
      <p:sp>
        <p:nvSpPr>
          <p:cNvPr id="11" name="Text 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573"/>
                </a:solidFill>
                <a:latin typeface="Calibri" pitchFamily="34" charset="0"/>
                <a:ea typeface="Calibri" pitchFamily="34" charset="-122"/>
                <a:cs typeface="Calibri" pitchFamily="34" charset="-120"/>
              </a:rPr>
              <a:t>PROJECT HIGH GROUND  ·  CDM Datathon-2026  ·  Theme 6.1</a:t>
            </a:r>
            <a:endParaRPr lang="en-US" sz="1000" dirty="0"/>
          </a:p>
        </p:txBody>
      </p:sp>
      <p:sp>
        <p:nvSpPr>
          <p:cNvPr id="12" name="Text 9"/>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573"/>
                </a:solidFill>
                <a:latin typeface="Calibri" pitchFamily="34" charset="0"/>
                <a:ea typeface="Calibri" pitchFamily="34" charset="-122"/>
                <a:cs typeface="Calibri" pitchFamily="34" charset="-120"/>
              </a:rPr>
              <a:t>6 / 17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D99A1E"/>
                </a:solidFill>
                <a:latin typeface="Calibri" pitchFamily="34" charset="0"/>
                <a:ea typeface="Calibri" pitchFamily="34" charset="-122"/>
                <a:cs typeface="Calibri" pitchFamily="34" charset="-120"/>
              </a:rPr>
              <a:t>FINDING 4 · WEAPON TESTS</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2800" b="1" dirty="0">
                <a:solidFill>
                  <a:srgbClr val="0B1D3A"/>
                </a:solidFill>
                <a:latin typeface="Cambria" pitchFamily="34" charset="0"/>
                <a:ea typeface="Cambria" pitchFamily="34" charset="-122"/>
                <a:cs typeface="Cambria" pitchFamily="34" charset="-120"/>
              </a:rPr>
              <a:t>Altitude decides how long weapon debris stays</a:t>
            </a:r>
            <a:endParaRPr lang="en-US" sz="2800" dirty="0"/>
          </a:p>
        </p:txBody>
      </p:sp>
      <p:graphicFrame>
        <p:nvGraphicFramePr>
          <p:cNvPr id="4" name="Chart 0" descr=""/>
          <p:cNvGraphicFramePr/>
          <p:nvPr/>
        </p:nvGraphicFramePr>
        <p:xfrm>
          <a:off x="548640" y="1554480"/>
          <a:ext cx="6949440" cy="457200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772400" y="1645920"/>
          <a:ext cx="3840480" cy="914400"/>
        </p:xfrm>
        <a:graphic>
          <a:graphicData uri="http://schemas.openxmlformats.org/drawingml/2006/table">
            <a:tbl>
              <a:tblPr/>
              <a:tblGrid>
                <a:gridCol w="2286000"/>
                <a:gridCol w="777240"/>
                <a:gridCol w="777240"/>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Event</a:t>
                      </a:r>
                      <a:endParaRPr lang="en-US" sz="10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Pieces</a:t>
                      </a:r>
                      <a:endParaRPr lang="en-US" sz="10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Left</a:t>
                      </a:r>
                      <a:endParaRPr lang="en-US" sz="10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r>
              <a:tr h="329184">
                <a:tc>
                  <a:txBody>
                    <a:bodyPr/>
                    <a:lstStyle/>
                    <a:p>
                      <a:pPr indent="0" marL="0">
                        <a:buNone/>
                      </a:pPr>
                      <a:r>
                        <a:rPr lang="en-US" sz="1050" dirty="0">
                          <a:solidFill>
                            <a:srgbClr val="1B2433"/>
                          </a:solidFill>
                          <a:latin typeface="Calibri" pitchFamily="34" charset="0"/>
                          <a:ea typeface="Calibri" pitchFamily="34" charset="-122"/>
                          <a:cs typeface="Calibri" pitchFamily="34" charset="-120"/>
                        </a:rPr>
                        <a:t>China ASAT test</a:t>
                      </a:r>
                      <a:endParaRPr lang="en-US" sz="10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050" dirty="0">
                          <a:solidFill>
                            <a:srgbClr val="1B2433"/>
                          </a:solidFill>
                          <a:latin typeface="Calibri" pitchFamily="34" charset="0"/>
                          <a:ea typeface="Calibri" pitchFamily="34" charset="-122"/>
                          <a:cs typeface="Calibri" pitchFamily="34" charset="-120"/>
                        </a:rPr>
                        <a:t>3,531</a:t>
                      </a:r>
                      <a:endParaRPr lang="en-US" sz="10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050" dirty="0">
                          <a:solidFill>
                            <a:srgbClr val="1B2433"/>
                          </a:solidFill>
                          <a:latin typeface="Calibri" pitchFamily="34" charset="0"/>
                          <a:ea typeface="Calibri" pitchFamily="34" charset="-122"/>
                          <a:cs typeface="Calibri" pitchFamily="34" charset="-120"/>
                        </a:rPr>
                        <a:t>65.5%</a:t>
                      </a:r>
                      <a:endParaRPr lang="en-US" sz="10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indent="0" marL="0">
                        <a:buNone/>
                      </a:pPr>
                      <a:r>
                        <a:rPr lang="en-US" sz="1050" dirty="0">
                          <a:solidFill>
                            <a:srgbClr val="1B2433"/>
                          </a:solidFill>
                          <a:latin typeface="Calibri" pitchFamily="34" charset="0"/>
                          <a:ea typeface="Calibri" pitchFamily="34" charset="-122"/>
                          <a:cs typeface="Calibri" pitchFamily="34" charset="-120"/>
                        </a:rPr>
                        <a:t>Iridium-Cosmos collision (Russian debris)</a:t>
                      </a:r>
                      <a:endParaRPr lang="en-US" sz="10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050" dirty="0">
                          <a:solidFill>
                            <a:srgbClr val="1B2433"/>
                          </a:solidFill>
                          <a:latin typeface="Calibri" pitchFamily="34" charset="0"/>
                          <a:ea typeface="Calibri" pitchFamily="34" charset="-122"/>
                          <a:cs typeface="Calibri" pitchFamily="34" charset="-120"/>
                        </a:rPr>
                        <a:t>1,714</a:t>
                      </a:r>
                      <a:endParaRPr lang="en-US" sz="10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050" dirty="0">
                          <a:solidFill>
                            <a:srgbClr val="1B2433"/>
                          </a:solidFill>
                          <a:latin typeface="Calibri" pitchFamily="34" charset="0"/>
                          <a:ea typeface="Calibri" pitchFamily="34" charset="-122"/>
                          <a:cs typeface="Calibri" pitchFamily="34" charset="-120"/>
                        </a:rPr>
                        <a:t>35.8%</a:t>
                      </a:r>
                      <a:endParaRPr lang="en-US" sz="10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indent="0" marL="0">
                        <a:buNone/>
                      </a:pPr>
                      <a:r>
                        <a:rPr lang="en-US" sz="1050" dirty="0">
                          <a:solidFill>
                            <a:srgbClr val="1B2433"/>
                          </a:solidFill>
                          <a:latin typeface="Calibri" pitchFamily="34" charset="0"/>
                          <a:ea typeface="Calibri" pitchFamily="34" charset="-122"/>
                          <a:cs typeface="Calibri" pitchFamily="34" charset="-120"/>
                        </a:rPr>
                        <a:t>Iridium-Cosmos collision (US debris)</a:t>
                      </a:r>
                      <a:endParaRPr lang="en-US" sz="10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050" dirty="0">
                          <a:solidFill>
                            <a:srgbClr val="1B2433"/>
                          </a:solidFill>
                          <a:latin typeface="Calibri" pitchFamily="34" charset="0"/>
                          <a:ea typeface="Calibri" pitchFamily="34" charset="-122"/>
                          <a:cs typeface="Calibri" pitchFamily="34" charset="-120"/>
                        </a:rPr>
                        <a:t>656</a:t>
                      </a:r>
                      <a:endParaRPr lang="en-US" sz="10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050" dirty="0">
                          <a:solidFill>
                            <a:srgbClr val="1B2433"/>
                          </a:solidFill>
                          <a:latin typeface="Calibri" pitchFamily="34" charset="0"/>
                          <a:ea typeface="Calibri" pitchFamily="34" charset="-122"/>
                          <a:cs typeface="Calibri" pitchFamily="34" charset="-120"/>
                        </a:rPr>
                        <a:t>17.8%</a:t>
                      </a:r>
                      <a:endParaRPr lang="en-US" sz="10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indent="0" marL="0">
                        <a:buNone/>
                      </a:pPr>
                      <a:r>
                        <a:rPr lang="en-US" sz="1050" dirty="0">
                          <a:solidFill>
                            <a:srgbClr val="1B2433"/>
                          </a:solidFill>
                          <a:latin typeface="Calibri" pitchFamily="34" charset="0"/>
                          <a:ea typeface="Calibri" pitchFamily="34" charset="-122"/>
                          <a:cs typeface="Calibri" pitchFamily="34" charset="-120"/>
                        </a:rPr>
                        <a:t>US ASAT intercept</a:t>
                      </a:r>
                      <a:endParaRPr lang="en-US" sz="10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050" dirty="0">
                          <a:solidFill>
                            <a:srgbClr val="1B2433"/>
                          </a:solidFill>
                          <a:latin typeface="Calibri" pitchFamily="34" charset="0"/>
                          <a:ea typeface="Calibri" pitchFamily="34" charset="-122"/>
                          <a:cs typeface="Calibri" pitchFamily="34" charset="-120"/>
                        </a:rPr>
                        <a:t>174</a:t>
                      </a:r>
                      <a:endParaRPr lang="en-US" sz="10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050" dirty="0">
                          <a:solidFill>
                            <a:srgbClr val="1B2433"/>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indent="0" marL="0">
                        <a:buNone/>
                      </a:pPr>
                      <a:r>
                        <a:rPr lang="en-US" sz="1050" dirty="0">
                          <a:solidFill>
                            <a:srgbClr val="1B2433"/>
                          </a:solidFill>
                          <a:latin typeface="Calibri" pitchFamily="34" charset="0"/>
                          <a:ea typeface="Calibri" pitchFamily="34" charset="-122"/>
                          <a:cs typeface="Calibri" pitchFamily="34" charset="-120"/>
                        </a:rPr>
                        <a:t>India ASAT test (Mission Shakti)</a:t>
                      </a:r>
                      <a:endParaRPr lang="en-US" sz="10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050" dirty="0">
                          <a:solidFill>
                            <a:srgbClr val="1B2433"/>
                          </a:solidFill>
                          <a:latin typeface="Calibri" pitchFamily="34" charset="0"/>
                          <a:ea typeface="Calibri" pitchFamily="34" charset="-122"/>
                          <a:cs typeface="Calibri" pitchFamily="34" charset="-120"/>
                        </a:rPr>
                        <a:t>129</a:t>
                      </a:r>
                      <a:endParaRPr lang="en-US" sz="10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050" dirty="0">
                          <a:solidFill>
                            <a:srgbClr val="1B2433"/>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indent="0" marL="0">
                        <a:buNone/>
                      </a:pPr>
                      <a:r>
                        <a:rPr lang="en-US" sz="1050" dirty="0">
                          <a:solidFill>
                            <a:srgbClr val="1B2433"/>
                          </a:solidFill>
                          <a:latin typeface="Calibri" pitchFamily="34" charset="0"/>
                          <a:ea typeface="Calibri" pitchFamily="34" charset="-122"/>
                          <a:cs typeface="Calibri" pitchFamily="34" charset="-120"/>
                        </a:rPr>
                        <a:t>Russia ASAT test</a:t>
                      </a:r>
                      <a:endParaRPr lang="en-US" sz="10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050" dirty="0">
                          <a:solidFill>
                            <a:srgbClr val="1B2433"/>
                          </a:solidFill>
                          <a:latin typeface="Calibri" pitchFamily="34" charset="0"/>
                          <a:ea typeface="Calibri" pitchFamily="34" charset="-122"/>
                          <a:cs typeface="Calibri" pitchFamily="34" charset="-120"/>
                        </a:rPr>
                        <a:t>1,806</a:t>
                      </a:r>
                      <a:endParaRPr lang="en-US" sz="10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050" dirty="0">
                          <a:solidFill>
                            <a:srgbClr val="1B2433"/>
                          </a:solidFill>
                          <a:latin typeface="Calibri" pitchFamily="34" charset="0"/>
                          <a:ea typeface="Calibri" pitchFamily="34" charset="-122"/>
                          <a:cs typeface="Calibri" pitchFamily="34" charset="-120"/>
                        </a:rPr>
                        <a:t>0.2%</a:t>
                      </a:r>
                      <a:endParaRPr lang="en-US" sz="10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6" name="Text 2"/>
          <p:cNvSpPr txBox="1"/>
          <p:nvPr/>
        </p:nvSpPr>
        <p:spPr>
          <a:xfrm>
            <a:off x="7772400" y="4434840"/>
            <a:ext cx="3840480" cy="1280160"/>
          </a:xfrm>
          <a:prstGeom prst="rect">
            <a:avLst/>
          </a:prstGeom>
          <a:noFill/>
          <a:ln/>
        </p:spPr>
        <p:txBody>
          <a:bodyPr wrap="square" lIns="0" tIns="0" rIns="0" bIns="0" rtlCol="0" anchor="ctr"/>
          <a:lstStyle/>
          <a:p>
            <a:pPr indent="0" marL="0">
              <a:buNone/>
            </a:pPr>
            <a:r>
              <a:rPr lang="en-US" sz="1400" dirty="0">
                <a:solidFill>
                  <a:srgbClr val="1B2433"/>
                </a:solidFill>
                <a:latin typeface="Calibri" pitchFamily="34" charset="0"/>
                <a:ea typeface="Calibri" pitchFamily="34" charset="-122"/>
                <a:cs typeface="Calibri" pitchFamily="34" charset="-120"/>
              </a:rPr>
              <a:t>India's 2019 test at ~280 km: all 129 pieces re-entered. China's 2007 test at ~865 km: 66% still in orbit after 20 years.</a:t>
            </a:r>
            <a:endParaRPr lang="en-US" sz="1400" dirty="0"/>
          </a:p>
        </p:txBody>
      </p:sp>
      <p:sp>
        <p:nvSpPr>
          <p:cNvPr id="7" name="Text 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573"/>
                </a:solidFill>
                <a:latin typeface="Calibri" pitchFamily="34" charset="0"/>
                <a:ea typeface="Calibri" pitchFamily="34" charset="-122"/>
                <a:cs typeface="Calibri" pitchFamily="34" charset="-120"/>
              </a:rPr>
              <a:t>PROJECT HIGH GROUND  ·  CDM Datathon-2026  ·  Theme 6.1</a:t>
            </a:r>
            <a:endParaRPr lang="en-US" sz="1000" dirty="0"/>
          </a:p>
        </p:txBody>
      </p:sp>
      <p:sp>
        <p:nvSpPr>
          <p:cNvPr id="8" name="Text 4"/>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573"/>
                </a:solidFill>
                <a:latin typeface="Calibri" pitchFamily="34" charset="0"/>
                <a:ea typeface="Calibri" pitchFamily="34" charset="-122"/>
                <a:cs typeface="Calibri" pitchFamily="34" charset="-120"/>
              </a:rPr>
              <a:t>7 / 17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D99A1E"/>
                </a:solidFill>
                <a:latin typeface="Calibri" pitchFamily="34" charset="0"/>
                <a:ea typeface="Calibri" pitchFamily="34" charset="-122"/>
                <a:cs typeface="Calibri" pitchFamily="34" charset="-120"/>
              </a:rPr>
              <a:t>FINDING 5 · THE CONTEST</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2800" b="1" dirty="0">
                <a:solidFill>
                  <a:srgbClr val="0B1D3A"/>
                </a:solidFill>
                <a:latin typeface="Cambria" pitchFamily="34" charset="0"/>
                <a:ea typeface="Cambria" pitchFamily="34" charset="-122"/>
                <a:cs typeface="Cambria" pitchFamily="34" charset="-120"/>
              </a:rPr>
              <a:t>China and the USA build eyes by the hundred</a:t>
            </a:r>
            <a:endParaRPr lang="en-US" sz="2800" dirty="0"/>
          </a:p>
        </p:txBody>
      </p:sp>
      <p:graphicFrame>
        <p:nvGraphicFramePr>
          <p:cNvPr id="4" name="Chart 0" descr=""/>
          <p:cNvGraphicFramePr/>
          <p:nvPr/>
        </p:nvGraphicFramePr>
        <p:xfrm>
          <a:off x="548640" y="155448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772400" y="1737360"/>
            <a:ext cx="3840480" cy="566928"/>
          </a:xfrm>
          <a:prstGeom prst="rect">
            <a:avLst/>
          </a:prstGeom>
          <a:noFill/>
          <a:ln/>
        </p:spPr>
        <p:txBody>
          <a:bodyPr wrap="square" lIns="0" tIns="0" rIns="0" bIns="0" rtlCol="0" anchor="b"/>
          <a:lstStyle/>
          <a:p>
            <a:pPr indent="0" marL="0">
              <a:buNone/>
            </a:pPr>
            <a:r>
              <a:rPr lang="en-US" sz="3600" b="1" dirty="0">
                <a:solidFill>
                  <a:srgbClr val="C0392B"/>
                </a:solidFill>
                <a:latin typeface="Cambria" pitchFamily="34" charset="0"/>
                <a:ea typeface="Cambria" pitchFamily="34" charset="-122"/>
                <a:cs typeface="Cambria" pitchFamily="34" charset="-120"/>
              </a:rPr>
              <a:t>43 a year</a:t>
            </a:r>
            <a:endParaRPr lang="en-US" sz="3600" dirty="0"/>
          </a:p>
        </p:txBody>
      </p:sp>
      <p:sp>
        <p:nvSpPr>
          <p:cNvPr id="6" name="Text 3"/>
          <p:cNvSpPr txBox="1"/>
          <p:nvPr/>
        </p:nvSpPr>
        <p:spPr>
          <a:xfrm>
            <a:off x="7772400" y="2340864"/>
            <a:ext cx="3840480" cy="566928"/>
          </a:xfrm>
          <a:prstGeom prst="rect">
            <a:avLst/>
          </a:prstGeom>
          <a:noFill/>
          <a:ln/>
        </p:spPr>
        <p:txBody>
          <a:bodyPr wrap="square" lIns="0" tIns="0" rIns="0" bIns="0" rtlCol="0" anchor="t"/>
          <a:lstStyle/>
          <a:p>
            <a:pPr indent="0" marL="0">
              <a:buNone/>
            </a:pPr>
            <a:r>
              <a:rPr lang="en-US" sz="1300" dirty="0">
                <a:solidFill>
                  <a:srgbClr val="5B6573"/>
                </a:solidFill>
                <a:latin typeface="Calibri" pitchFamily="34" charset="0"/>
                <a:ea typeface="Calibri" pitchFamily="34" charset="-122"/>
                <a:cs typeface="Calibri" pitchFamily="34" charset="-120"/>
              </a:rPr>
              <a:t>Chinese state-ISR satellites launched, 2023-25 average (India: under one)</a:t>
            </a:r>
            <a:endParaRPr lang="en-US" sz="1300" dirty="0"/>
          </a:p>
        </p:txBody>
      </p:sp>
      <p:sp>
        <p:nvSpPr>
          <p:cNvPr id="7" name="Text 4"/>
          <p:cNvSpPr txBox="1"/>
          <p:nvPr/>
        </p:nvSpPr>
        <p:spPr>
          <a:xfrm>
            <a:off x="7772400" y="3154680"/>
            <a:ext cx="3840480" cy="566928"/>
          </a:xfrm>
          <a:prstGeom prst="rect">
            <a:avLst/>
          </a:prstGeom>
          <a:noFill/>
          <a:ln/>
        </p:spPr>
        <p:txBody>
          <a:bodyPr wrap="square" lIns="0" tIns="0" rIns="0" bIns="0" rtlCol="0" anchor="b"/>
          <a:lstStyle/>
          <a:p>
            <a:pPr indent="0" marL="0">
              <a:buNone/>
            </a:pPr>
            <a:r>
              <a:rPr lang="en-US" sz="3600" b="1" dirty="0">
                <a:solidFill>
                  <a:srgbClr val="C0392B"/>
                </a:solidFill>
                <a:latin typeface="Cambria" pitchFamily="34" charset="0"/>
                <a:ea typeface="Cambria" pitchFamily="34" charset="-122"/>
                <a:cs typeface="Cambria" pitchFamily="34" charset="-120"/>
              </a:rPr>
              <a:t>13%</a:t>
            </a:r>
            <a:endParaRPr lang="en-US" sz="3600" dirty="0"/>
          </a:p>
        </p:txBody>
      </p:sp>
      <p:sp>
        <p:nvSpPr>
          <p:cNvPr id="8" name="Text 5"/>
          <p:cNvSpPr txBox="1"/>
          <p:nvPr/>
        </p:nvSpPr>
        <p:spPr>
          <a:xfrm>
            <a:off x="7772400" y="3758184"/>
            <a:ext cx="3840480" cy="566928"/>
          </a:xfrm>
          <a:prstGeom prst="rect">
            <a:avLst/>
          </a:prstGeom>
          <a:noFill/>
          <a:ln/>
        </p:spPr>
        <p:txBody>
          <a:bodyPr wrap="square" lIns="0" tIns="0" rIns="0" bIns="0" rtlCol="0" anchor="t"/>
          <a:lstStyle/>
          <a:p>
            <a:pPr indent="0" marL="0">
              <a:buNone/>
            </a:pPr>
            <a:r>
              <a:rPr lang="en-US" sz="1300" dirty="0">
                <a:solidFill>
                  <a:srgbClr val="5B6573"/>
                </a:solidFill>
                <a:latin typeface="Calibri" pitchFamily="34" charset="0"/>
                <a:ea typeface="Calibri" pitchFamily="34" charset="-122"/>
                <a:cs typeface="Calibri" pitchFamily="34" charset="-120"/>
              </a:rPr>
              <a:t>of today's China-India gap closed by SBS-III's 52 satellites (due 2029)</a:t>
            </a:r>
            <a:endParaRPr lang="en-US" sz="1300" dirty="0"/>
          </a:p>
        </p:txBody>
      </p:sp>
      <p:sp>
        <p:nvSpPr>
          <p:cNvPr id="9" name="Text 6"/>
          <p:cNvSpPr txBox="1"/>
          <p:nvPr/>
        </p:nvSpPr>
        <p:spPr>
          <a:xfrm>
            <a:off x="7772400" y="4572000"/>
            <a:ext cx="3840480" cy="566928"/>
          </a:xfrm>
          <a:prstGeom prst="rect">
            <a:avLst/>
          </a:prstGeom>
          <a:noFill/>
          <a:ln/>
        </p:spPr>
        <p:txBody>
          <a:bodyPr wrap="square" lIns="0" tIns="0" rIns="0" bIns="0" rtlCol="0" anchor="b"/>
          <a:lstStyle/>
          <a:p>
            <a:pPr indent="0" marL="0">
              <a:buNone/>
            </a:pPr>
            <a:r>
              <a:rPr lang="en-US" sz="3600" b="1" dirty="0">
                <a:solidFill>
                  <a:srgbClr val="0B1D3A"/>
                </a:solidFill>
                <a:latin typeface="Cambria" pitchFamily="34" charset="0"/>
                <a:ea typeface="Cambria" pitchFamily="34" charset="-122"/>
                <a:cs typeface="Cambria" pitchFamily="34" charset="-120"/>
              </a:rPr>
              <a:t>305</a:t>
            </a:r>
            <a:endParaRPr lang="en-US" sz="3600" dirty="0"/>
          </a:p>
        </p:txBody>
      </p:sp>
      <p:sp>
        <p:nvSpPr>
          <p:cNvPr id="10" name="Text 7"/>
          <p:cNvSpPr txBox="1"/>
          <p:nvPr/>
        </p:nvSpPr>
        <p:spPr>
          <a:xfrm>
            <a:off x="7772400" y="5175504"/>
            <a:ext cx="3840480" cy="566928"/>
          </a:xfrm>
          <a:prstGeom prst="rect">
            <a:avLst/>
          </a:prstGeom>
          <a:noFill/>
          <a:ln/>
        </p:spPr>
        <p:txBody>
          <a:bodyPr wrap="square" lIns="0" tIns="0" rIns="0" bIns="0" rtlCol="0" anchor="t"/>
          <a:lstStyle/>
          <a:p>
            <a:pPr indent="0" marL="0">
              <a:buNone/>
            </a:pPr>
            <a:r>
              <a:rPr lang="en-US" sz="1300" dirty="0">
                <a:solidFill>
                  <a:srgbClr val="5B6573"/>
                </a:solidFill>
                <a:latin typeface="Calibri" pitchFamily="34" charset="0"/>
                <a:ea typeface="Calibri" pitchFamily="34" charset="-122"/>
                <a:cs typeface="Calibri" pitchFamily="34" charset="-120"/>
              </a:rPr>
              <a:t>US national-security payloads launched since 2024</a:t>
            </a:r>
            <a:endParaRPr lang="en-US" sz="1300" dirty="0"/>
          </a:p>
        </p:txBody>
      </p:sp>
      <p:sp>
        <p:nvSpPr>
          <p:cNvPr id="11" name="Text 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573"/>
                </a:solidFill>
                <a:latin typeface="Calibri" pitchFamily="34" charset="0"/>
                <a:ea typeface="Calibri" pitchFamily="34" charset="-122"/>
                <a:cs typeface="Calibri" pitchFamily="34" charset="-120"/>
              </a:rPr>
              <a:t>PROJECT HIGH GROUND  ·  CDM Datathon-2026  ·  Theme 6.1</a:t>
            </a:r>
            <a:endParaRPr lang="en-US" sz="1000" dirty="0"/>
          </a:p>
        </p:txBody>
      </p:sp>
      <p:sp>
        <p:nvSpPr>
          <p:cNvPr id="12" name="Text 9"/>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573"/>
                </a:solidFill>
                <a:latin typeface="Calibri" pitchFamily="34" charset="0"/>
                <a:ea typeface="Calibri" pitchFamily="34" charset="-122"/>
                <a:cs typeface="Calibri" pitchFamily="34" charset="-120"/>
              </a:rPr>
              <a:t>8 / 17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D99A1E"/>
                </a:solidFill>
                <a:latin typeface="Calibri" pitchFamily="34" charset="0"/>
                <a:ea typeface="Calibri" pitchFamily="34" charset="-122"/>
                <a:cs typeface="Calibri" pitchFamily="34" charset="-120"/>
              </a:rPr>
              <a:t>FINDING 6 · THE NATURAL ADVERSARY</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2800" b="1" dirty="0">
                <a:solidFill>
                  <a:srgbClr val="0B1D3A"/>
                </a:solidFill>
                <a:latin typeface="Cambria" pitchFamily="34" charset="0"/>
                <a:ea typeface="Cambria" pitchFamily="34" charset="-122"/>
                <a:cs typeface="Cambria" pitchFamily="34" charset="-120"/>
              </a:rPr>
              <a:t>Storm odds rise ~7-fold when the Sun is active</a:t>
            </a:r>
            <a:endParaRPr lang="en-US" sz="2800" dirty="0"/>
          </a:p>
        </p:txBody>
      </p:sp>
      <p:graphicFrame>
        <p:nvGraphicFramePr>
          <p:cNvPr id="4" name="Chart 0" descr=""/>
          <p:cNvGraphicFramePr/>
          <p:nvPr/>
        </p:nvGraphicFramePr>
        <p:xfrm>
          <a:off x="548640" y="1554480"/>
          <a:ext cx="4572000" cy="45720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5303520" y="1554480"/>
          <a:ext cx="6309360" cy="301752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5303520" y="4754880"/>
            <a:ext cx="6309360" cy="1371600"/>
          </a:xfrm>
          <a:prstGeom prst="rect">
            <a:avLst/>
          </a:prstGeom>
          <a:noFill/>
          <a:ln/>
        </p:spPr>
        <p:txBody>
          <a:bodyPr wrap="square" lIns="0" tIns="0" rIns="0" bIns="0" rtlCol="0" anchor="ctr"/>
          <a:lstStyle/>
          <a:p>
            <a:pPr indent="0" marL="0">
              <a:spcAft>
                <a:spcPts val="400"/>
              </a:spcAft>
              <a:buNone/>
            </a:pPr>
            <a:r>
              <a:rPr lang="en-US" sz="1400" b="1" dirty="0">
                <a:solidFill>
                  <a:srgbClr val="C0392B"/>
                </a:solidFill>
                <a:latin typeface="Calibri" pitchFamily="34" charset="0"/>
                <a:ea typeface="Calibri" pitchFamily="34" charset="-122"/>
                <a:cs typeface="Calibri" pitchFamily="34" charset="-120"/>
              </a:rPr>
              <a:t>39% vs 6%</a:t>
            </a:r>
            <a:endParaRPr lang="en-US" sz="1400" dirty="0"/>
          </a:p>
          <a:p>
            <a:pPr indent="0" marL="0">
              <a:spcAft>
                <a:spcPts val="400"/>
              </a:spcAft>
              <a:buNone/>
            </a:pPr>
            <a:r>
              <a:rPr lang="en-US" sz="1400" dirty="0">
                <a:solidFill>
                  <a:srgbClr val="1B2433"/>
                </a:solidFill>
                <a:latin typeface="Calibri" pitchFamily="34" charset="0"/>
                <a:ea typeface="Calibri" pitchFamily="34" charset="-122"/>
                <a:cs typeface="Calibri" pitchFamily="34" charset="-120"/>
              </a:rPr>
              <a:t>chance of an intense storm in any 30 days, active vs quiet Sun. Storms killed 38 new Starlink satellites (Feb 2022); solar cycle 25 peaked in Oct 2024.</a:t>
            </a:r>
            <a:endParaRPr lang="en-US" sz="1400" dirty="0"/>
          </a:p>
        </p:txBody>
      </p:sp>
      <p:sp>
        <p:nvSpPr>
          <p:cNvPr id="7" name="Text 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573"/>
                </a:solidFill>
                <a:latin typeface="Calibri" pitchFamily="34" charset="0"/>
                <a:ea typeface="Calibri" pitchFamily="34" charset="-122"/>
                <a:cs typeface="Calibri" pitchFamily="34" charset="-120"/>
              </a:rPr>
              <a:t>PROJECT HIGH GROUND  ·  CDM Datathon-2026  ·  Theme 6.1</a:t>
            </a:r>
            <a:endParaRPr lang="en-US" sz="1000" dirty="0"/>
          </a:p>
        </p:txBody>
      </p:sp>
      <p:sp>
        <p:nvSpPr>
          <p:cNvPr id="8" name="Text 4"/>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573"/>
                </a:solidFill>
                <a:latin typeface="Calibri" pitchFamily="34" charset="0"/>
                <a:ea typeface="Calibri" pitchFamily="34" charset="-122"/>
                <a:cs typeface="Calibri" pitchFamily="34" charset="-120"/>
              </a:rPr>
              <a:t>9 / 17</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D99A1E"/>
                </a:solidFill>
                <a:latin typeface="Calibri" pitchFamily="34" charset="0"/>
                <a:ea typeface="Calibri" pitchFamily="34" charset="-122"/>
                <a:cs typeface="Calibri" pitchFamily="34" charset="-120"/>
              </a:rPr>
              <a:t>FINDING 7 · WHAT EYES IN ORBIT BUY</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2800" b="1" dirty="0">
                <a:solidFill>
                  <a:srgbClr val="0B1D3A"/>
                </a:solidFill>
                <a:latin typeface="Cambria" pitchFamily="34" charset="0"/>
                <a:ea typeface="Cambria" pitchFamily="34" charset="-122"/>
                <a:cs typeface="Cambria" pitchFamily="34" charset="-120"/>
              </a:rPr>
              <a:t>Two satellites saw what one would have missed</a:t>
            </a:r>
            <a:endParaRPr lang="en-US" sz="2800" dirty="0"/>
          </a:p>
        </p:txBody>
      </p:sp>
      <p:pic>
        <p:nvPicPr>
          <p:cNvPr id="4" name="Image 0" descr="f7_2_fire_map.png">    </p:cNvPr>
          <p:cNvPicPr>
            <a:picLocks noChangeAspect="1"/>
          </p:cNvPicPr>
          <p:nvPr/>
        </p:nvPicPr>
        <p:blipFill>
          <a:blip r:embed="rId1"/>
          <a:srcRect l="0" r="0" t="-4" b="-4"/>
          <a:stretch/>
        </p:blipFill>
        <p:spPr>
          <a:xfrm>
            <a:off x="548640" y="1600200"/>
            <a:ext cx="6035040" cy="2404872"/>
          </a:xfrm>
          <a:prstGeom prst="rect">
            <a:avLst/>
          </a:prstGeom>
        </p:spPr>
      </p:pic>
      <p:sp>
        <p:nvSpPr>
          <p:cNvPr id="5" name="Text 2"/>
          <p:cNvSpPr txBox="1"/>
          <p:nvPr/>
        </p:nvSpPr>
        <p:spPr>
          <a:xfrm>
            <a:off x="548640" y="4069080"/>
            <a:ext cx="6035040" cy="457200"/>
          </a:xfrm>
          <a:prstGeom prst="rect">
            <a:avLst/>
          </a:prstGeom>
          <a:noFill/>
          <a:ln/>
        </p:spPr>
        <p:txBody>
          <a:bodyPr wrap="square" lIns="0" tIns="0" rIns="0" bIns="0" rtlCol="0" anchor="ctr"/>
          <a:lstStyle/>
          <a:p>
            <a:pPr indent="0" marL="0">
              <a:buNone/>
            </a:pPr>
            <a:r>
              <a:rPr lang="en-US" sz="1100" i="1" dirty="0">
                <a:solidFill>
                  <a:srgbClr val="5B6573"/>
                </a:solidFill>
                <a:latin typeface="Calibri" pitchFamily="34" charset="0"/>
                <a:ea typeface="Calibri" pitchFamily="34" charset="-122"/>
                <a:cs typeface="Calibri" pitchFamily="34" charset="-120"/>
              </a:rPr>
              <a:t>1.25 million fire and heat detections by NASA's Terra and Aqua over the USA, 2010-2020 (CDM data)</a:t>
            </a:r>
            <a:endParaRPr lang="en-US" sz="1100" dirty="0"/>
          </a:p>
        </p:txBody>
      </p:sp>
      <p:graphicFrame>
        <p:nvGraphicFramePr>
          <p:cNvPr id="6" name="Chart 0" descr=""/>
          <p:cNvGraphicFramePr/>
          <p:nvPr/>
        </p:nvGraphicFramePr>
        <p:xfrm>
          <a:off x="6858000" y="1554480"/>
          <a:ext cx="4754880" cy="310896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548640" y="4663440"/>
            <a:ext cx="3474720" cy="566928"/>
          </a:xfrm>
          <a:prstGeom prst="rect">
            <a:avLst/>
          </a:prstGeom>
          <a:noFill/>
          <a:ln/>
        </p:spPr>
        <p:txBody>
          <a:bodyPr wrap="square" lIns="0" tIns="0" rIns="0" bIns="0" rtlCol="0" anchor="b"/>
          <a:lstStyle/>
          <a:p>
            <a:pPr indent="0" marL="0">
              <a:buNone/>
            </a:pPr>
            <a:r>
              <a:rPr lang="en-US" sz="3600" b="1" dirty="0">
                <a:solidFill>
                  <a:srgbClr val="C0392B"/>
                </a:solidFill>
                <a:latin typeface="Cambria" pitchFamily="34" charset="0"/>
                <a:ea typeface="Cambria" pitchFamily="34" charset="-122"/>
                <a:cs typeface="Cambria" pitchFamily="34" charset="-120"/>
              </a:rPr>
              <a:t>84%</a:t>
            </a:r>
            <a:endParaRPr lang="en-US" sz="3600" dirty="0"/>
          </a:p>
        </p:txBody>
      </p:sp>
      <p:sp>
        <p:nvSpPr>
          <p:cNvPr id="8" name="Text 4"/>
          <p:cNvSpPr txBox="1"/>
          <p:nvPr/>
        </p:nvSpPr>
        <p:spPr>
          <a:xfrm>
            <a:off x="548640" y="5266944"/>
            <a:ext cx="3474720" cy="566928"/>
          </a:xfrm>
          <a:prstGeom prst="rect">
            <a:avLst/>
          </a:prstGeom>
          <a:noFill/>
          <a:ln/>
        </p:spPr>
        <p:txBody>
          <a:bodyPr wrap="square" lIns="0" tIns="0" rIns="0" bIns="0" rtlCol="0" anchor="t"/>
          <a:lstStyle/>
          <a:p>
            <a:pPr indent="0" marL="0">
              <a:buNone/>
            </a:pPr>
            <a:r>
              <a:rPr lang="en-US" sz="1300" dirty="0">
                <a:solidFill>
                  <a:srgbClr val="5B6573"/>
                </a:solidFill>
                <a:latin typeface="Calibri" pitchFamily="34" charset="0"/>
                <a:ea typeface="Calibri" pitchFamily="34" charset="-122"/>
                <a:cs typeface="Calibri" pitchFamily="34" charset="-120"/>
              </a:rPr>
              <a:t>of fire-days seen by only one of the two satellites</a:t>
            </a:r>
            <a:endParaRPr lang="en-US" sz="1300" dirty="0"/>
          </a:p>
        </p:txBody>
      </p:sp>
      <p:sp>
        <p:nvSpPr>
          <p:cNvPr id="9" name="Text 5"/>
          <p:cNvSpPr txBox="1"/>
          <p:nvPr/>
        </p:nvSpPr>
        <p:spPr>
          <a:xfrm>
            <a:off x="4206240" y="4663440"/>
            <a:ext cx="3474720" cy="566928"/>
          </a:xfrm>
          <a:prstGeom prst="rect">
            <a:avLst/>
          </a:prstGeom>
          <a:noFill/>
          <a:ln/>
        </p:spPr>
        <p:txBody>
          <a:bodyPr wrap="square" lIns="0" tIns="0" rIns="0" bIns="0" rtlCol="0" anchor="b"/>
          <a:lstStyle/>
          <a:p>
            <a:pPr indent="0" marL="0">
              <a:buNone/>
            </a:pPr>
            <a:r>
              <a:rPr lang="en-US" sz="3600" b="1" dirty="0">
                <a:solidFill>
                  <a:srgbClr val="0B1D3A"/>
                </a:solidFill>
                <a:latin typeface="Cambria" pitchFamily="34" charset="0"/>
                <a:ea typeface="Cambria" pitchFamily="34" charset="-122"/>
                <a:cs typeface="Cambria" pitchFamily="34" charset="-120"/>
              </a:rPr>
              <a:t>21%</a:t>
            </a:r>
            <a:endParaRPr lang="en-US" sz="3600" dirty="0"/>
          </a:p>
        </p:txBody>
      </p:sp>
      <p:sp>
        <p:nvSpPr>
          <p:cNvPr id="10" name="Text 6"/>
          <p:cNvSpPr txBox="1"/>
          <p:nvPr/>
        </p:nvSpPr>
        <p:spPr>
          <a:xfrm>
            <a:off x="4206240" y="5266944"/>
            <a:ext cx="3474720" cy="566928"/>
          </a:xfrm>
          <a:prstGeom prst="rect">
            <a:avLst/>
          </a:prstGeom>
          <a:noFill/>
          <a:ln/>
        </p:spPr>
        <p:txBody>
          <a:bodyPr wrap="square" lIns="0" tIns="0" rIns="0" bIns="0" rtlCol="0" anchor="t"/>
          <a:lstStyle/>
          <a:p>
            <a:pPr indent="0" marL="0">
              <a:buNone/>
            </a:pPr>
            <a:r>
              <a:rPr lang="en-US" sz="1300" dirty="0">
                <a:solidFill>
                  <a:srgbClr val="5B6573"/>
                </a:solidFill>
                <a:latin typeface="Calibri" pitchFamily="34" charset="0"/>
                <a:ea typeface="Calibri" pitchFamily="34" charset="-122"/>
                <a:cs typeface="Calibri" pitchFamily="34" charset="-120"/>
              </a:rPr>
              <a:t>of detections at night: thermal sensors see in the dark</a:t>
            </a:r>
            <a:endParaRPr lang="en-US" sz="1300" dirty="0"/>
          </a:p>
        </p:txBody>
      </p:sp>
      <p:sp>
        <p:nvSpPr>
          <p:cNvPr id="11" name="Text 7"/>
          <p:cNvSpPr txBox="1"/>
          <p:nvPr/>
        </p:nvSpPr>
        <p:spPr>
          <a:xfrm>
            <a:off x="7863840" y="4663440"/>
            <a:ext cx="3749040" cy="566928"/>
          </a:xfrm>
          <a:prstGeom prst="rect">
            <a:avLst/>
          </a:prstGeom>
          <a:noFill/>
          <a:ln/>
        </p:spPr>
        <p:txBody>
          <a:bodyPr wrap="square" lIns="0" tIns="0" rIns="0" bIns="0" rtlCol="0" anchor="b"/>
          <a:lstStyle/>
          <a:p>
            <a:pPr indent="0" marL="0">
              <a:buNone/>
            </a:pPr>
            <a:r>
              <a:rPr lang="en-US" sz="3600" b="1" dirty="0">
                <a:solidFill>
                  <a:srgbClr val="0B1D3A"/>
                </a:solidFill>
                <a:latin typeface="Cambria" pitchFamily="34" charset="0"/>
                <a:ea typeface="Cambria" pitchFamily="34" charset="-122"/>
                <a:cs typeface="Cambria" pitchFamily="34" charset="-120"/>
              </a:rPr>
              <a:t>659</a:t>
            </a:r>
            <a:endParaRPr lang="en-US" sz="3600" dirty="0"/>
          </a:p>
        </p:txBody>
      </p:sp>
      <p:sp>
        <p:nvSpPr>
          <p:cNvPr id="12" name="Text 8"/>
          <p:cNvSpPr txBox="1"/>
          <p:nvPr/>
        </p:nvSpPr>
        <p:spPr>
          <a:xfrm>
            <a:off x="7863840" y="5266944"/>
            <a:ext cx="3749040" cy="566928"/>
          </a:xfrm>
          <a:prstGeom prst="rect">
            <a:avLst/>
          </a:prstGeom>
          <a:noFill/>
          <a:ln/>
        </p:spPr>
        <p:txBody>
          <a:bodyPr wrap="square" lIns="0" tIns="0" rIns="0" bIns="0" rtlCol="0" anchor="t"/>
          <a:lstStyle/>
          <a:p>
            <a:pPr indent="0" marL="0">
              <a:buNone/>
            </a:pPr>
            <a:r>
              <a:rPr lang="en-US" sz="1300" dirty="0">
                <a:solidFill>
                  <a:srgbClr val="5B6573"/>
                </a:solidFill>
                <a:latin typeface="Calibri" pitchFamily="34" charset="0"/>
                <a:ea typeface="Calibri" pitchFamily="34" charset="-122"/>
                <a:cs typeface="Calibri" pitchFamily="34" charset="-120"/>
              </a:rPr>
              <a:t>persistent industrial heat sources found (steel mills, smelters)</a:t>
            </a:r>
            <a:endParaRPr lang="en-US" sz="1300" dirty="0"/>
          </a:p>
        </p:txBody>
      </p:sp>
      <p:sp>
        <p:nvSpPr>
          <p:cNvPr id="13" name="Text 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573"/>
                </a:solidFill>
                <a:latin typeface="Calibri" pitchFamily="34" charset="0"/>
                <a:ea typeface="Calibri" pitchFamily="34" charset="-122"/>
                <a:cs typeface="Calibri" pitchFamily="34" charset="-120"/>
              </a:rPr>
              <a:t>PROJECT HIGH GROUND  ·  CDM Datathon-2026  ·  Theme 6.1</a:t>
            </a:r>
            <a:endParaRPr lang="en-US" sz="1000" dirty="0"/>
          </a:p>
        </p:txBody>
      </p:sp>
      <p:sp>
        <p:nvSpPr>
          <p:cNvPr id="14" name="Text 10"/>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573"/>
                </a:solidFill>
                <a:latin typeface="Calibri" pitchFamily="34" charset="0"/>
                <a:ea typeface="Calibri" pitchFamily="34" charset="-122"/>
                <a:cs typeface="Calibri" pitchFamily="34" charset="-120"/>
              </a:rPr>
              <a:t>10 / 17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D99A1E"/>
                </a:solidFill>
                <a:latin typeface="Calibri" pitchFamily="34" charset="0"/>
                <a:ea typeface="Calibri" pitchFamily="34" charset="-122"/>
                <a:cs typeface="Calibri" pitchFamily="34" charset="-120"/>
              </a:rPr>
              <a:t>PREDICTION · THE TRAJECTORY TO 2030</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2800" b="1" dirty="0">
                <a:solidFill>
                  <a:srgbClr val="0B1D3A"/>
                </a:solidFill>
                <a:latin typeface="Cambria" pitchFamily="34" charset="0"/>
                <a:ea typeface="Cambria" pitchFamily="34" charset="-122"/>
                <a:cs typeface="Cambria" pitchFamily="34" charset="-120"/>
              </a:rPr>
              <a:t>About 31,000 working satellites by 2030</a:t>
            </a:r>
            <a:endParaRPr lang="en-US" sz="2800" dirty="0"/>
          </a:p>
        </p:txBody>
      </p:sp>
      <p:graphicFrame>
        <p:nvGraphicFramePr>
          <p:cNvPr id="4" name="Chart 0" descr=""/>
          <p:cNvGraphicFramePr/>
          <p:nvPr/>
        </p:nvGraphicFramePr>
        <p:xfrm>
          <a:off x="548640" y="1554480"/>
          <a:ext cx="603504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766560" y="1554480"/>
          <a:ext cx="4846320" cy="3291840"/>
        </p:xfrm>
        <a:graphic xmlns:a="http://schemas.openxmlformats.org/drawingml/2006/main">
          <a:graphicData uri="http://schemas.openxmlformats.org/drawingml/2006/chart">
            <c:chart xmlns:c="http://schemas.openxmlformats.org/drawingml/2006/chart" r:id="rId2"/>
          </a:graphicData>
        </a:graphic>
      </p:graphicFrame>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4983480"/>
          <a:ext cx="11064240" cy="914400"/>
        </p:xfrm>
        <a:graphic>
          <a:graphicData uri="http://schemas.openxmlformats.org/drawingml/2006/table">
            <a:tbl>
              <a:tblPr/>
              <a:tblGrid>
                <a:gridCol w="1580606"/>
                <a:gridCol w="1580606"/>
                <a:gridCol w="1580606"/>
                <a:gridCol w="1580606"/>
                <a:gridCol w="1580606"/>
                <a:gridCol w="1580606"/>
                <a:gridCol w="1580606"/>
              </a:tblGrid>
              <a:tr h="27432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 2030</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Starlink</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Kuiper</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Guowang</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Qianfan</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Others</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r>
              <a:tr h="274320">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12,000</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1,600</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800</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800</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5,701</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20,901</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274320">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Base</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15,000</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3,236</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3,000</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3,000</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6,639</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30,875</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274320">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19,400</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3,236</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6,500</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6,500</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7,970</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43,606</a:t>
                      </a:r>
                      <a:endParaRPr lang="en-US" sz="11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7" name="Text 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573"/>
                </a:solidFill>
                <a:latin typeface="Calibri" pitchFamily="34" charset="0"/>
                <a:ea typeface="Calibri" pitchFamily="34" charset="-122"/>
                <a:cs typeface="Calibri" pitchFamily="34" charset="-120"/>
              </a:rPr>
              <a:t>PROJECT HIGH GROUND  ·  CDM Datathon-2026  ·  Theme 6.1</a:t>
            </a:r>
            <a:endParaRPr lang="en-US" sz="1000" dirty="0"/>
          </a:p>
        </p:txBody>
      </p:sp>
      <p:sp>
        <p:nvSpPr>
          <p:cNvPr id="8" name="Text 3"/>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573"/>
                </a:solidFill>
                <a:latin typeface="Calibri" pitchFamily="34" charset="0"/>
                <a:ea typeface="Calibri" pitchFamily="34" charset="-122"/>
                <a:cs typeface="Calibri" pitchFamily="34" charset="-120"/>
              </a:rPr>
              <a:t>11 / 17</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D99A1E"/>
                </a:solidFill>
                <a:latin typeface="Calibri" pitchFamily="34" charset="0"/>
                <a:ea typeface="Calibri" pitchFamily="34" charset="-122"/>
                <a:cs typeface="Calibri" pitchFamily="34" charset="-120"/>
              </a:rPr>
              <a:t>INFERENCE · HOW SURE ARE WE</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2800" b="1" dirty="0">
                <a:solidFill>
                  <a:srgbClr val="0B1D3A"/>
                </a:solidFill>
                <a:latin typeface="Cambria" pitchFamily="34" charset="0"/>
                <a:ea typeface="Cambria" pitchFamily="34" charset="-122"/>
                <a:cs typeface="Cambria" pitchFamily="34" charset="-120"/>
              </a:rPr>
              <a:t>Every finding survives an independent check</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1828800"/>
                <a:gridCol w="2926080"/>
                <a:gridCol w="4663440"/>
                <a:gridCol w="16459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Finding</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Independent check</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Verdict</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r>
              <a:tr h="0">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Growth of orbit</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15x active satellites 2014-2026</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UNOOSA registrations track catalogue launches (r = 0.997); UCS 2020 census sits on the same curve</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Confirmed</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0">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Collision risk</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index x10 since 2014</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Same result with 25 km shells and with objects' mean altitude; the densest shell holds mostly working satellites, the second band mostly debris</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Confirmed (relative index)</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0">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ISR race</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China 406 vs India 17 state ISR/military satellites</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Name-based lower bound; excluding commercial imagers the ratio stays above 20:1</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Confirmed (lower bound)</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0">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Space weather</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intense-storm odds x7 at high solar activity</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Poisson rate ratio 1.88 per +50 sunspots (p &lt; 0.001); Spearman rho -0.57</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Confirmed</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0">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Solar cycle in debris decay</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re-entry cycle of 12 years</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Found blind by periodogram; matches the ~11-year solar cycle (SILSO maxima)</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Confirmed</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0">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Forecast to 2030</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~36k payloads (statistical) vs 31k working (base scenario)</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Back-test error 8.6% over 2022-2026; two independent routes agree</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Moderate confidence</a:t>
                      </a:r>
                      <a:endParaRPr lang="en-US" sz="12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5" name="Text 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573"/>
                </a:solidFill>
                <a:latin typeface="Calibri" pitchFamily="34" charset="0"/>
                <a:ea typeface="Calibri" pitchFamily="34" charset="-122"/>
                <a:cs typeface="Calibri" pitchFamily="34" charset="-120"/>
              </a:rPr>
              <a:t>PROJECT HIGH GROUND  ·  CDM Datathon-2026  ·  Theme 6.1</a:t>
            </a:r>
            <a:endParaRPr lang="en-US" sz="1000" dirty="0"/>
          </a:p>
        </p:txBody>
      </p:sp>
      <p:sp>
        <p:nvSpPr>
          <p:cNvPr id="6" name="Text 3"/>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573"/>
                </a:solidFill>
                <a:latin typeface="Calibri" pitchFamily="34" charset="0"/>
                <a:ea typeface="Calibri" pitchFamily="34" charset="-122"/>
                <a:cs typeface="Calibri" pitchFamily="34" charset="-120"/>
              </a:rPr>
              <a:t>12 / 17</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D99A1E"/>
                </a:solidFill>
                <a:latin typeface="Calibri" pitchFamily="34" charset="0"/>
                <a:ea typeface="Calibri" pitchFamily="34" charset="-122"/>
                <a:cs typeface="Calibri" pitchFamily="34" charset="-120"/>
              </a:rPr>
              <a:t>IMPACT · INDIA AND THE ARMED FORCES</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2800" b="1" dirty="0">
                <a:solidFill>
                  <a:srgbClr val="0B1D3A"/>
                </a:solidFill>
                <a:latin typeface="Cambria" pitchFamily="34" charset="0"/>
                <a:ea typeface="Cambria" pitchFamily="34" charset="-122"/>
                <a:cs typeface="Cambria" pitchFamily="34" charset="-120"/>
              </a:rPr>
              <a:t>India depends on space, but holds less of it</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669280" cy="914400"/>
        </p:xfrm>
        <a:graphic>
          <a:graphicData uri="http://schemas.openxmlformats.org/drawingml/2006/table">
            <a:tbl>
              <a:tblPr/>
              <a:tblGrid>
                <a:gridCol w="3200400"/>
                <a:gridCol w="822960"/>
                <a:gridCol w="822960"/>
                <a:gridCol w="822960"/>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Measure</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India</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China</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USA</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r>
              <a:tr h="411480">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Active satellites, Sep 2026</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78</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1,531</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12,959</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11480">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Active satellites, Jan 2014 (CDM)</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117</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502</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11480">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Military / state-ISR satellites operational</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406</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542</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11480">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Orbital launches in 2025</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89</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172</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11480">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GEO satellites in the 40-110 E arc (2020)</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5" name="Shape 2"/>
          <p:cNvSpPr/>
          <p:nvPr/>
        </p:nvSpPr>
        <p:spPr>
          <a:xfrm>
            <a:off x="6583680" y="1645920"/>
            <a:ext cx="548640" cy="548640"/>
          </a:xfrm>
          <a:prstGeom prst="ellipse">
            <a:avLst/>
          </a:prstGeom>
          <a:solidFill>
            <a:srgbClr val="0B1D3A"/>
          </a:solidFill>
          <a:ln w="12700">
            <a:solidFill>
              <a:srgbClr val="0B1D3A"/>
            </a:solidFill>
            <a:prstDash val="solid"/>
          </a:ln>
        </p:spPr>
      </p:sp>
      <p:pic>
        <p:nvPicPr>
          <p:cNvPr id="6" name="Image 0" descr="preencoded.png">    </p:cNvPr>
          <p:cNvPicPr>
            <a:picLocks noChangeAspect="1"/>
          </p:cNvPicPr>
          <p:nvPr/>
        </p:nvPicPr>
        <p:blipFill>
          <a:blip r:embed="rId1"/>
          <a:stretch>
            <a:fillRect/>
          </a:stretch>
        </p:blipFill>
        <p:spPr>
          <a:xfrm>
            <a:off x="6704381" y="1766621"/>
            <a:ext cx="307238" cy="307238"/>
          </a:xfrm>
          <a:prstGeom prst="rect">
            <a:avLst/>
          </a:prstGeom>
        </p:spPr>
      </p:pic>
      <p:sp>
        <p:nvSpPr>
          <p:cNvPr id="7" name="Text 3"/>
          <p:cNvSpPr txBox="1"/>
          <p:nvPr/>
        </p:nvSpPr>
        <p:spPr>
          <a:xfrm>
            <a:off x="7269480" y="1645920"/>
            <a:ext cx="4297680" cy="320040"/>
          </a:xfrm>
          <a:prstGeom prst="rect">
            <a:avLst/>
          </a:prstGeom>
          <a:noFill/>
          <a:ln/>
        </p:spPr>
        <p:txBody>
          <a:bodyPr wrap="square" lIns="0" tIns="0" rIns="0" bIns="0" rtlCol="0" anchor="ctr"/>
          <a:lstStyle/>
          <a:p>
            <a:pPr indent="0" marL="0">
              <a:buNone/>
            </a:pPr>
            <a:r>
              <a:rPr lang="en-US" sz="1500" b="1" dirty="0">
                <a:solidFill>
                  <a:srgbClr val="0B1D3A"/>
                </a:solidFill>
                <a:latin typeface="Calibri" pitchFamily="34" charset="0"/>
                <a:ea typeface="Calibri" pitchFamily="34" charset="-122"/>
                <a:cs typeface="Calibri" pitchFamily="34" charset="-120"/>
              </a:rPr>
              <a:t>Navy</a:t>
            </a:r>
            <a:endParaRPr lang="en-US" sz="1500" dirty="0"/>
          </a:p>
        </p:txBody>
      </p:sp>
      <p:sp>
        <p:nvSpPr>
          <p:cNvPr id="8" name="Text 4"/>
          <p:cNvSpPr txBox="1"/>
          <p:nvPr/>
        </p:nvSpPr>
        <p:spPr>
          <a:xfrm>
            <a:off x="7269480" y="1975104"/>
            <a:ext cx="4297680" cy="640080"/>
          </a:xfrm>
          <a:prstGeom prst="rect">
            <a:avLst/>
          </a:prstGeom>
          <a:noFill/>
          <a:ln/>
        </p:spPr>
        <p:txBody>
          <a:bodyPr wrap="square" lIns="0" tIns="0" rIns="0" bIns="0" rtlCol="0" anchor="t"/>
          <a:lstStyle/>
          <a:p>
            <a:pPr indent="0" marL="0">
              <a:buNone/>
            </a:pPr>
            <a:r>
              <a:rPr lang="en-US" sz="1250" dirty="0">
                <a:solidFill>
                  <a:srgbClr val="1B2433"/>
                </a:solidFill>
                <a:latin typeface="Calibri" pitchFamily="34" charset="0"/>
                <a:ea typeface="Calibri" pitchFamily="34" charset="-122"/>
                <a:cs typeface="Calibri" pitchFamily="34" charset="-120"/>
              </a:rPr>
              <a:t>Ocean surveillance rests on radar and AIS satellites; assume carrier groups are tracked.</a:t>
            </a:r>
            <a:endParaRPr lang="en-US" sz="1250" dirty="0"/>
          </a:p>
        </p:txBody>
      </p:sp>
      <p:sp>
        <p:nvSpPr>
          <p:cNvPr id="9" name="Shape 5"/>
          <p:cNvSpPr/>
          <p:nvPr/>
        </p:nvSpPr>
        <p:spPr>
          <a:xfrm>
            <a:off x="6583680" y="2743200"/>
            <a:ext cx="548640" cy="548640"/>
          </a:xfrm>
          <a:prstGeom prst="ellipse">
            <a:avLst/>
          </a:prstGeom>
          <a:solidFill>
            <a:srgbClr val="2F5D8C"/>
          </a:solidFill>
          <a:ln w="12700">
            <a:solidFill>
              <a:srgbClr val="2F5D8C"/>
            </a:solidFill>
            <a:prstDash val="solid"/>
          </a:ln>
        </p:spPr>
      </p:sp>
      <p:pic>
        <p:nvPicPr>
          <p:cNvPr id="10" name="Image 1" descr="preencoded.png">    </p:cNvPr>
          <p:cNvPicPr>
            <a:picLocks noChangeAspect="1"/>
          </p:cNvPicPr>
          <p:nvPr/>
        </p:nvPicPr>
        <p:blipFill>
          <a:blip r:embed="rId2"/>
          <a:stretch>
            <a:fillRect/>
          </a:stretch>
        </p:blipFill>
        <p:spPr>
          <a:xfrm>
            <a:off x="6704381" y="2863901"/>
            <a:ext cx="307238" cy="307238"/>
          </a:xfrm>
          <a:prstGeom prst="rect">
            <a:avLst/>
          </a:prstGeom>
        </p:spPr>
      </p:pic>
      <p:sp>
        <p:nvSpPr>
          <p:cNvPr id="11" name="Text 6"/>
          <p:cNvSpPr txBox="1"/>
          <p:nvPr/>
        </p:nvSpPr>
        <p:spPr>
          <a:xfrm>
            <a:off x="7269480" y="2743200"/>
            <a:ext cx="4297680" cy="320040"/>
          </a:xfrm>
          <a:prstGeom prst="rect">
            <a:avLst/>
          </a:prstGeom>
          <a:noFill/>
          <a:ln/>
        </p:spPr>
        <p:txBody>
          <a:bodyPr wrap="square" lIns="0" tIns="0" rIns="0" bIns="0" rtlCol="0" anchor="ctr"/>
          <a:lstStyle/>
          <a:p>
            <a:pPr indent="0" marL="0">
              <a:buNone/>
            </a:pPr>
            <a:r>
              <a:rPr lang="en-US" sz="1500" b="1" dirty="0">
                <a:solidFill>
                  <a:srgbClr val="0B1D3A"/>
                </a:solidFill>
                <a:latin typeface="Calibri" pitchFamily="34" charset="0"/>
                <a:ea typeface="Calibri" pitchFamily="34" charset="-122"/>
                <a:cs typeface="Calibri" pitchFamily="34" charset="-120"/>
              </a:rPr>
              <a:t>Air Force</a:t>
            </a:r>
            <a:endParaRPr lang="en-US" sz="1500" dirty="0"/>
          </a:p>
        </p:txBody>
      </p:sp>
      <p:sp>
        <p:nvSpPr>
          <p:cNvPr id="12" name="Text 7"/>
          <p:cNvSpPr txBox="1"/>
          <p:nvPr/>
        </p:nvSpPr>
        <p:spPr>
          <a:xfrm>
            <a:off x="7269480" y="3072384"/>
            <a:ext cx="4297680" cy="640080"/>
          </a:xfrm>
          <a:prstGeom prst="rect">
            <a:avLst/>
          </a:prstGeom>
          <a:noFill/>
          <a:ln/>
        </p:spPr>
        <p:txBody>
          <a:bodyPr wrap="square" lIns="0" tIns="0" rIns="0" bIns="0" rtlCol="0" anchor="t"/>
          <a:lstStyle/>
          <a:p>
            <a:pPr indent="0" marL="0">
              <a:buNone/>
            </a:pPr>
            <a:r>
              <a:rPr lang="en-US" sz="1250" dirty="0">
                <a:solidFill>
                  <a:srgbClr val="1B2433"/>
                </a:solidFill>
                <a:latin typeface="Calibri" pitchFamily="34" charset="0"/>
                <a:ea typeface="Calibri" pitchFamily="34" charset="-122"/>
                <a:cs typeface="Calibri" pitchFamily="34" charset="-120"/>
              </a:rPr>
              <a:t>Precision strike needs NavIC and fresh imagery; storms degrade GNSS and HF.</a:t>
            </a:r>
            <a:endParaRPr lang="en-US" sz="1250" dirty="0"/>
          </a:p>
        </p:txBody>
      </p:sp>
      <p:sp>
        <p:nvSpPr>
          <p:cNvPr id="13" name="Shape 8"/>
          <p:cNvSpPr/>
          <p:nvPr/>
        </p:nvSpPr>
        <p:spPr>
          <a:xfrm>
            <a:off x="6583680" y="3840480"/>
            <a:ext cx="548640" cy="548640"/>
          </a:xfrm>
          <a:prstGeom prst="ellipse">
            <a:avLst/>
          </a:prstGeom>
          <a:solidFill>
            <a:srgbClr val="7B3B2E"/>
          </a:solidFill>
          <a:ln w="12700">
            <a:solidFill>
              <a:srgbClr val="7B3B2E"/>
            </a:solidFill>
            <a:prstDash val="solid"/>
          </a:ln>
        </p:spPr>
      </p:sp>
      <p:pic>
        <p:nvPicPr>
          <p:cNvPr id="14" name="Image 2" descr="preencoded.png">    </p:cNvPr>
          <p:cNvPicPr>
            <a:picLocks noChangeAspect="1"/>
          </p:cNvPicPr>
          <p:nvPr/>
        </p:nvPicPr>
        <p:blipFill>
          <a:blip r:embed="rId3"/>
          <a:stretch>
            <a:fillRect/>
          </a:stretch>
        </p:blipFill>
        <p:spPr>
          <a:xfrm>
            <a:off x="6704381" y="3961181"/>
            <a:ext cx="307238" cy="307238"/>
          </a:xfrm>
          <a:prstGeom prst="rect">
            <a:avLst/>
          </a:prstGeom>
        </p:spPr>
      </p:pic>
      <p:sp>
        <p:nvSpPr>
          <p:cNvPr id="15" name="Text 9"/>
          <p:cNvSpPr txBox="1"/>
          <p:nvPr/>
        </p:nvSpPr>
        <p:spPr>
          <a:xfrm>
            <a:off x="7269480" y="3840480"/>
            <a:ext cx="4297680" cy="320040"/>
          </a:xfrm>
          <a:prstGeom prst="rect">
            <a:avLst/>
          </a:prstGeom>
          <a:noFill/>
          <a:ln/>
        </p:spPr>
        <p:txBody>
          <a:bodyPr wrap="square" lIns="0" tIns="0" rIns="0" bIns="0" rtlCol="0" anchor="ctr"/>
          <a:lstStyle/>
          <a:p>
            <a:pPr indent="0" marL="0">
              <a:buNone/>
            </a:pPr>
            <a:r>
              <a:rPr lang="en-US" sz="1500" b="1" dirty="0">
                <a:solidFill>
                  <a:srgbClr val="0B1D3A"/>
                </a:solidFill>
                <a:latin typeface="Calibri" pitchFamily="34" charset="0"/>
                <a:ea typeface="Calibri" pitchFamily="34" charset="-122"/>
                <a:cs typeface="Calibri" pitchFamily="34" charset="-120"/>
              </a:rPr>
              <a:t>Army</a:t>
            </a:r>
            <a:endParaRPr lang="en-US" sz="1500" dirty="0"/>
          </a:p>
        </p:txBody>
      </p:sp>
      <p:sp>
        <p:nvSpPr>
          <p:cNvPr id="16" name="Text 10"/>
          <p:cNvSpPr txBox="1"/>
          <p:nvPr/>
        </p:nvSpPr>
        <p:spPr>
          <a:xfrm>
            <a:off x="7269480" y="4169664"/>
            <a:ext cx="4297680" cy="640080"/>
          </a:xfrm>
          <a:prstGeom prst="rect">
            <a:avLst/>
          </a:prstGeom>
          <a:noFill/>
          <a:ln/>
        </p:spPr>
        <p:txBody>
          <a:bodyPr wrap="square" lIns="0" tIns="0" rIns="0" bIns="0" rtlCol="0" anchor="t"/>
          <a:lstStyle/>
          <a:p>
            <a:pPr indent="0" marL="0">
              <a:buNone/>
            </a:pPr>
            <a:r>
              <a:rPr lang="en-US" sz="1250" dirty="0">
                <a:solidFill>
                  <a:srgbClr val="1B2433"/>
                </a:solidFill>
                <a:latin typeface="Calibri" pitchFamily="34" charset="0"/>
                <a:ea typeface="Calibri" pitchFamily="34" charset="-122"/>
                <a:cs typeface="Calibri" pitchFamily="34" charset="-120"/>
              </a:rPr>
              <a:t>Northern border under persistent ISR (406 Chinese satellites): concealment and deception.</a:t>
            </a:r>
            <a:endParaRPr lang="en-US" sz="1250" dirty="0"/>
          </a:p>
        </p:txBody>
      </p:sp>
      <p:sp>
        <p:nvSpPr>
          <p:cNvPr id="17" name="Shape 11"/>
          <p:cNvSpPr/>
          <p:nvPr/>
        </p:nvSpPr>
        <p:spPr>
          <a:xfrm>
            <a:off x="6583680" y="4937760"/>
            <a:ext cx="548640" cy="548640"/>
          </a:xfrm>
          <a:prstGeom prst="ellipse">
            <a:avLst/>
          </a:prstGeom>
          <a:solidFill>
            <a:srgbClr val="D99A1E"/>
          </a:solidFill>
          <a:ln w="12700">
            <a:solidFill>
              <a:srgbClr val="D99A1E"/>
            </a:solidFill>
            <a:prstDash val="solid"/>
          </a:ln>
        </p:spPr>
      </p:sp>
      <p:pic>
        <p:nvPicPr>
          <p:cNvPr id="18" name="Image 3" descr="preencoded.png">    </p:cNvPr>
          <p:cNvPicPr>
            <a:picLocks noChangeAspect="1"/>
          </p:cNvPicPr>
          <p:nvPr/>
        </p:nvPicPr>
        <p:blipFill>
          <a:blip r:embed="rId4"/>
          <a:stretch>
            <a:fillRect/>
          </a:stretch>
        </p:blipFill>
        <p:spPr>
          <a:xfrm>
            <a:off x="6704381" y="5058461"/>
            <a:ext cx="307238" cy="307238"/>
          </a:xfrm>
          <a:prstGeom prst="rect">
            <a:avLst/>
          </a:prstGeom>
        </p:spPr>
      </p:pic>
      <p:sp>
        <p:nvSpPr>
          <p:cNvPr id="19" name="Text 12"/>
          <p:cNvSpPr txBox="1"/>
          <p:nvPr/>
        </p:nvSpPr>
        <p:spPr>
          <a:xfrm>
            <a:off x="7269480" y="4937760"/>
            <a:ext cx="4297680" cy="320040"/>
          </a:xfrm>
          <a:prstGeom prst="rect">
            <a:avLst/>
          </a:prstGeom>
          <a:noFill/>
          <a:ln/>
        </p:spPr>
        <p:txBody>
          <a:bodyPr wrap="square" lIns="0" tIns="0" rIns="0" bIns="0" rtlCol="0" anchor="ctr"/>
          <a:lstStyle/>
          <a:p>
            <a:pPr indent="0" marL="0">
              <a:buNone/>
            </a:pPr>
            <a:r>
              <a:rPr lang="en-US" sz="1500" b="1" dirty="0">
                <a:solidFill>
                  <a:srgbClr val="0B1D3A"/>
                </a:solidFill>
                <a:latin typeface="Calibri" pitchFamily="34" charset="0"/>
                <a:ea typeface="Calibri" pitchFamily="34" charset="-122"/>
                <a:cs typeface="Calibri" pitchFamily="34" charset="-120"/>
              </a:rPr>
              <a:t>Joint / DSA</a:t>
            </a:r>
            <a:endParaRPr lang="en-US" sz="1500" dirty="0"/>
          </a:p>
        </p:txBody>
      </p:sp>
      <p:sp>
        <p:nvSpPr>
          <p:cNvPr id="20" name="Text 13"/>
          <p:cNvSpPr txBox="1"/>
          <p:nvPr/>
        </p:nvSpPr>
        <p:spPr>
          <a:xfrm>
            <a:off x="7269480" y="5266944"/>
            <a:ext cx="4297680" cy="640080"/>
          </a:xfrm>
          <a:prstGeom prst="rect">
            <a:avLst/>
          </a:prstGeom>
          <a:noFill/>
          <a:ln/>
        </p:spPr>
        <p:txBody>
          <a:bodyPr wrap="square" lIns="0" tIns="0" rIns="0" bIns="0" rtlCol="0" anchor="t"/>
          <a:lstStyle/>
          <a:p>
            <a:pPr indent="0" marL="0">
              <a:buNone/>
            </a:pPr>
            <a:r>
              <a:rPr lang="en-US" sz="1250" dirty="0">
                <a:solidFill>
                  <a:srgbClr val="1B2433"/>
                </a:solidFill>
                <a:latin typeface="Calibri" pitchFamily="34" charset="0"/>
                <a:ea typeface="Calibri" pitchFamily="34" charset="-122"/>
                <a:cs typeface="Calibri" pitchFamily="34" charset="-120"/>
              </a:rPr>
              <a:t>ORBITWATCH, SBS-III at pace, manoeuvrable storm-hardened satellites.</a:t>
            </a:r>
            <a:endParaRPr lang="en-US" sz="1250" dirty="0"/>
          </a:p>
        </p:txBody>
      </p:sp>
      <p:sp>
        <p:nvSpPr>
          <p:cNvPr id="21" name="Text 14"/>
          <p:cNvSpPr txBox="1"/>
          <p:nvPr/>
        </p:nvSpPr>
        <p:spPr>
          <a:xfrm>
            <a:off x="548640" y="4572000"/>
            <a:ext cx="5669280" cy="822960"/>
          </a:xfrm>
          <a:prstGeom prst="rect">
            <a:avLst/>
          </a:prstGeom>
          <a:noFill/>
          <a:ln/>
        </p:spPr>
        <p:txBody>
          <a:bodyPr wrap="square" lIns="0" tIns="0" rIns="0" bIns="0" rtlCol="0" anchor="ctr"/>
          <a:lstStyle/>
          <a:p>
            <a:pPr indent="0" marL="0">
              <a:buNone/>
            </a:pPr>
            <a:r>
              <a:rPr lang="en-US" sz="1400" dirty="0">
                <a:solidFill>
                  <a:srgbClr val="1B2433"/>
                </a:solidFill>
                <a:latin typeface="Calibri" pitchFamily="34" charset="0"/>
                <a:ea typeface="Calibri" pitchFamily="34" charset="-122"/>
                <a:cs typeface="Calibri" pitchFamily="34" charset="-120"/>
              </a:rPr>
              <a:t>Access to space is the bottleneck: China averaged about 16 times India's launch rate over 2021-25.</a:t>
            </a:r>
            <a:endParaRPr lang="en-US" sz="1400" dirty="0"/>
          </a:p>
        </p:txBody>
      </p:sp>
      <p:sp>
        <p:nvSpPr>
          <p:cNvPr id="22" name="Text 1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573"/>
                </a:solidFill>
                <a:latin typeface="Calibri" pitchFamily="34" charset="0"/>
                <a:ea typeface="Calibri" pitchFamily="34" charset="-122"/>
                <a:cs typeface="Calibri" pitchFamily="34" charset="-120"/>
              </a:rPr>
              <a:t>PROJECT HIGH GROUND  ·  CDM Datathon-2026  ·  Theme 6.1</a:t>
            </a:r>
            <a:endParaRPr lang="en-US" sz="1000" dirty="0"/>
          </a:p>
        </p:txBody>
      </p:sp>
      <p:sp>
        <p:nvSpPr>
          <p:cNvPr id="23" name="Text 16"/>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573"/>
                </a:solidFill>
                <a:latin typeface="Calibri" pitchFamily="34" charset="0"/>
                <a:ea typeface="Calibri" pitchFamily="34" charset="-122"/>
                <a:cs typeface="Calibri" pitchFamily="34" charset="-120"/>
              </a:rPr>
              <a:t>13 / 17</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D99A1E"/>
                </a:solidFill>
                <a:latin typeface="Calibri" pitchFamily="34" charset="0"/>
                <a:ea typeface="Calibri" pitchFamily="34" charset="-122"/>
                <a:cs typeface="Calibri" pitchFamily="34" charset="-120"/>
              </a:rPr>
              <a:t>WARNING · ORBITWATCH</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2800" b="1" dirty="0">
                <a:solidFill>
                  <a:srgbClr val="0B1D3A"/>
                </a:solidFill>
                <a:latin typeface="Cambria" pitchFamily="34" charset="0"/>
                <a:ea typeface="Cambria" pitchFamily="34" charset="-122"/>
                <a:cs typeface="Cambria" pitchFamily="34" charset="-120"/>
              </a:rPr>
              <a:t>Seven indicators: 6 Red, 1 Amber (Sep 2026)</a:t>
            </a:r>
            <a:endParaRPr lang="en-US" sz="2800" dirty="0"/>
          </a:p>
        </p:txBody>
      </p:sp>
      <p:sp>
        <p:nvSpPr>
          <p:cNvPr id="4" name="Shape 2"/>
          <p:cNvSpPr/>
          <p:nvPr/>
        </p:nvSpPr>
        <p:spPr>
          <a:xfrm>
            <a:off x="548640" y="1691640"/>
            <a:ext cx="2606040" cy="2011680"/>
          </a:xfrm>
          <a:prstGeom prst="roundRect">
            <a:avLst>
              <a:gd name="adj" fmla="val 3636"/>
            </a:avLst>
          </a:prstGeom>
          <a:solidFill>
            <a:srgbClr val="EEF2F7"/>
          </a:solidFill>
          <a:ln w="12700">
            <a:solidFill>
              <a:srgbClr val="EEF2F7"/>
            </a:solidFill>
            <a:prstDash val="solid"/>
          </a:ln>
        </p:spPr>
      </p:sp>
      <p:sp>
        <p:nvSpPr>
          <p:cNvPr id="5" name="Shape 3"/>
          <p:cNvSpPr/>
          <p:nvPr/>
        </p:nvSpPr>
        <p:spPr>
          <a:xfrm>
            <a:off x="731520" y="1892808"/>
            <a:ext cx="274320" cy="274320"/>
          </a:xfrm>
          <a:prstGeom prst="ellipse">
            <a:avLst/>
          </a:prstGeom>
          <a:solidFill>
            <a:srgbClr val="C0392B"/>
          </a:solidFill>
          <a:ln w="12700">
            <a:solidFill>
              <a:srgbClr val="C0392B"/>
            </a:solidFill>
            <a:prstDash val="solid"/>
          </a:ln>
        </p:spPr>
      </p:sp>
      <p:sp>
        <p:nvSpPr>
          <p:cNvPr id="6" name="Text 4"/>
          <p:cNvSpPr txBox="1"/>
          <p:nvPr/>
        </p:nvSpPr>
        <p:spPr>
          <a:xfrm>
            <a:off x="1097280" y="1874520"/>
            <a:ext cx="1828800" cy="320040"/>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RED</a:t>
            </a:r>
            <a:endParaRPr lang="en-US" sz="1200" dirty="0"/>
          </a:p>
        </p:txBody>
      </p:sp>
      <p:sp>
        <p:nvSpPr>
          <p:cNvPr id="7" name="Text 5"/>
          <p:cNvSpPr txBox="1"/>
          <p:nvPr/>
        </p:nvSpPr>
        <p:spPr>
          <a:xfrm>
            <a:off x="731520" y="2258568"/>
            <a:ext cx="2286000" cy="502920"/>
          </a:xfrm>
          <a:prstGeom prst="rect">
            <a:avLst/>
          </a:prstGeom>
          <a:noFill/>
          <a:ln/>
        </p:spPr>
        <p:txBody>
          <a:bodyPr wrap="square" lIns="0" tIns="0" rIns="0" bIns="0" rtlCol="0" anchor="ctr"/>
          <a:lstStyle/>
          <a:p>
            <a:pPr indent="0" marL="0">
              <a:buNone/>
            </a:pPr>
            <a:r>
              <a:rPr lang="en-US" sz="2400" b="1" dirty="0">
                <a:solidFill>
                  <a:srgbClr val="C0392B"/>
                </a:solidFill>
                <a:latin typeface="Cambria" pitchFamily="34" charset="0"/>
                <a:ea typeface="Cambria" pitchFamily="34" charset="-122"/>
                <a:cs typeface="Cambria" pitchFamily="34" charset="-120"/>
              </a:rPr>
              <a:t>x10</a:t>
            </a:r>
            <a:endParaRPr lang="en-US" sz="2400" dirty="0"/>
          </a:p>
        </p:txBody>
      </p:sp>
      <p:sp>
        <p:nvSpPr>
          <p:cNvPr id="8" name="Text 6"/>
          <p:cNvSpPr txBox="1"/>
          <p:nvPr/>
        </p:nvSpPr>
        <p:spPr>
          <a:xfrm>
            <a:off x="731520" y="2788920"/>
            <a:ext cx="2286000" cy="822960"/>
          </a:xfrm>
          <a:prstGeom prst="rect">
            <a:avLst/>
          </a:prstGeom>
          <a:noFill/>
          <a:ln/>
        </p:spPr>
        <p:txBody>
          <a:bodyPr wrap="square" lIns="0" tIns="0" rIns="0" bIns="0" rtlCol="0" anchor="t"/>
          <a:lstStyle/>
          <a:p>
            <a:pPr indent="0" marL="0">
              <a:buNone/>
            </a:pPr>
            <a:r>
              <a:rPr lang="en-US" sz="1100" dirty="0">
                <a:solidFill>
                  <a:srgbClr val="1B2433"/>
                </a:solidFill>
                <a:latin typeface="Calibri" pitchFamily="34" charset="0"/>
                <a:ea typeface="Calibri" pitchFamily="34" charset="-122"/>
                <a:cs typeface="Calibri" pitchFamily="34" charset="-120"/>
              </a:rPr>
              <a:t>Collision-risk index, LEO (2014 = 1)</a:t>
            </a:r>
            <a:endParaRPr lang="en-US" sz="1100" dirty="0"/>
          </a:p>
        </p:txBody>
      </p:sp>
      <p:sp>
        <p:nvSpPr>
          <p:cNvPr id="9" name="Shape 7"/>
          <p:cNvSpPr/>
          <p:nvPr/>
        </p:nvSpPr>
        <p:spPr>
          <a:xfrm>
            <a:off x="3337560" y="1691640"/>
            <a:ext cx="2606040" cy="2011680"/>
          </a:xfrm>
          <a:prstGeom prst="roundRect">
            <a:avLst>
              <a:gd name="adj" fmla="val 3636"/>
            </a:avLst>
          </a:prstGeom>
          <a:solidFill>
            <a:srgbClr val="EEF2F7"/>
          </a:solidFill>
          <a:ln w="12700">
            <a:solidFill>
              <a:srgbClr val="EEF2F7"/>
            </a:solidFill>
            <a:prstDash val="solid"/>
          </a:ln>
        </p:spPr>
      </p:sp>
      <p:sp>
        <p:nvSpPr>
          <p:cNvPr id="10" name="Shape 8"/>
          <p:cNvSpPr/>
          <p:nvPr/>
        </p:nvSpPr>
        <p:spPr>
          <a:xfrm>
            <a:off x="3520440" y="1892808"/>
            <a:ext cx="274320" cy="274320"/>
          </a:xfrm>
          <a:prstGeom prst="ellipse">
            <a:avLst/>
          </a:prstGeom>
          <a:solidFill>
            <a:srgbClr val="C0392B"/>
          </a:solidFill>
          <a:ln w="12700">
            <a:solidFill>
              <a:srgbClr val="C0392B"/>
            </a:solidFill>
            <a:prstDash val="solid"/>
          </a:ln>
        </p:spPr>
      </p:sp>
      <p:sp>
        <p:nvSpPr>
          <p:cNvPr id="11" name="Text 9"/>
          <p:cNvSpPr txBox="1"/>
          <p:nvPr/>
        </p:nvSpPr>
        <p:spPr>
          <a:xfrm>
            <a:off x="3886200" y="1874520"/>
            <a:ext cx="1828800" cy="320040"/>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RED</a:t>
            </a:r>
            <a:endParaRPr lang="en-US" sz="1200" dirty="0"/>
          </a:p>
        </p:txBody>
      </p:sp>
      <p:sp>
        <p:nvSpPr>
          <p:cNvPr id="12" name="Text 10"/>
          <p:cNvSpPr txBox="1"/>
          <p:nvPr/>
        </p:nvSpPr>
        <p:spPr>
          <a:xfrm>
            <a:off x="3520440" y="2258568"/>
            <a:ext cx="2286000" cy="502920"/>
          </a:xfrm>
          <a:prstGeom prst="rect">
            <a:avLst/>
          </a:prstGeom>
          <a:noFill/>
          <a:ln/>
        </p:spPr>
        <p:txBody>
          <a:bodyPr wrap="square" lIns="0" tIns="0" rIns="0" bIns="0" rtlCol="0" anchor="ctr"/>
          <a:lstStyle/>
          <a:p>
            <a:pPr indent="0" marL="0">
              <a:buNone/>
            </a:pPr>
            <a:r>
              <a:rPr lang="en-US" sz="2400" b="1" dirty="0">
                <a:solidFill>
                  <a:srgbClr val="C0392B"/>
                </a:solidFill>
                <a:latin typeface="Cambria" pitchFamily="34" charset="0"/>
                <a:ea typeface="Cambria" pitchFamily="34" charset="-122"/>
                <a:cs typeface="Cambria" pitchFamily="34" charset="-120"/>
              </a:rPr>
              <a:t>24%</a:t>
            </a:r>
            <a:endParaRPr lang="en-US" sz="2400" dirty="0"/>
          </a:p>
        </p:txBody>
      </p:sp>
      <p:sp>
        <p:nvSpPr>
          <p:cNvPr id="13" name="Text 11"/>
          <p:cNvSpPr txBox="1"/>
          <p:nvPr/>
        </p:nvSpPr>
        <p:spPr>
          <a:xfrm>
            <a:off x="3520440" y="2788920"/>
            <a:ext cx="2286000" cy="822960"/>
          </a:xfrm>
          <a:prstGeom prst="rect">
            <a:avLst/>
          </a:prstGeom>
          <a:noFill/>
          <a:ln/>
        </p:spPr>
        <p:txBody>
          <a:bodyPr wrap="square" lIns="0" tIns="0" rIns="0" bIns="0" rtlCol="0" anchor="t"/>
          <a:lstStyle/>
          <a:p>
            <a:pPr indent="0" marL="0">
              <a:buNone/>
            </a:pPr>
            <a:r>
              <a:rPr lang="en-US" sz="1100" dirty="0">
                <a:solidFill>
                  <a:srgbClr val="1B2433"/>
                </a:solidFill>
                <a:latin typeface="Calibri" pitchFamily="34" charset="0"/>
                <a:ea typeface="Calibri" pitchFamily="34" charset="-122"/>
                <a:cs typeface="Calibri" pitchFamily="34" charset="-120"/>
              </a:rPr>
              <a:t>Payloads in orbit, growth per year</a:t>
            </a:r>
            <a:endParaRPr lang="en-US" sz="1100" dirty="0"/>
          </a:p>
        </p:txBody>
      </p:sp>
      <p:sp>
        <p:nvSpPr>
          <p:cNvPr id="14" name="Shape 12"/>
          <p:cNvSpPr/>
          <p:nvPr/>
        </p:nvSpPr>
        <p:spPr>
          <a:xfrm>
            <a:off x="6126480" y="1691640"/>
            <a:ext cx="2606040" cy="2011680"/>
          </a:xfrm>
          <a:prstGeom prst="roundRect">
            <a:avLst>
              <a:gd name="adj" fmla="val 3636"/>
            </a:avLst>
          </a:prstGeom>
          <a:solidFill>
            <a:srgbClr val="EEF2F7"/>
          </a:solidFill>
          <a:ln w="12700">
            <a:solidFill>
              <a:srgbClr val="EEF2F7"/>
            </a:solidFill>
            <a:prstDash val="solid"/>
          </a:ln>
        </p:spPr>
      </p:sp>
      <p:sp>
        <p:nvSpPr>
          <p:cNvPr id="15" name="Shape 13"/>
          <p:cNvSpPr/>
          <p:nvPr/>
        </p:nvSpPr>
        <p:spPr>
          <a:xfrm>
            <a:off x="6309360" y="1892808"/>
            <a:ext cx="274320" cy="274320"/>
          </a:xfrm>
          <a:prstGeom prst="ellipse">
            <a:avLst/>
          </a:prstGeom>
          <a:solidFill>
            <a:srgbClr val="C0392B"/>
          </a:solidFill>
          <a:ln w="12700">
            <a:solidFill>
              <a:srgbClr val="C0392B"/>
            </a:solidFill>
            <a:prstDash val="solid"/>
          </a:ln>
        </p:spPr>
      </p:sp>
      <p:sp>
        <p:nvSpPr>
          <p:cNvPr id="16" name="Text 14"/>
          <p:cNvSpPr txBox="1"/>
          <p:nvPr/>
        </p:nvSpPr>
        <p:spPr>
          <a:xfrm>
            <a:off x="6675120" y="1874520"/>
            <a:ext cx="1828800" cy="320040"/>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RED</a:t>
            </a:r>
            <a:endParaRPr lang="en-US" sz="1200" dirty="0"/>
          </a:p>
        </p:txBody>
      </p:sp>
      <p:sp>
        <p:nvSpPr>
          <p:cNvPr id="17" name="Text 15"/>
          <p:cNvSpPr txBox="1"/>
          <p:nvPr/>
        </p:nvSpPr>
        <p:spPr>
          <a:xfrm>
            <a:off x="6309360" y="2258568"/>
            <a:ext cx="2286000" cy="502920"/>
          </a:xfrm>
          <a:prstGeom prst="rect">
            <a:avLst/>
          </a:prstGeom>
          <a:noFill/>
          <a:ln/>
        </p:spPr>
        <p:txBody>
          <a:bodyPr wrap="square" lIns="0" tIns="0" rIns="0" bIns="0" rtlCol="0" anchor="ctr"/>
          <a:lstStyle/>
          <a:p>
            <a:pPr indent="0" marL="0">
              <a:buNone/>
            </a:pPr>
            <a:r>
              <a:rPr lang="en-US" sz="2400" b="1" dirty="0">
                <a:solidFill>
                  <a:srgbClr val="C0392B"/>
                </a:solidFill>
                <a:latin typeface="Cambria" pitchFamily="34" charset="0"/>
                <a:ea typeface="Cambria" pitchFamily="34" charset="-122"/>
                <a:cs typeface="Cambria" pitchFamily="34" charset="-120"/>
              </a:rPr>
              <a:t>43</a:t>
            </a:r>
            <a:endParaRPr lang="en-US" sz="2400" dirty="0"/>
          </a:p>
        </p:txBody>
      </p:sp>
      <p:sp>
        <p:nvSpPr>
          <p:cNvPr id="18" name="Text 16"/>
          <p:cNvSpPr txBox="1"/>
          <p:nvPr/>
        </p:nvSpPr>
        <p:spPr>
          <a:xfrm>
            <a:off x="6309360" y="2788920"/>
            <a:ext cx="2286000" cy="822960"/>
          </a:xfrm>
          <a:prstGeom prst="rect">
            <a:avLst/>
          </a:prstGeom>
          <a:noFill/>
          <a:ln/>
        </p:spPr>
        <p:txBody>
          <a:bodyPr wrap="square" lIns="0" tIns="0" rIns="0" bIns="0" rtlCol="0" anchor="t"/>
          <a:lstStyle/>
          <a:p>
            <a:pPr indent="0" marL="0">
              <a:buNone/>
            </a:pPr>
            <a:r>
              <a:rPr lang="en-US" sz="1100" dirty="0">
                <a:solidFill>
                  <a:srgbClr val="1B2433"/>
                </a:solidFill>
                <a:latin typeface="Calibri" pitchFamily="34" charset="0"/>
                <a:ea typeface="Calibri" pitchFamily="34" charset="-122"/>
                <a:cs typeface="Calibri" pitchFamily="34" charset="-120"/>
              </a:rPr>
              <a:t>Chinese state-ISR satellites launched per year (3-yr mean)</a:t>
            </a:r>
            <a:endParaRPr lang="en-US" sz="1100" dirty="0"/>
          </a:p>
        </p:txBody>
      </p:sp>
      <p:sp>
        <p:nvSpPr>
          <p:cNvPr id="19" name="Shape 17"/>
          <p:cNvSpPr/>
          <p:nvPr/>
        </p:nvSpPr>
        <p:spPr>
          <a:xfrm>
            <a:off x="8915400" y="1691640"/>
            <a:ext cx="2606040" cy="2011680"/>
          </a:xfrm>
          <a:prstGeom prst="roundRect">
            <a:avLst>
              <a:gd name="adj" fmla="val 3636"/>
            </a:avLst>
          </a:prstGeom>
          <a:solidFill>
            <a:srgbClr val="EEF2F7"/>
          </a:solidFill>
          <a:ln w="12700">
            <a:solidFill>
              <a:srgbClr val="EEF2F7"/>
            </a:solidFill>
            <a:prstDash val="solid"/>
          </a:ln>
        </p:spPr>
      </p:sp>
      <p:sp>
        <p:nvSpPr>
          <p:cNvPr id="20" name="Shape 18"/>
          <p:cNvSpPr/>
          <p:nvPr/>
        </p:nvSpPr>
        <p:spPr>
          <a:xfrm>
            <a:off x="9098280" y="1892808"/>
            <a:ext cx="274320" cy="274320"/>
          </a:xfrm>
          <a:prstGeom prst="ellipse">
            <a:avLst/>
          </a:prstGeom>
          <a:solidFill>
            <a:srgbClr val="C0392B"/>
          </a:solidFill>
          <a:ln w="12700">
            <a:solidFill>
              <a:srgbClr val="C0392B"/>
            </a:solidFill>
            <a:prstDash val="solid"/>
          </a:ln>
        </p:spPr>
      </p:sp>
      <p:sp>
        <p:nvSpPr>
          <p:cNvPr id="21" name="Text 19"/>
          <p:cNvSpPr txBox="1"/>
          <p:nvPr/>
        </p:nvSpPr>
        <p:spPr>
          <a:xfrm>
            <a:off x="9464040" y="1874520"/>
            <a:ext cx="1828800" cy="320040"/>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RED</a:t>
            </a:r>
            <a:endParaRPr lang="en-US" sz="1200" dirty="0"/>
          </a:p>
        </p:txBody>
      </p:sp>
      <p:sp>
        <p:nvSpPr>
          <p:cNvPr id="22" name="Text 20"/>
          <p:cNvSpPr txBox="1"/>
          <p:nvPr/>
        </p:nvSpPr>
        <p:spPr>
          <a:xfrm>
            <a:off x="9098280" y="2258568"/>
            <a:ext cx="2286000" cy="502920"/>
          </a:xfrm>
          <a:prstGeom prst="rect">
            <a:avLst/>
          </a:prstGeom>
          <a:noFill/>
          <a:ln/>
        </p:spPr>
        <p:txBody>
          <a:bodyPr wrap="square" lIns="0" tIns="0" rIns="0" bIns="0" rtlCol="0" anchor="ctr"/>
          <a:lstStyle/>
          <a:p>
            <a:pPr indent="0" marL="0">
              <a:buNone/>
            </a:pPr>
            <a:r>
              <a:rPr lang="en-US" sz="2400" b="1" dirty="0">
                <a:solidFill>
                  <a:srgbClr val="C0392B"/>
                </a:solidFill>
                <a:latin typeface="Cambria" pitchFamily="34" charset="0"/>
                <a:ea typeface="Cambria" pitchFamily="34" charset="-122"/>
                <a:cs typeface="Cambria" pitchFamily="34" charset="-120"/>
              </a:rPr>
              <a:t>0.5%</a:t>
            </a:r>
            <a:endParaRPr lang="en-US" sz="2400" dirty="0"/>
          </a:p>
        </p:txBody>
      </p:sp>
      <p:sp>
        <p:nvSpPr>
          <p:cNvPr id="23" name="Text 21"/>
          <p:cNvSpPr txBox="1"/>
          <p:nvPr/>
        </p:nvSpPr>
        <p:spPr>
          <a:xfrm>
            <a:off x="9098280" y="2788920"/>
            <a:ext cx="2286000" cy="822960"/>
          </a:xfrm>
          <a:prstGeom prst="rect">
            <a:avLst/>
          </a:prstGeom>
          <a:noFill/>
          <a:ln/>
        </p:spPr>
        <p:txBody>
          <a:bodyPr wrap="square" lIns="0" tIns="0" rIns="0" bIns="0" rtlCol="0" anchor="t"/>
          <a:lstStyle/>
          <a:p>
            <a:pPr indent="0" marL="0">
              <a:buNone/>
            </a:pPr>
            <a:r>
              <a:rPr lang="en-US" sz="1100" dirty="0">
                <a:solidFill>
                  <a:srgbClr val="1B2433"/>
                </a:solidFill>
                <a:latin typeface="Calibri" pitchFamily="34" charset="0"/>
                <a:ea typeface="Calibri" pitchFamily="34" charset="-122"/>
                <a:cs typeface="Calibri" pitchFamily="34" charset="-120"/>
              </a:rPr>
              <a:t>India's share of active satellites</a:t>
            </a:r>
            <a:endParaRPr lang="en-US" sz="1100" dirty="0"/>
          </a:p>
        </p:txBody>
      </p:sp>
      <p:sp>
        <p:nvSpPr>
          <p:cNvPr id="24" name="Shape 22"/>
          <p:cNvSpPr/>
          <p:nvPr/>
        </p:nvSpPr>
        <p:spPr>
          <a:xfrm>
            <a:off x="548640" y="3931920"/>
            <a:ext cx="2606040" cy="2011680"/>
          </a:xfrm>
          <a:prstGeom prst="roundRect">
            <a:avLst>
              <a:gd name="adj" fmla="val 3636"/>
            </a:avLst>
          </a:prstGeom>
          <a:solidFill>
            <a:srgbClr val="EEF2F7"/>
          </a:solidFill>
          <a:ln w="12700">
            <a:solidFill>
              <a:srgbClr val="EEF2F7"/>
            </a:solidFill>
            <a:prstDash val="solid"/>
          </a:ln>
        </p:spPr>
      </p:sp>
      <p:sp>
        <p:nvSpPr>
          <p:cNvPr id="25" name="Shape 23"/>
          <p:cNvSpPr/>
          <p:nvPr/>
        </p:nvSpPr>
        <p:spPr>
          <a:xfrm>
            <a:off x="731520" y="4133088"/>
            <a:ext cx="274320" cy="274320"/>
          </a:xfrm>
          <a:prstGeom prst="ellipse">
            <a:avLst/>
          </a:prstGeom>
          <a:solidFill>
            <a:srgbClr val="C0392B"/>
          </a:solidFill>
          <a:ln w="12700">
            <a:solidFill>
              <a:srgbClr val="C0392B"/>
            </a:solidFill>
            <a:prstDash val="solid"/>
          </a:ln>
        </p:spPr>
      </p:sp>
      <p:sp>
        <p:nvSpPr>
          <p:cNvPr id="26" name="Text 24"/>
          <p:cNvSpPr txBox="1"/>
          <p:nvPr/>
        </p:nvSpPr>
        <p:spPr>
          <a:xfrm>
            <a:off x="1097280" y="4114800"/>
            <a:ext cx="1828800" cy="320040"/>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RED</a:t>
            </a:r>
            <a:endParaRPr lang="en-US" sz="1200" dirty="0"/>
          </a:p>
        </p:txBody>
      </p:sp>
      <p:sp>
        <p:nvSpPr>
          <p:cNvPr id="27" name="Text 25"/>
          <p:cNvSpPr txBox="1"/>
          <p:nvPr/>
        </p:nvSpPr>
        <p:spPr>
          <a:xfrm>
            <a:off x="731520" y="4498848"/>
            <a:ext cx="2286000" cy="502920"/>
          </a:xfrm>
          <a:prstGeom prst="rect">
            <a:avLst/>
          </a:prstGeom>
          <a:noFill/>
          <a:ln/>
        </p:spPr>
        <p:txBody>
          <a:bodyPr wrap="square" lIns="0" tIns="0" rIns="0" bIns="0" rtlCol="0" anchor="ctr"/>
          <a:lstStyle/>
          <a:p>
            <a:pPr indent="0" marL="0">
              <a:buNone/>
            </a:pPr>
            <a:r>
              <a:rPr lang="en-US" sz="2400" b="1" dirty="0">
                <a:solidFill>
                  <a:srgbClr val="C0392B"/>
                </a:solidFill>
                <a:latin typeface="Cambria" pitchFamily="34" charset="0"/>
                <a:ea typeface="Cambria" pitchFamily="34" charset="-122"/>
                <a:cs typeface="Cambria" pitchFamily="34" charset="-120"/>
              </a:rPr>
              <a:t>39%</a:t>
            </a:r>
            <a:endParaRPr lang="en-US" sz="2400" dirty="0"/>
          </a:p>
        </p:txBody>
      </p:sp>
      <p:sp>
        <p:nvSpPr>
          <p:cNvPr id="28" name="Text 26"/>
          <p:cNvSpPr txBox="1"/>
          <p:nvPr/>
        </p:nvSpPr>
        <p:spPr>
          <a:xfrm>
            <a:off x="731520" y="5029200"/>
            <a:ext cx="2286000" cy="822960"/>
          </a:xfrm>
          <a:prstGeom prst="rect">
            <a:avLst/>
          </a:prstGeom>
          <a:noFill/>
          <a:ln/>
        </p:spPr>
        <p:txBody>
          <a:bodyPr wrap="square" lIns="0" tIns="0" rIns="0" bIns="0" rtlCol="0" anchor="t"/>
          <a:lstStyle/>
          <a:p>
            <a:pPr indent="0" marL="0">
              <a:buNone/>
            </a:pPr>
            <a:r>
              <a:rPr lang="en-US" sz="1100" dirty="0">
                <a:solidFill>
                  <a:srgbClr val="1B2433"/>
                </a:solidFill>
                <a:latin typeface="Calibri" pitchFamily="34" charset="0"/>
                <a:ea typeface="Calibri" pitchFamily="34" charset="-122"/>
                <a:cs typeface="Calibri" pitchFamily="34" charset="-120"/>
              </a:rPr>
              <a:t>Intense geomagnetic storm odds per 30 days (sunspot number &gt;= 100, as in 2023-25)</a:t>
            </a:r>
            <a:endParaRPr lang="en-US" sz="1100" dirty="0"/>
          </a:p>
        </p:txBody>
      </p:sp>
      <p:sp>
        <p:nvSpPr>
          <p:cNvPr id="29" name="Shape 27"/>
          <p:cNvSpPr/>
          <p:nvPr/>
        </p:nvSpPr>
        <p:spPr>
          <a:xfrm>
            <a:off x="3337560" y="3931920"/>
            <a:ext cx="2606040" cy="2011680"/>
          </a:xfrm>
          <a:prstGeom prst="roundRect">
            <a:avLst>
              <a:gd name="adj" fmla="val 3636"/>
            </a:avLst>
          </a:prstGeom>
          <a:solidFill>
            <a:srgbClr val="EEF2F7"/>
          </a:solidFill>
          <a:ln w="12700">
            <a:solidFill>
              <a:srgbClr val="EEF2F7"/>
            </a:solidFill>
            <a:prstDash val="solid"/>
          </a:ln>
        </p:spPr>
      </p:sp>
      <p:sp>
        <p:nvSpPr>
          <p:cNvPr id="30" name="Shape 28"/>
          <p:cNvSpPr/>
          <p:nvPr/>
        </p:nvSpPr>
        <p:spPr>
          <a:xfrm>
            <a:off x="3520440" y="4133088"/>
            <a:ext cx="274320" cy="274320"/>
          </a:xfrm>
          <a:prstGeom prst="ellipse">
            <a:avLst/>
          </a:prstGeom>
          <a:solidFill>
            <a:srgbClr val="E08A00"/>
          </a:solidFill>
          <a:ln w="12700">
            <a:solidFill>
              <a:srgbClr val="E08A00"/>
            </a:solidFill>
            <a:prstDash val="solid"/>
          </a:ln>
        </p:spPr>
      </p:sp>
      <p:sp>
        <p:nvSpPr>
          <p:cNvPr id="31" name="Text 29"/>
          <p:cNvSpPr txBox="1"/>
          <p:nvPr/>
        </p:nvSpPr>
        <p:spPr>
          <a:xfrm>
            <a:off x="3886200" y="4114800"/>
            <a:ext cx="1828800" cy="320040"/>
          </a:xfrm>
          <a:prstGeom prst="rect">
            <a:avLst/>
          </a:prstGeom>
          <a:noFill/>
          <a:ln/>
        </p:spPr>
        <p:txBody>
          <a:bodyPr wrap="square" lIns="0" tIns="0" rIns="0" bIns="0" rtlCol="0" anchor="ctr"/>
          <a:lstStyle/>
          <a:p>
            <a:pPr indent="0" marL="0">
              <a:buNone/>
            </a:pPr>
            <a:r>
              <a:rPr lang="en-US" sz="1200" b="1" dirty="0">
                <a:solidFill>
                  <a:srgbClr val="E08A00"/>
                </a:solidFill>
                <a:latin typeface="Calibri" pitchFamily="34" charset="0"/>
                <a:ea typeface="Calibri" pitchFamily="34" charset="-122"/>
                <a:cs typeface="Calibri" pitchFamily="34" charset="-120"/>
              </a:rPr>
              <a:t>AMBER</a:t>
            </a:r>
            <a:endParaRPr lang="en-US" sz="1200" dirty="0"/>
          </a:p>
        </p:txBody>
      </p:sp>
      <p:sp>
        <p:nvSpPr>
          <p:cNvPr id="32" name="Text 30"/>
          <p:cNvSpPr txBox="1"/>
          <p:nvPr/>
        </p:nvSpPr>
        <p:spPr>
          <a:xfrm>
            <a:off x="3520440" y="4498848"/>
            <a:ext cx="2286000" cy="502920"/>
          </a:xfrm>
          <a:prstGeom prst="rect">
            <a:avLst/>
          </a:prstGeom>
          <a:noFill/>
          <a:ln/>
        </p:spPr>
        <p:txBody>
          <a:bodyPr wrap="square" lIns="0" tIns="0" rIns="0" bIns="0" rtlCol="0" anchor="ctr"/>
          <a:lstStyle/>
          <a:p>
            <a:pPr indent="0" marL="0">
              <a:buNone/>
            </a:pPr>
            <a:r>
              <a:rPr lang="en-US" sz="2400" b="1" dirty="0">
                <a:solidFill>
                  <a:srgbClr val="E08A00"/>
                </a:solidFill>
                <a:latin typeface="Cambria" pitchFamily="34" charset="0"/>
                <a:ea typeface="Cambria" pitchFamily="34" charset="-122"/>
                <a:cs typeface="Cambria" pitchFamily="34" charset="-120"/>
              </a:rPr>
              <a:t>1 (2021)</a:t>
            </a:r>
            <a:endParaRPr lang="en-US" sz="2400" dirty="0"/>
          </a:p>
        </p:txBody>
      </p:sp>
      <p:sp>
        <p:nvSpPr>
          <p:cNvPr id="33" name="Text 31"/>
          <p:cNvSpPr txBox="1"/>
          <p:nvPr/>
        </p:nvSpPr>
        <p:spPr>
          <a:xfrm>
            <a:off x="3520440" y="5029200"/>
            <a:ext cx="2286000" cy="822960"/>
          </a:xfrm>
          <a:prstGeom prst="rect">
            <a:avLst/>
          </a:prstGeom>
          <a:noFill/>
          <a:ln/>
        </p:spPr>
        <p:txBody>
          <a:bodyPr wrap="square" lIns="0" tIns="0" rIns="0" bIns="0" rtlCol="0" anchor="t"/>
          <a:lstStyle/>
          <a:p>
            <a:pPr indent="0" marL="0">
              <a:buNone/>
            </a:pPr>
            <a:r>
              <a:rPr lang="en-US" sz="1100" dirty="0">
                <a:solidFill>
                  <a:srgbClr val="1B2433"/>
                </a:solidFill>
                <a:latin typeface="Calibri" pitchFamily="34" charset="0"/>
                <a:ea typeface="Calibri" pitchFamily="34" charset="-122"/>
                <a:cs typeface="Calibri" pitchFamily="34" charset="-120"/>
              </a:rPr>
              <a:t>Anti-satellite tests in the last 5 years</a:t>
            </a:r>
            <a:endParaRPr lang="en-US" sz="1100" dirty="0"/>
          </a:p>
        </p:txBody>
      </p:sp>
      <p:sp>
        <p:nvSpPr>
          <p:cNvPr id="34" name="Shape 32"/>
          <p:cNvSpPr/>
          <p:nvPr/>
        </p:nvSpPr>
        <p:spPr>
          <a:xfrm>
            <a:off x="6126480" y="3931920"/>
            <a:ext cx="2606040" cy="2011680"/>
          </a:xfrm>
          <a:prstGeom prst="roundRect">
            <a:avLst>
              <a:gd name="adj" fmla="val 3636"/>
            </a:avLst>
          </a:prstGeom>
          <a:solidFill>
            <a:srgbClr val="EEF2F7"/>
          </a:solidFill>
          <a:ln w="12700">
            <a:solidFill>
              <a:srgbClr val="EEF2F7"/>
            </a:solidFill>
            <a:prstDash val="solid"/>
          </a:ln>
        </p:spPr>
      </p:sp>
      <p:sp>
        <p:nvSpPr>
          <p:cNvPr id="35" name="Shape 33"/>
          <p:cNvSpPr/>
          <p:nvPr/>
        </p:nvSpPr>
        <p:spPr>
          <a:xfrm>
            <a:off x="6309360" y="4133088"/>
            <a:ext cx="274320" cy="274320"/>
          </a:xfrm>
          <a:prstGeom prst="ellipse">
            <a:avLst/>
          </a:prstGeom>
          <a:solidFill>
            <a:srgbClr val="C0392B"/>
          </a:solidFill>
          <a:ln w="12700">
            <a:solidFill>
              <a:srgbClr val="C0392B"/>
            </a:solidFill>
            <a:prstDash val="solid"/>
          </a:ln>
        </p:spPr>
      </p:sp>
      <p:sp>
        <p:nvSpPr>
          <p:cNvPr id="36" name="Text 34"/>
          <p:cNvSpPr txBox="1"/>
          <p:nvPr/>
        </p:nvSpPr>
        <p:spPr>
          <a:xfrm>
            <a:off x="6675120" y="4114800"/>
            <a:ext cx="1828800" cy="320040"/>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RED</a:t>
            </a:r>
            <a:endParaRPr lang="en-US" sz="1200" dirty="0"/>
          </a:p>
        </p:txBody>
      </p:sp>
      <p:sp>
        <p:nvSpPr>
          <p:cNvPr id="37" name="Text 35"/>
          <p:cNvSpPr txBox="1"/>
          <p:nvPr/>
        </p:nvSpPr>
        <p:spPr>
          <a:xfrm>
            <a:off x="6309360" y="4498848"/>
            <a:ext cx="2286000" cy="502920"/>
          </a:xfrm>
          <a:prstGeom prst="rect">
            <a:avLst/>
          </a:prstGeom>
          <a:noFill/>
          <a:ln/>
        </p:spPr>
        <p:txBody>
          <a:bodyPr wrap="square" lIns="0" tIns="0" rIns="0" bIns="0" rtlCol="0" anchor="ctr"/>
          <a:lstStyle/>
          <a:p>
            <a:pPr indent="0" marL="0">
              <a:buNone/>
            </a:pPr>
            <a:r>
              <a:rPr lang="en-US" sz="2400" b="1" dirty="0">
                <a:solidFill>
                  <a:srgbClr val="C0392B"/>
                </a:solidFill>
                <a:latin typeface="Cambria" pitchFamily="34" charset="0"/>
                <a:ea typeface="Cambria" pitchFamily="34" charset="-122"/>
                <a:cs typeface="Cambria" pitchFamily="34" charset="-120"/>
              </a:rPr>
              <a:t>162</a:t>
            </a:r>
            <a:endParaRPr lang="en-US" sz="2400" dirty="0"/>
          </a:p>
        </p:txBody>
      </p:sp>
      <p:sp>
        <p:nvSpPr>
          <p:cNvPr id="38" name="Text 36"/>
          <p:cNvSpPr txBox="1"/>
          <p:nvPr/>
        </p:nvSpPr>
        <p:spPr>
          <a:xfrm>
            <a:off x="6309360" y="5029200"/>
            <a:ext cx="2286000" cy="822960"/>
          </a:xfrm>
          <a:prstGeom prst="rect">
            <a:avLst/>
          </a:prstGeom>
          <a:noFill/>
          <a:ln/>
        </p:spPr>
        <p:txBody>
          <a:bodyPr wrap="square" lIns="0" tIns="0" rIns="0" bIns="0" rtlCol="0" anchor="t"/>
          <a:lstStyle/>
          <a:p>
            <a:pPr indent="0" marL="0">
              <a:buNone/>
            </a:pPr>
            <a:r>
              <a:rPr lang="en-US" sz="1100" dirty="0">
                <a:solidFill>
                  <a:srgbClr val="1B2433"/>
                </a:solidFill>
                <a:latin typeface="Calibri" pitchFamily="34" charset="0"/>
                <a:ea typeface="Calibri" pitchFamily="34" charset="-122"/>
                <a:cs typeface="Calibri" pitchFamily="34" charset="-120"/>
              </a:rPr>
              <a:t>GEO arc over India: satellites 40-110 E</a:t>
            </a:r>
            <a:endParaRPr lang="en-US" sz="1100" dirty="0"/>
          </a:p>
        </p:txBody>
      </p:sp>
      <p:sp>
        <p:nvSpPr>
          <p:cNvPr id="39" name="Text 37"/>
          <p:cNvSpPr txBox="1"/>
          <p:nvPr/>
        </p:nvSpPr>
        <p:spPr>
          <a:xfrm>
            <a:off x="8915400" y="3931920"/>
            <a:ext cx="2606040" cy="2011680"/>
          </a:xfrm>
          <a:prstGeom prst="rect">
            <a:avLst/>
          </a:prstGeom>
          <a:noFill/>
          <a:ln/>
        </p:spPr>
        <p:txBody>
          <a:bodyPr wrap="square" lIns="0" tIns="0" rIns="0" bIns="0" rtlCol="0" anchor="ctr"/>
          <a:lstStyle/>
          <a:p>
            <a:pPr indent="0" marL="0">
              <a:buNone/>
            </a:pPr>
            <a:r>
              <a:rPr lang="en-US" sz="1400" i="1" dirty="0">
                <a:solidFill>
                  <a:srgbClr val="5B6573"/>
                </a:solidFill>
                <a:latin typeface="Calibri" pitchFamily="34" charset="0"/>
                <a:ea typeface="Calibri" pitchFamily="34" charset="-122"/>
                <a:cs typeface="Calibri" pitchFamily="34" charset="-120"/>
              </a:rPr>
              <a:t>Each indicator has Amber and Red thresholds and an action on Red, updated from open data.</a:t>
            </a:r>
            <a:endParaRPr lang="en-US" sz="1400" dirty="0"/>
          </a:p>
        </p:txBody>
      </p:sp>
      <p:sp>
        <p:nvSpPr>
          <p:cNvPr id="40" name="Text 3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573"/>
                </a:solidFill>
                <a:latin typeface="Calibri" pitchFamily="34" charset="0"/>
                <a:ea typeface="Calibri" pitchFamily="34" charset="-122"/>
                <a:cs typeface="Calibri" pitchFamily="34" charset="-120"/>
              </a:rPr>
              <a:t>PROJECT HIGH GROUND  ·  CDM Datathon-2026  ·  Theme 6.1</a:t>
            </a:r>
            <a:endParaRPr lang="en-US" sz="1000" dirty="0"/>
          </a:p>
        </p:txBody>
      </p:sp>
      <p:sp>
        <p:nvSpPr>
          <p:cNvPr id="41" name="Text 39"/>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573"/>
                </a:solidFill>
                <a:latin typeface="Calibri" pitchFamily="34" charset="0"/>
                <a:ea typeface="Calibri" pitchFamily="34" charset="-122"/>
                <a:cs typeface="Calibri" pitchFamily="34" charset="-120"/>
              </a:rPr>
              <a:t>14 / 17</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D99A1E"/>
                </a:solidFill>
                <a:latin typeface="Calibri" pitchFamily="34" charset="0"/>
                <a:ea typeface="Calibri" pitchFamily="34" charset="-122"/>
                <a:cs typeface="Calibri" pitchFamily="34" charset="-120"/>
              </a:rPr>
              <a:t>WAY FORWARD</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2800" b="1" dirty="0">
                <a:solidFill>
                  <a:srgbClr val="0B1D3A"/>
                </a:solidFill>
                <a:latin typeface="Cambria" pitchFamily="34" charset="0"/>
                <a:ea typeface="Cambria" pitchFamily="34" charset="-122"/>
                <a:cs typeface="Cambria" pitchFamily="34" charset="-120"/>
              </a:rPr>
              <a:t>Seven actions, each with a lead and a timeline</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6949440"/>
                <a:gridCol w="2560320"/>
                <a:gridCol w="1554480"/>
              </a:tblGrid>
              <a:tr h="53035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Action</a:t>
                      </a:r>
                      <a:endParaRPr lang="en-US" sz="14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Lead</a:t>
                      </a:r>
                      <a:endParaRPr lang="en-US" sz="14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When</a:t>
                      </a:r>
                      <a:endParaRPr lang="en-US" sz="14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r>
              <a:tr h="53035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Stand up ORBITWATCH: weekly space picture and warning matrix</a:t>
                      </a:r>
                      <a:endParaRPr lang="en-US" sz="14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DSA, ISRO NETRA</a:t>
                      </a:r>
                      <a:endParaRPr lang="en-US" sz="14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4 months</a:t>
                      </a:r>
                      <a:endParaRPr lang="en-US" sz="14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53035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Accelerate SBS-III; buy commercial imagery and radar capacity</a:t>
                      </a:r>
                      <a:endParaRPr lang="en-US" sz="14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DSA, NSIL, industry</a:t>
                      </a:r>
                      <a:endParaRPr lang="en-US" sz="14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2026-29</a:t>
                      </a:r>
                      <a:endParaRPr lang="en-US" sz="14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53035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Manoeuvre capability, fuel and storm hardening on every new military satellite</a:t>
                      </a:r>
                      <a:endParaRPr lang="en-US" sz="14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DSA, ISRO, DRDO</a:t>
                      </a:r>
                      <a:endParaRPr lang="en-US" sz="14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From 2027</a:t>
                      </a:r>
                      <a:endParaRPr lang="en-US" sz="14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53035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Space-weather cell; drills for degraded GNSS and HF</a:t>
                      </a:r>
                      <a:endParaRPr lang="en-US" sz="14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HQ IDS, IAF Met</a:t>
                      </a:r>
                      <a:endParaRPr lang="en-US" sz="14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6 months</a:t>
                      </a:r>
                      <a:endParaRPr lang="en-US" sz="14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53035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Rapid reconstitution: SSLV slots and spare satellites on standby</a:t>
                      </a:r>
                      <a:endParaRPr lang="en-US" sz="14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ISRO, NSIL, DSA</a:t>
                      </a:r>
                      <a:endParaRPr lang="en-US" sz="14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2-3 years</a:t>
                      </a:r>
                      <a:endParaRPr lang="en-US" sz="14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53035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Protect GEO slots and ITU filings in the 40-110 E arc</a:t>
                      </a:r>
                      <a:endParaRPr lang="en-US" sz="14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DoT, ISRO, DSA</a:t>
                      </a:r>
                      <a:endParaRPr lang="en-US" sz="14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Ongoing</a:t>
                      </a:r>
                      <a:endParaRPr lang="en-US" sz="14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530352">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Concealment and deception doctrine against persistent ISR</a:t>
                      </a:r>
                      <a:endParaRPr lang="en-US" sz="14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Army, HQ IDS</a:t>
                      </a:r>
                      <a:endParaRPr lang="en-US" sz="14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12 months</a:t>
                      </a:r>
                      <a:endParaRPr lang="en-US" sz="1400" dirty="0">
                        <a:latin typeface="Calibri" charset="0"/>
                        <a:ea typeface="Calibri" charset="0"/>
                        <a:cs typeface="Calibri" charset="0"/>
                      </a:endParaRPr>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5" name="Text 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573"/>
                </a:solidFill>
                <a:latin typeface="Calibri" pitchFamily="34" charset="0"/>
                <a:ea typeface="Calibri" pitchFamily="34" charset="-122"/>
                <a:cs typeface="Calibri" pitchFamily="34" charset="-120"/>
              </a:rPr>
              <a:t>PROJECT HIGH GROUND  ·  CDM Datathon-2026  ·  Theme 6.1</a:t>
            </a:r>
            <a:endParaRPr lang="en-US" sz="1000" dirty="0"/>
          </a:p>
        </p:txBody>
      </p:sp>
      <p:sp>
        <p:nvSpPr>
          <p:cNvPr id="6" name="Text 3"/>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573"/>
                </a:solidFill>
                <a:latin typeface="Calibri" pitchFamily="34" charset="0"/>
                <a:ea typeface="Calibri" pitchFamily="34" charset="-122"/>
                <a:cs typeface="Calibri" pitchFamily="34" charset="-120"/>
              </a:rPr>
              <a:t>15 / 17</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D99A1E"/>
                </a:solidFill>
                <a:latin typeface="Calibri" pitchFamily="34" charset="0"/>
                <a:ea typeface="Calibri" pitchFamily="34" charset="-122"/>
                <a:cs typeface="Calibri" pitchFamily="34" charset="-120"/>
              </a:rPr>
              <a:t>TECHNICAL SKILLS</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2800" b="1" dirty="0">
                <a:solidFill>
                  <a:srgbClr val="0B1D3A"/>
                </a:solidFill>
                <a:latin typeface="Cambria" pitchFamily="34" charset="0"/>
                <a:ea typeface="Cambria" pitchFamily="34" charset="-122"/>
                <a:cs typeface="Cambria" pitchFamily="34" charset="-120"/>
              </a:rPr>
              <a:t>Reproducible from raw data to decision</a:t>
            </a:r>
            <a:endParaRPr lang="en-US" sz="2800" dirty="0"/>
          </a:p>
        </p:txBody>
      </p:sp>
      <p:sp>
        <p:nvSpPr>
          <p:cNvPr id="4" name="Shape 2"/>
          <p:cNvSpPr/>
          <p:nvPr/>
        </p:nvSpPr>
        <p:spPr>
          <a:xfrm>
            <a:off x="548640" y="1691640"/>
            <a:ext cx="5440680" cy="1965960"/>
          </a:xfrm>
          <a:prstGeom prst="roundRect">
            <a:avLst>
              <a:gd name="adj" fmla="val 3721"/>
            </a:avLst>
          </a:prstGeom>
          <a:solidFill>
            <a:srgbClr val="EEF2F7"/>
          </a:solidFill>
          <a:ln w="12700">
            <a:solidFill>
              <a:srgbClr val="EEF2F7"/>
            </a:solidFill>
            <a:prstDash val="solid"/>
          </a:ln>
        </p:spPr>
      </p:sp>
      <p:sp>
        <p:nvSpPr>
          <p:cNvPr id="5" name="Shape 3"/>
          <p:cNvSpPr/>
          <p:nvPr/>
        </p:nvSpPr>
        <p:spPr>
          <a:xfrm>
            <a:off x="822960" y="1965960"/>
            <a:ext cx="640080" cy="640080"/>
          </a:xfrm>
          <a:prstGeom prst="ellipse">
            <a:avLst/>
          </a:prstGeom>
          <a:solidFill>
            <a:srgbClr val="0B1D3A"/>
          </a:solidFill>
          <a:ln w="12700">
            <a:solidFill>
              <a:srgbClr val="0B1D3A"/>
            </a:solidFill>
            <a:prstDash val="solid"/>
          </a:ln>
        </p:spPr>
      </p:sp>
      <p:pic>
        <p:nvPicPr>
          <p:cNvPr id="6" name="Image 0" descr="preencoded.png">    </p:cNvPr>
          <p:cNvPicPr>
            <a:picLocks noChangeAspect="1"/>
          </p:cNvPicPr>
          <p:nvPr/>
        </p:nvPicPr>
        <p:blipFill>
          <a:blip r:embed="rId1"/>
          <a:stretch>
            <a:fillRect/>
          </a:stretch>
        </p:blipFill>
        <p:spPr>
          <a:xfrm>
            <a:off x="963778" y="2106778"/>
            <a:ext cx="358445" cy="358445"/>
          </a:xfrm>
          <a:prstGeom prst="rect">
            <a:avLst/>
          </a:prstGeom>
        </p:spPr>
      </p:pic>
      <p:sp>
        <p:nvSpPr>
          <p:cNvPr id="7" name="Text 4"/>
          <p:cNvSpPr txBox="1"/>
          <p:nvPr/>
        </p:nvSpPr>
        <p:spPr>
          <a:xfrm>
            <a:off x="1645920" y="1965960"/>
            <a:ext cx="4114800" cy="457200"/>
          </a:xfrm>
          <a:prstGeom prst="rect">
            <a:avLst/>
          </a:prstGeom>
          <a:noFill/>
          <a:ln/>
        </p:spPr>
        <p:txBody>
          <a:bodyPr wrap="square" lIns="0" tIns="0" rIns="0" bIns="0" rtlCol="0" anchor="ctr"/>
          <a:lstStyle/>
          <a:p>
            <a:pPr indent="0" marL="0">
              <a:buNone/>
            </a:pPr>
            <a:r>
              <a:rPr lang="en-US" sz="1700" b="1" dirty="0">
                <a:solidFill>
                  <a:srgbClr val="0B1D3A"/>
                </a:solidFill>
                <a:latin typeface="Calibri" pitchFamily="34" charset="0"/>
                <a:ea typeface="Calibri" pitchFamily="34" charset="-122"/>
                <a:cs typeface="Calibri" pitchFamily="34" charset="-120"/>
              </a:rPr>
              <a:t>Python pipeline</a:t>
            </a:r>
            <a:endParaRPr lang="en-US" sz="1700" dirty="0"/>
          </a:p>
        </p:txBody>
      </p:sp>
      <p:sp>
        <p:nvSpPr>
          <p:cNvPr id="8" name="Text 5"/>
          <p:cNvSpPr txBox="1"/>
          <p:nvPr/>
        </p:nvSpPr>
        <p:spPr>
          <a:xfrm>
            <a:off x="1645920" y="2468880"/>
            <a:ext cx="4114800" cy="1051560"/>
          </a:xfrm>
          <a:prstGeom prst="rect">
            <a:avLst/>
          </a:prstGeom>
          <a:noFill/>
          <a:ln/>
        </p:spPr>
        <p:txBody>
          <a:bodyPr wrap="square" lIns="0" tIns="0" rIns="0" bIns="0" rtlCol="0" anchor="t"/>
          <a:lstStyle/>
          <a:p>
            <a:pPr indent="0" marL="0">
              <a:buNone/>
            </a:pPr>
            <a:r>
              <a:rPr lang="en-US" sz="1300" dirty="0">
                <a:solidFill>
                  <a:srgbClr val="1B2433"/>
                </a:solidFill>
                <a:latin typeface="Calibri" pitchFamily="34" charset="0"/>
                <a:ea typeface="Calibri" pitchFamily="34" charset="-122"/>
                <a:cs typeface="Calibri" pitchFamily="34" charset="-120"/>
              </a:rPr>
              <a:t>10 stages, one command, deterministic: two runs give identical results for all headline numbers.</a:t>
            </a:r>
            <a:endParaRPr lang="en-US" sz="1300" dirty="0"/>
          </a:p>
        </p:txBody>
      </p:sp>
      <p:sp>
        <p:nvSpPr>
          <p:cNvPr id="9" name="Shape 6"/>
          <p:cNvSpPr/>
          <p:nvPr/>
        </p:nvSpPr>
        <p:spPr>
          <a:xfrm>
            <a:off x="6172200" y="1691640"/>
            <a:ext cx="5440680" cy="1965960"/>
          </a:xfrm>
          <a:prstGeom prst="roundRect">
            <a:avLst>
              <a:gd name="adj" fmla="val 3721"/>
            </a:avLst>
          </a:prstGeom>
          <a:solidFill>
            <a:srgbClr val="EEF2F7"/>
          </a:solidFill>
          <a:ln w="12700">
            <a:solidFill>
              <a:srgbClr val="EEF2F7"/>
            </a:solidFill>
            <a:prstDash val="solid"/>
          </a:ln>
        </p:spPr>
      </p:sp>
      <p:sp>
        <p:nvSpPr>
          <p:cNvPr id="10" name="Shape 7"/>
          <p:cNvSpPr/>
          <p:nvPr/>
        </p:nvSpPr>
        <p:spPr>
          <a:xfrm>
            <a:off x="6446520" y="1965960"/>
            <a:ext cx="640080" cy="640080"/>
          </a:xfrm>
          <a:prstGeom prst="ellipse">
            <a:avLst/>
          </a:prstGeom>
          <a:solidFill>
            <a:srgbClr val="0B1D3A"/>
          </a:solidFill>
          <a:ln w="12700">
            <a:solidFill>
              <a:srgbClr val="0B1D3A"/>
            </a:solidFill>
            <a:prstDash val="solid"/>
          </a:ln>
        </p:spPr>
      </p:sp>
      <p:pic>
        <p:nvPicPr>
          <p:cNvPr id="11" name="Image 1" descr="preencoded.png">    </p:cNvPr>
          <p:cNvPicPr>
            <a:picLocks noChangeAspect="1"/>
          </p:cNvPicPr>
          <p:nvPr/>
        </p:nvPicPr>
        <p:blipFill>
          <a:blip r:embed="rId2"/>
          <a:stretch>
            <a:fillRect/>
          </a:stretch>
        </p:blipFill>
        <p:spPr>
          <a:xfrm>
            <a:off x="6587338" y="2106778"/>
            <a:ext cx="358445" cy="358445"/>
          </a:xfrm>
          <a:prstGeom prst="rect">
            <a:avLst/>
          </a:prstGeom>
        </p:spPr>
      </p:pic>
      <p:sp>
        <p:nvSpPr>
          <p:cNvPr id="12" name="Text 8"/>
          <p:cNvSpPr txBox="1"/>
          <p:nvPr/>
        </p:nvSpPr>
        <p:spPr>
          <a:xfrm>
            <a:off x="7269480" y="1965960"/>
            <a:ext cx="4114800" cy="457200"/>
          </a:xfrm>
          <a:prstGeom prst="rect">
            <a:avLst/>
          </a:prstGeom>
          <a:noFill/>
          <a:ln/>
        </p:spPr>
        <p:txBody>
          <a:bodyPr wrap="square" lIns="0" tIns="0" rIns="0" bIns="0" rtlCol="0" anchor="ctr"/>
          <a:lstStyle/>
          <a:p>
            <a:pPr indent="0" marL="0">
              <a:buNone/>
            </a:pPr>
            <a:r>
              <a:rPr lang="en-US" sz="1700" b="1" dirty="0">
                <a:solidFill>
                  <a:srgbClr val="0B1D3A"/>
                </a:solidFill>
                <a:latin typeface="Calibri" pitchFamily="34" charset="0"/>
                <a:ea typeface="Calibri" pitchFamily="34" charset="-122"/>
                <a:cs typeface="Calibri" pitchFamily="34" charset="-120"/>
              </a:rPr>
              <a:t>Methods</a:t>
            </a:r>
            <a:endParaRPr lang="en-US" sz="1700" dirty="0"/>
          </a:p>
        </p:txBody>
      </p:sp>
      <p:sp>
        <p:nvSpPr>
          <p:cNvPr id="13" name="Text 9"/>
          <p:cNvSpPr txBox="1"/>
          <p:nvPr/>
        </p:nvSpPr>
        <p:spPr>
          <a:xfrm>
            <a:off x="7269480" y="2468880"/>
            <a:ext cx="4114800" cy="1051560"/>
          </a:xfrm>
          <a:prstGeom prst="rect">
            <a:avLst/>
          </a:prstGeom>
          <a:noFill/>
          <a:ln/>
        </p:spPr>
        <p:txBody>
          <a:bodyPr wrap="square" lIns="0" tIns="0" rIns="0" bIns="0" rtlCol="0" anchor="t"/>
          <a:lstStyle/>
          <a:p>
            <a:pPr indent="0" marL="0">
              <a:buNone/>
            </a:pPr>
            <a:r>
              <a:rPr lang="en-US" sz="1300" dirty="0">
                <a:solidFill>
                  <a:srgbClr val="1B2433"/>
                </a:solidFill>
                <a:latin typeface="Calibri" pitchFamily="34" charset="0"/>
                <a:ea typeface="Calibri" pitchFamily="34" charset="-122"/>
                <a:cs typeface="Calibri" pitchFamily="34" charset="-120"/>
              </a:rPr>
              <a:t>Change-points, concentration index, kinetic-gas risk index, survival curves, Poisson regression, periodogram, damped-trend forecast with back-test.</a:t>
            </a:r>
            <a:endParaRPr lang="en-US" sz="1300" dirty="0"/>
          </a:p>
        </p:txBody>
      </p:sp>
      <p:sp>
        <p:nvSpPr>
          <p:cNvPr id="14" name="Shape 10"/>
          <p:cNvSpPr/>
          <p:nvPr/>
        </p:nvSpPr>
        <p:spPr>
          <a:xfrm>
            <a:off x="548640" y="3886200"/>
            <a:ext cx="5440680" cy="1965960"/>
          </a:xfrm>
          <a:prstGeom prst="roundRect">
            <a:avLst>
              <a:gd name="adj" fmla="val 3721"/>
            </a:avLst>
          </a:prstGeom>
          <a:solidFill>
            <a:srgbClr val="EEF2F7"/>
          </a:solidFill>
          <a:ln w="12700">
            <a:solidFill>
              <a:srgbClr val="EEF2F7"/>
            </a:solidFill>
            <a:prstDash val="solid"/>
          </a:ln>
        </p:spPr>
      </p:sp>
      <p:sp>
        <p:nvSpPr>
          <p:cNvPr id="15" name="Shape 11"/>
          <p:cNvSpPr/>
          <p:nvPr/>
        </p:nvSpPr>
        <p:spPr>
          <a:xfrm>
            <a:off x="822960" y="4160520"/>
            <a:ext cx="640080" cy="640080"/>
          </a:xfrm>
          <a:prstGeom prst="ellipse">
            <a:avLst/>
          </a:prstGeom>
          <a:solidFill>
            <a:srgbClr val="0B1D3A"/>
          </a:solidFill>
          <a:ln w="12700">
            <a:solidFill>
              <a:srgbClr val="0B1D3A"/>
            </a:solidFill>
            <a:prstDash val="solid"/>
          </a:ln>
        </p:spPr>
      </p:sp>
      <p:pic>
        <p:nvPicPr>
          <p:cNvPr id="16" name="Image 2" descr="preencoded.png">    </p:cNvPr>
          <p:cNvPicPr>
            <a:picLocks noChangeAspect="1"/>
          </p:cNvPicPr>
          <p:nvPr/>
        </p:nvPicPr>
        <p:blipFill>
          <a:blip r:embed="rId3"/>
          <a:stretch>
            <a:fillRect/>
          </a:stretch>
        </p:blipFill>
        <p:spPr>
          <a:xfrm>
            <a:off x="963778" y="4301338"/>
            <a:ext cx="358445" cy="358445"/>
          </a:xfrm>
          <a:prstGeom prst="rect">
            <a:avLst/>
          </a:prstGeom>
        </p:spPr>
      </p:pic>
      <p:sp>
        <p:nvSpPr>
          <p:cNvPr id="17" name="Text 12"/>
          <p:cNvSpPr txBox="1"/>
          <p:nvPr/>
        </p:nvSpPr>
        <p:spPr>
          <a:xfrm>
            <a:off x="1645920" y="4160520"/>
            <a:ext cx="4114800" cy="457200"/>
          </a:xfrm>
          <a:prstGeom prst="rect">
            <a:avLst/>
          </a:prstGeom>
          <a:noFill/>
          <a:ln/>
        </p:spPr>
        <p:txBody>
          <a:bodyPr wrap="square" lIns="0" tIns="0" rIns="0" bIns="0" rtlCol="0" anchor="ctr"/>
          <a:lstStyle/>
          <a:p>
            <a:pPr indent="0" marL="0">
              <a:buNone/>
            </a:pPr>
            <a:r>
              <a:rPr lang="en-US" sz="1700" b="1" dirty="0">
                <a:solidFill>
                  <a:srgbClr val="0B1D3A"/>
                </a:solidFill>
                <a:latin typeface="Calibri" pitchFamily="34" charset="0"/>
                <a:ea typeface="Calibri" pitchFamily="34" charset="-122"/>
                <a:cs typeface="Calibri" pitchFamily="34" charset="-120"/>
              </a:rPr>
              <a:t>Power BI</a:t>
            </a:r>
            <a:endParaRPr lang="en-US" sz="1700" dirty="0"/>
          </a:p>
        </p:txBody>
      </p:sp>
      <p:sp>
        <p:nvSpPr>
          <p:cNvPr id="18" name="Text 13"/>
          <p:cNvSpPr txBox="1"/>
          <p:nvPr/>
        </p:nvSpPr>
        <p:spPr>
          <a:xfrm>
            <a:off x="1645920" y="4663440"/>
            <a:ext cx="4114800" cy="1051560"/>
          </a:xfrm>
          <a:prstGeom prst="rect">
            <a:avLst/>
          </a:prstGeom>
          <a:noFill/>
          <a:ln/>
        </p:spPr>
        <p:txBody>
          <a:bodyPr wrap="square" lIns="0" tIns="0" rIns="0" bIns="0" rtlCol="0" anchor="t"/>
          <a:lstStyle/>
          <a:p>
            <a:pPr indent="0" marL="0">
              <a:buNone/>
            </a:pPr>
            <a:r>
              <a:rPr lang="en-US" sz="1300" dirty="0">
                <a:solidFill>
                  <a:srgbClr val="1B2433"/>
                </a:solidFill>
                <a:latin typeface="Calibri" pitchFamily="34" charset="0"/>
                <a:ea typeface="Calibri" pitchFamily="34" charset="-122"/>
                <a:cs typeface="Calibri" pitchFamily="34" charset="-120"/>
              </a:rPr>
              <a:t>Star schema: catalogue, 2014 census, storms, fires, calendar, plus the analysis tables; four dashboard pages.</a:t>
            </a:r>
            <a:endParaRPr lang="en-US" sz="1300" dirty="0"/>
          </a:p>
        </p:txBody>
      </p:sp>
      <p:sp>
        <p:nvSpPr>
          <p:cNvPr id="19" name="Shape 14"/>
          <p:cNvSpPr/>
          <p:nvPr/>
        </p:nvSpPr>
        <p:spPr>
          <a:xfrm>
            <a:off x="6172200" y="3886200"/>
            <a:ext cx="5440680" cy="1965960"/>
          </a:xfrm>
          <a:prstGeom prst="roundRect">
            <a:avLst>
              <a:gd name="adj" fmla="val 3721"/>
            </a:avLst>
          </a:prstGeom>
          <a:solidFill>
            <a:srgbClr val="EEF2F7"/>
          </a:solidFill>
          <a:ln w="12700">
            <a:solidFill>
              <a:srgbClr val="EEF2F7"/>
            </a:solidFill>
            <a:prstDash val="solid"/>
          </a:ln>
        </p:spPr>
      </p:sp>
      <p:sp>
        <p:nvSpPr>
          <p:cNvPr id="20" name="Shape 15"/>
          <p:cNvSpPr/>
          <p:nvPr/>
        </p:nvSpPr>
        <p:spPr>
          <a:xfrm>
            <a:off x="6446520" y="4160520"/>
            <a:ext cx="640080" cy="640080"/>
          </a:xfrm>
          <a:prstGeom prst="ellipse">
            <a:avLst/>
          </a:prstGeom>
          <a:solidFill>
            <a:srgbClr val="0B1D3A"/>
          </a:solidFill>
          <a:ln w="12700">
            <a:solidFill>
              <a:srgbClr val="0B1D3A"/>
            </a:solidFill>
            <a:prstDash val="solid"/>
          </a:ln>
        </p:spPr>
      </p:sp>
      <p:pic>
        <p:nvPicPr>
          <p:cNvPr id="21" name="Image 3" descr="preencoded.png">    </p:cNvPr>
          <p:cNvPicPr>
            <a:picLocks noChangeAspect="1"/>
          </p:cNvPicPr>
          <p:nvPr/>
        </p:nvPicPr>
        <p:blipFill>
          <a:blip r:embed="rId4"/>
          <a:stretch>
            <a:fillRect/>
          </a:stretch>
        </p:blipFill>
        <p:spPr>
          <a:xfrm>
            <a:off x="6587338" y="4301338"/>
            <a:ext cx="358445" cy="358445"/>
          </a:xfrm>
          <a:prstGeom prst="rect">
            <a:avLst/>
          </a:prstGeom>
        </p:spPr>
      </p:pic>
      <p:sp>
        <p:nvSpPr>
          <p:cNvPr id="22" name="Text 16"/>
          <p:cNvSpPr txBox="1"/>
          <p:nvPr/>
        </p:nvSpPr>
        <p:spPr>
          <a:xfrm>
            <a:off x="7269480" y="4160520"/>
            <a:ext cx="4114800" cy="457200"/>
          </a:xfrm>
          <a:prstGeom prst="rect">
            <a:avLst/>
          </a:prstGeom>
          <a:noFill/>
          <a:ln/>
        </p:spPr>
        <p:txBody>
          <a:bodyPr wrap="square" lIns="0" tIns="0" rIns="0" bIns="0" rtlCol="0" anchor="ctr"/>
          <a:lstStyle/>
          <a:p>
            <a:pPr indent="0" marL="0">
              <a:buNone/>
            </a:pPr>
            <a:r>
              <a:rPr lang="en-US" sz="1700" b="1" dirty="0">
                <a:solidFill>
                  <a:srgbClr val="0B1D3A"/>
                </a:solidFill>
                <a:latin typeface="Calibri" pitchFamily="34" charset="0"/>
                <a:ea typeface="Calibri" pitchFamily="34" charset="-122"/>
                <a:cs typeface="Calibri" pitchFamily="34" charset="-120"/>
              </a:rPr>
              <a:t>Outputs</a:t>
            </a:r>
            <a:endParaRPr lang="en-US" sz="1700" dirty="0"/>
          </a:p>
        </p:txBody>
      </p:sp>
      <p:sp>
        <p:nvSpPr>
          <p:cNvPr id="23" name="Text 17"/>
          <p:cNvSpPr txBox="1"/>
          <p:nvPr/>
        </p:nvSpPr>
        <p:spPr>
          <a:xfrm>
            <a:off x="7269480" y="4663440"/>
            <a:ext cx="4114800" cy="1051560"/>
          </a:xfrm>
          <a:prstGeom prst="rect">
            <a:avLst/>
          </a:prstGeom>
          <a:noFill/>
          <a:ln/>
        </p:spPr>
        <p:txBody>
          <a:bodyPr wrap="square" lIns="0" tIns="0" rIns="0" bIns="0" rtlCol="0" anchor="t"/>
          <a:lstStyle/>
          <a:p>
            <a:pPr indent="0" marL="0">
              <a:buNone/>
            </a:pPr>
            <a:r>
              <a:rPr lang="en-US" sz="1300" dirty="0">
                <a:solidFill>
                  <a:srgbClr val="1B2433"/>
                </a:solidFill>
                <a:latin typeface="Calibri" pitchFamily="34" charset="0"/>
                <a:ea typeface="Calibri" pitchFamily="34" charset="-122"/>
                <a:cs typeface="Calibri" pitchFamily="34" charset="-120"/>
              </a:rPr>
              <a:t>Booklet (PDF and Word), this deck, Power BI tables, annotated code.</a:t>
            </a:r>
            <a:endParaRPr lang="en-US" sz="1300" dirty="0"/>
          </a:p>
        </p:txBody>
      </p:sp>
      <p:sp>
        <p:nvSpPr>
          <p:cNvPr id="24" name="Text 1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573"/>
                </a:solidFill>
                <a:latin typeface="Calibri" pitchFamily="34" charset="0"/>
                <a:ea typeface="Calibri" pitchFamily="34" charset="-122"/>
                <a:cs typeface="Calibri" pitchFamily="34" charset="-120"/>
              </a:rPr>
              <a:t>PROJECT HIGH GROUND  ·  CDM Datathon-2026  ·  Theme 6.1</a:t>
            </a:r>
            <a:endParaRPr lang="en-US" sz="1000" dirty="0"/>
          </a:p>
        </p:txBody>
      </p:sp>
      <p:sp>
        <p:nvSpPr>
          <p:cNvPr id="25" name="Text 19"/>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5B6573"/>
                </a:solidFill>
                <a:latin typeface="Calibri" pitchFamily="34" charset="0"/>
                <a:ea typeface="Calibri" pitchFamily="34" charset="-122"/>
                <a:cs typeface="Calibri" pitchFamily="34" charset="-120"/>
              </a:rPr>
              <a:t>16 / 17</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D3A"/>
        </a:solidFill>
      </p:bgPr>
    </p:bg>
    <p:spTree>
      <p:nvGrpSpPr>
        <p:cNvPr id="1" name=""/>
        <p:cNvGrpSpPr/>
        <p:nvPr/>
      </p:nvGrpSpPr>
      <p:grpSpPr>
        <a:xfrm>
          <a:off x="0" y="0"/>
          <a:ext cx="0" cy="0"/>
          <a:chOff x="0" y="0"/>
          <a:chExt cx="0" cy="0"/>
        </a:xfrm>
      </p:grpSpPr>
      <p:sp>
        <p:nvSpPr>
          <p:cNvPr id="2" name="Text 0"/>
          <p:cNvSpPr txBox="1"/>
          <p:nvPr/>
        </p:nvSpPr>
        <p:spPr>
          <a:xfrm>
            <a:off x="548640" y="1188720"/>
            <a:ext cx="11064240" cy="10972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The high ground has become a crowd.</a:t>
            </a:r>
            <a:endParaRPr lang="en-US" sz="4400" dirty="0"/>
          </a:p>
        </p:txBody>
      </p:sp>
      <p:sp>
        <p:nvSpPr>
          <p:cNvPr id="3" name="Shape 1"/>
          <p:cNvSpPr/>
          <p:nvPr/>
        </p:nvSpPr>
        <p:spPr>
          <a:xfrm>
            <a:off x="548640" y="2743200"/>
            <a:ext cx="11064240" cy="1920240"/>
          </a:xfrm>
          <a:prstGeom prst="roundRect">
            <a:avLst>
              <a:gd name="adj" fmla="val 3810"/>
            </a:avLst>
          </a:prstGeom>
          <a:solidFill>
            <a:srgbClr val="1C3157"/>
          </a:solidFill>
          <a:ln w="12700">
            <a:solidFill>
              <a:srgbClr val="1C3157"/>
            </a:solidFill>
            <a:prstDash val="solid"/>
          </a:ln>
        </p:spPr>
      </p:sp>
      <p:sp>
        <p:nvSpPr>
          <p:cNvPr id="4" name="Text 2"/>
          <p:cNvSpPr txBox="1"/>
          <p:nvPr/>
        </p:nvSpPr>
        <p:spPr>
          <a:xfrm>
            <a:off x="868680" y="2926080"/>
            <a:ext cx="10058400" cy="365760"/>
          </a:xfrm>
          <a:prstGeom prst="rect">
            <a:avLst/>
          </a:prstGeom>
          <a:noFill/>
          <a:ln/>
        </p:spPr>
        <p:txBody>
          <a:bodyPr wrap="square" lIns="0" tIns="0" rIns="0" bIns="0" rtlCol="0" anchor="ctr"/>
          <a:lstStyle/>
          <a:p>
            <a:pPr indent="0" marL="0">
              <a:buNone/>
            </a:pPr>
            <a:r>
              <a:rPr lang="en-US" sz="1300" b="1" spc="200" kern="0" dirty="0">
                <a:solidFill>
                  <a:srgbClr val="D99A1E"/>
                </a:solidFill>
                <a:latin typeface="Calibri" pitchFamily="34" charset="0"/>
                <a:ea typeface="Calibri" pitchFamily="34" charset="-122"/>
                <a:cs typeface="Calibri" pitchFamily="34" charset="-120"/>
              </a:rPr>
              <a:t>DECISION SOUGHT</a:t>
            </a:r>
            <a:endParaRPr lang="en-US" sz="1300" dirty="0"/>
          </a:p>
        </p:txBody>
      </p:sp>
      <p:sp>
        <p:nvSpPr>
          <p:cNvPr id="5" name="Text 3"/>
          <p:cNvSpPr txBox="1"/>
          <p:nvPr/>
        </p:nvSpPr>
        <p:spPr>
          <a:xfrm>
            <a:off x="868680" y="3337560"/>
            <a:ext cx="10424160" cy="118872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Approve a four-month ORBITWATCH proof of concept at the Defence Space Agency, using the open catalogue and the pipeline already built. Continue only if it flags at least one actionable conjunction or threat event.</a:t>
            </a:r>
            <a:endParaRPr lang="en-US" sz="1800" dirty="0"/>
          </a:p>
        </p:txBody>
      </p:sp>
      <p:sp>
        <p:nvSpPr>
          <p:cNvPr id="6" name="Text 4"/>
          <p:cNvSpPr txBox="1"/>
          <p:nvPr/>
        </p:nvSpPr>
        <p:spPr>
          <a:xfrm>
            <a:off x="548640" y="5120640"/>
            <a:ext cx="5486400" cy="640080"/>
          </a:xfrm>
          <a:prstGeom prst="rect">
            <a:avLst/>
          </a:prstGeom>
          <a:noFill/>
          <a:ln/>
        </p:spPr>
        <p:txBody>
          <a:bodyPr wrap="square" lIns="0" tIns="0" rIns="0" bIns="0" rtlCol="0" anchor="ctr"/>
          <a:lstStyle/>
          <a:p>
            <a:pPr indent="0" marL="0">
              <a:buNone/>
            </a:pPr>
            <a:r>
              <a:rPr lang="en-US" sz="2800" i="1" dirty="0">
                <a:solidFill>
                  <a:srgbClr val="D9DEE7"/>
                </a:solidFill>
                <a:latin typeface="Cambria" pitchFamily="34" charset="0"/>
                <a:ea typeface="Cambria" pitchFamily="34" charset="-122"/>
                <a:cs typeface="Cambria" pitchFamily="34" charset="-120"/>
              </a:rPr>
              <a:t>Questions</a:t>
            </a:r>
            <a:endParaRPr lang="en-US" sz="2800" dirty="0"/>
          </a:p>
        </p:txBody>
      </p:sp>
      <p:sp>
        <p:nvSpPr>
          <p:cNvPr id="7" name="Text 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AEB9C8"/>
                </a:solidFill>
                <a:latin typeface="Calibri" pitchFamily="34" charset="0"/>
                <a:ea typeface="Calibri" pitchFamily="34" charset="-122"/>
                <a:cs typeface="Calibri" pitchFamily="34" charset="-120"/>
              </a:rPr>
              <a:t>PROJECT HIGH GROUND  ·  CDM Datathon-2026  ·  Theme 6.1</a:t>
            </a:r>
            <a:endParaRPr lang="en-US" sz="1000" dirty="0"/>
          </a:p>
        </p:txBody>
      </p:sp>
      <p:sp>
        <p:nvSpPr>
          <p:cNvPr id="8" name="Text 6"/>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1000" dirty="0">
                <a:solidFill>
                  <a:srgbClr val="AEB9C8"/>
                </a:solidFill>
                <a:latin typeface="Calibri" pitchFamily="34" charset="0"/>
                <a:ea typeface="Calibri" pitchFamily="34" charset="-122"/>
                <a:cs typeface="Calibri" pitchFamily="34" charset="-120"/>
              </a:rPr>
              <a:t>17 / 17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High Ground - CDM Datathon-2026 Theme 6.1</dc:title>
  <dc:subject>PptxGenJS Presentation</dc:subject>
  <dc:creator>Arjun Jayadev</dc:creator>
  <cp:lastModifiedBy>Arjun Jayadev</cp:lastModifiedBy>
  <cp:revision>1</cp:revision>
  <dcterms:created xsi:type="dcterms:W3CDTF">2026-09-24T10:05:50Z</dcterms:created>
  <dcterms:modified xsi:type="dcterms:W3CDTF">2026-09-24T10:05:50Z</dcterms:modified>
</cp:coreProperties>
</file>