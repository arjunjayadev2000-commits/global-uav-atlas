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Working satellites, three censuses</a:t>
            </a:r>
          </a:p>
        </c:rich>
      </c:tx>
      <c:layout/>
      <c:overlay val="0"/>
    </c:title>
    <c:autoTitleDeleted val="0"/>
    <c:plotArea>
      <c:layout/>
      <c:barChart>
        <c:barDir val="col"/>
        <c:grouping val="clustered"/>
        <c:varyColors val="0"/>
        <c:ser>
          <c:idx val="0"/>
          <c:order val="0"/>
          <c:tx>
            <c:strRef>
              <c:f>Sheet1!$B$1</c:f>
              <c:strCache>
                <c:ptCount val="1"/>
                <c:pt idx="0">
                  <c:v>Working satellites</c:v>
                </c:pt>
              </c:strCache>
            </c:strRef>
          </c:tx>
          <c:spPr>
            <a:solidFill>
              <a:srgbClr val="2F5D8C"/>
            </a:solidFill>
            <a:effectLst/>
          </c:spPr>
          <c:invertIfNegative val="0"/>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cat>
            <c:multiLvlStrRef>
              <c:f>Sheet1!$A$2:$A$4</c:f>
              <c:multiLvlStrCache>
                <c:ptCount val="3"/>
                <c:lvl>
                  <c:pt idx="0">
                    <c:v>Jan 2014 (CDM)</c:v>
                  </c:pt>
                  <c:pt idx="1">
                    <c:v>Apr 2020 (UCS)</c:v>
                  </c:pt>
                  <c:pt idx="2">
                    <c:v>Sep 2026 (catalogue)</c:v>
                  </c:pt>
                </c:lvl>
              </c:multiLvlStrCache>
            </c:multiLvlStrRef>
          </c:cat>
          <c:val>
            <c:numRef>
              <c:f>Sheet1!$B$2:$B$4</c:f>
              <c:numCache>
                <c:formatCode>General</c:formatCode>
                <c:ptCount val="3"/>
                <c:pt idx="0">
                  <c:v>1167</c:v>
                </c:pt>
                <c:pt idx="1">
                  <c:v>2666</c:v>
                </c:pt>
                <c:pt idx="2">
                  <c:v>17062</c:v>
                </c:pt>
              </c:numCache>
            </c:numRef>
          </c:val>
        </c:ser>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Satellites launched per year (2026 to 21 Sep)</a:t>
            </a:r>
          </a:p>
        </c:rich>
      </c:tx>
      <c:layout/>
      <c:overlay val="0"/>
    </c:title>
    <c:autoTitleDeleted val="0"/>
    <c:plotArea>
      <c:layout/>
      <c:barChart>
        <c:barDir val="col"/>
        <c:grouping val="stacked"/>
        <c:varyColors val="0"/>
        <c:ser>
          <c:idx val="0"/>
          <c:order val="0"/>
          <c:tx>
            <c:strRef>
              <c:f>Sheet1!$B$1</c:f>
              <c:strCache>
                <c:ptCount val="1"/>
                <c:pt idx="0">
                  <c:v>Other satellites</c:v>
                </c:pt>
              </c:strCache>
            </c:strRef>
          </c:tx>
          <c:spPr>
            <a:solidFill>
              <a:srgbClr val="2F5D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lvl>
              </c:multiLvlStrCache>
            </c:multiLvlStrRef>
          </c:cat>
          <c:val>
            <c:numRef>
              <c:f>Sheet1!$B$2:$B$18</c:f>
              <c:numCache>
                <c:formatCode>General</c:formatCode>
                <c:ptCount val="17"/>
                <c:pt idx="0">
                  <c:v>117</c:v>
                </c:pt>
                <c:pt idx="1">
                  <c:v>123</c:v>
                </c:pt>
                <c:pt idx="2">
                  <c:v>126</c:v>
                </c:pt>
                <c:pt idx="3">
                  <c:v>199</c:v>
                </c:pt>
                <c:pt idx="4">
                  <c:v>189</c:v>
                </c:pt>
                <c:pt idx="5">
                  <c:v>172</c:v>
                </c:pt>
                <c:pt idx="6">
                  <c:v>174</c:v>
                </c:pt>
                <c:pt idx="7">
                  <c:v>390</c:v>
                </c:pt>
                <c:pt idx="8">
                  <c:v>400</c:v>
                </c:pt>
                <c:pt idx="9">
                  <c:v>330</c:v>
                </c:pt>
                <c:pt idx="10">
                  <c:v>396</c:v>
                </c:pt>
                <c:pt idx="11">
                  <c:v>775</c:v>
                </c:pt>
                <c:pt idx="12">
                  <c:v>697</c:v>
                </c:pt>
                <c:pt idx="13">
                  <c:v>876</c:v>
                </c:pt>
                <c:pt idx="14">
                  <c:v>823</c:v>
                </c:pt>
                <c:pt idx="15">
                  <c:v>1311</c:v>
                </c:pt>
                <c:pt idx="16">
                  <c:v>1089</c:v>
                </c:pt>
              </c:numCache>
            </c:numRef>
          </c:val>
        </c:ser>
        <c:ser>
          <c:idx val="1"/>
          <c:order val="1"/>
          <c:tx>
            <c:strRef>
              <c:f>Sheet1!$C$1</c:f>
              <c:strCache>
                <c:ptCount val="1"/>
                <c:pt idx="0">
                  <c:v>Starlink</c:v>
                </c:pt>
              </c:strCache>
            </c:strRef>
          </c:tx>
          <c:spPr>
            <a:solidFill>
              <a:srgbClr val="C039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lvl>
              </c:multiLvlStrCache>
            </c:multiLvlStrRef>
          </c:cat>
          <c:val>
            <c:numRef>
              <c:f>Sheet1!$C$2:$C$18</c:f>
              <c:numCache>
                <c:formatCode>General</c:formatCode>
                <c:ptCount val="17"/>
                <c:pt idx="0">
                  <c:v>0</c:v>
                </c:pt>
                <c:pt idx="1">
                  <c:v>0</c:v>
                </c:pt>
                <c:pt idx="2">
                  <c:v>0</c:v>
                </c:pt>
                <c:pt idx="3">
                  <c:v>0</c:v>
                </c:pt>
                <c:pt idx="4">
                  <c:v>0</c:v>
                </c:pt>
                <c:pt idx="5">
                  <c:v>0</c:v>
                </c:pt>
                <c:pt idx="6">
                  <c:v>0</c:v>
                </c:pt>
                <c:pt idx="7">
                  <c:v>0</c:v>
                </c:pt>
                <c:pt idx="8">
                  <c:v>0</c:v>
                </c:pt>
                <c:pt idx="9">
                  <c:v>120</c:v>
                </c:pt>
                <c:pt idx="10">
                  <c:v>833</c:v>
                </c:pt>
                <c:pt idx="11">
                  <c:v>989</c:v>
                </c:pt>
                <c:pt idx="12">
                  <c:v>1690</c:v>
                </c:pt>
                <c:pt idx="13">
                  <c:v>1984</c:v>
                </c:pt>
                <c:pt idx="14">
                  <c:v>1964</c:v>
                </c:pt>
                <c:pt idx="15">
                  <c:v>3169</c:v>
                </c:pt>
                <c:pt idx="16">
                  <c:v>2141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Share of working satellites by country (%)</a:t>
            </a:r>
          </a:p>
        </c:rich>
      </c:tx>
      <c:layout/>
      <c:overlay val="0"/>
    </c:title>
    <c:autoTitleDeleted val="0"/>
    <c:plotArea>
      <c:layout/>
      <c:barChart>
        <c:barDir val="col"/>
        <c:grouping val="clustered"/>
        <c:varyColors val="0"/>
        <c:ser>
          <c:idx val="0"/>
          <c:order val="0"/>
          <c:tx>
            <c:strRef>
              <c:f>Sheet1!$B$1</c:f>
              <c:strCache>
                <c:ptCount val="1"/>
                <c:pt idx="0">
                  <c:v>Jan 2014</c:v>
                </c:pt>
              </c:strCache>
            </c:strRef>
          </c:tx>
          <c:spPr>
            <a:solidFill>
              <a:srgbClr val="9AA3AE"/>
            </a:solidFill>
            <a:effectLst/>
          </c:spPr>
          <c:invertIfNegative val="0"/>
          <c:dLbls>
            <c:numFmt formatCode="0.0" sourceLinked="0"/>
            <c:txPr>
              <a:bodyPr/>
              <a:lstStyle/>
              <a:p>
                <a:pPr>
                  <a:defRPr b="0" i="0" strike="noStrike" sz="1000" u="none">
                    <a:solidFill>
                      <a:srgbClr val="1B2433"/>
                    </a:solidFill>
                    <a:latin typeface="Arial"/>
                  </a:defRPr>
                </a:pPr>
              </a:p>
            </c:txPr>
            <c:showLegendKey val="0"/>
            <c:showVal val="1"/>
            <c:showCatName val="0"/>
            <c:showSerName val="0"/>
            <c:showPercent val="0"/>
            <c:showBubbleSize val="0"/>
            <c:showLeaderLines val="0"/>
          </c:dLbls>
          <c:cat>
            <c:multiLvlStrRef>
              <c:f>Sheet1!$A$2:$A$7</c:f>
              <c:multiLvlStrCache>
                <c:ptCount val="6"/>
                <c:lvl>
                  <c:pt idx="0">
                    <c:v>USA</c:v>
                  </c:pt>
                  <c:pt idx="1">
                    <c:v>China</c:v>
                  </c:pt>
                  <c:pt idx="2">
                    <c:v>Russia</c:v>
                  </c:pt>
                  <c:pt idx="3">
                    <c:v>UK</c:v>
                  </c:pt>
                  <c:pt idx="4">
                    <c:v>Japan</c:v>
                  </c:pt>
                  <c:pt idx="5">
                    <c:v>India</c:v>
                  </c:pt>
                </c:lvl>
              </c:multiLvlStrCache>
            </c:multiLvlStrRef>
          </c:cat>
          <c:val>
            <c:numRef>
              <c:f>Sheet1!$B$2:$B$7</c:f>
              <c:numCache>
                <c:formatCode>General</c:formatCode>
                <c:ptCount val="6"/>
                <c:pt idx="0">
                  <c:v>43</c:v>
                </c:pt>
                <c:pt idx="1">
                  <c:v>10</c:v>
                </c:pt>
                <c:pt idx="2">
                  <c:v>10.1</c:v>
                </c:pt>
                <c:pt idx="3">
                  <c:v>2.1</c:v>
                </c:pt>
                <c:pt idx="4">
                  <c:v>3.7</c:v>
                </c:pt>
                <c:pt idx="5">
                  <c:v>2.8</c:v>
                </c:pt>
              </c:numCache>
            </c:numRef>
          </c:val>
        </c:ser>
        <c:ser>
          <c:idx val="1"/>
          <c:order val="1"/>
          <c:tx>
            <c:strRef>
              <c:f>Sheet1!$C$1</c:f>
              <c:strCache>
                <c:ptCount val="1"/>
                <c:pt idx="0">
                  <c:v>Sep 2026</c:v>
                </c:pt>
              </c:strCache>
            </c:strRef>
          </c:tx>
          <c:spPr>
            <a:solidFill>
              <a:srgbClr val="0B1D3A"/>
            </a:solidFill>
            <a:effectLst/>
          </c:spPr>
          <c:invertIfNegative val="0"/>
          <c:dLbls>
            <c:numFmt formatCode="0.0" sourceLinked="0"/>
            <c:txPr>
              <a:bodyPr/>
              <a:lstStyle/>
              <a:p>
                <a:pPr>
                  <a:defRPr b="0" i="0" strike="noStrike" sz="1000" u="none">
                    <a:solidFill>
                      <a:srgbClr val="1B2433"/>
                    </a:solidFill>
                    <a:latin typeface="Arial"/>
                  </a:defRPr>
                </a:pPr>
              </a:p>
            </c:txPr>
            <c:showLegendKey val="0"/>
            <c:showVal val="1"/>
            <c:showCatName val="0"/>
            <c:showSerName val="0"/>
            <c:showPercent val="0"/>
            <c:showBubbleSize val="0"/>
            <c:showLeaderLines val="0"/>
          </c:dLbls>
          <c:cat>
            <c:multiLvlStrRef>
              <c:f>Sheet1!$A$2:$A$7</c:f>
              <c:multiLvlStrCache>
                <c:ptCount val="6"/>
                <c:lvl>
                  <c:pt idx="0">
                    <c:v>USA</c:v>
                  </c:pt>
                  <c:pt idx="1">
                    <c:v>China</c:v>
                  </c:pt>
                  <c:pt idx="2">
                    <c:v>Russia</c:v>
                  </c:pt>
                  <c:pt idx="3">
                    <c:v>UK</c:v>
                  </c:pt>
                  <c:pt idx="4">
                    <c:v>Japan</c:v>
                  </c:pt>
                  <c:pt idx="5">
                    <c:v>India</c:v>
                  </c:pt>
                </c:lvl>
              </c:multiLvlStrCache>
            </c:multiLvlStrRef>
          </c:cat>
          <c:val>
            <c:numRef>
              <c:f>Sheet1!$C$2:$C$7</c:f>
              <c:numCache>
                <c:formatCode>General</c:formatCode>
                <c:ptCount val="6"/>
                <c:pt idx="0">
                  <c:v>76</c:v>
                </c:pt>
                <c:pt idx="1">
                  <c:v>9</c:v>
                </c:pt>
                <c:pt idx="2">
                  <c:v>2.2</c:v>
                </c:pt>
                <c:pt idx="3">
                  <c:v>4.1</c:v>
                </c:pt>
                <c:pt idx="4">
                  <c:v>0.9</c:v>
                </c:pt>
                <c:pt idx="5">
                  <c:v>0.5</c:v>
                </c:pt>
              </c:numCache>
            </c:numRef>
          </c:val>
        </c:ser>
        <c:dLbls>
          <c:numFmt formatCode="0.0" sourceLinked="0"/>
          <c:txPr>
            <a:bodyPr/>
            <a:lstStyle/>
            <a:p>
              <a:pPr>
                <a:defRPr b="0" i="0" strike="noStrike" sz="10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title>
          <c:tx>
            <c:rich>
              <a:bodyPr/>
              <a:lstStyle/>
              <a:p>
                <a:pPr>
                  <a:defRPr sz="1000" b="0" i="0" u="none" strike="noStrike">
                    <a:solidFill>
                      <a:srgbClr val="5B6573"/>
                    </a:solidFill>
                    <a:latin typeface="Arial"/>
                  </a:defRPr>
                </a:pPr>
                <a:r>
                  <a:rPr sz="1000" b="0" i="0" u="none" strike="noStrike">
                    <a:solidFill>
                      <a:srgbClr val="5B6573"/>
                    </a:solidFill>
                    <a:latin typeface="Arial"/>
                  </a:rPr>
                  <a:t>% of working satellites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Objects in low orbit by altitude (km, 25 km shells), Sep 2026</a:t>
            </a:r>
          </a:p>
        </c:rich>
      </c:tx>
      <c:layout/>
      <c:overlay val="0"/>
    </c:title>
    <c:autoTitleDeleted val="0"/>
    <c:plotArea>
      <c:layout/>
      <c:barChart>
        <c:barDir val="col"/>
        <c:grouping val="stacked"/>
        <c:varyColors val="0"/>
        <c:ser>
          <c:idx val="0"/>
          <c:order val="0"/>
          <c:tx>
            <c:strRef>
              <c:f>Sheet1!$B$1</c:f>
              <c:strCache>
                <c:ptCount val="1"/>
                <c:pt idx="0">
                  <c:v>Working satellites</c:v>
                </c:pt>
              </c:strCache>
            </c:strRef>
          </c:tx>
          <c:spPr>
            <a:solidFill>
              <a:srgbClr val="2F5D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Sheet1!$A$2:$A$53</c:f>
              <c:multiLvlStrCache>
                <c:ptCount val="52"/>
                <c:lvl>
                  <c:pt idx="0">
                    <c:v>200</c:v>
                  </c:pt>
                  <c:pt idx="1">
                    <c:v>225</c:v>
                  </c:pt>
                  <c:pt idx="2">
                    <c:v>250</c:v>
                  </c:pt>
                  <c:pt idx="3">
                    <c:v>275</c:v>
                  </c:pt>
                  <c:pt idx="4">
                    <c:v>300</c:v>
                  </c:pt>
                  <c:pt idx="5">
                    <c:v>325</c:v>
                  </c:pt>
                  <c:pt idx="6">
                    <c:v>350</c:v>
                  </c:pt>
                  <c:pt idx="7">
                    <c:v>375</c:v>
                  </c:pt>
                  <c:pt idx="8">
                    <c:v>400</c:v>
                  </c:pt>
                  <c:pt idx="9">
                    <c:v>425</c:v>
                  </c:pt>
                  <c:pt idx="10">
                    <c:v>450</c:v>
                  </c:pt>
                  <c:pt idx="11">
                    <c:v>475</c:v>
                  </c:pt>
                  <c:pt idx="12">
                    <c:v>500</c:v>
                  </c:pt>
                  <c:pt idx="13">
                    <c:v>525</c:v>
                  </c:pt>
                  <c:pt idx="14">
                    <c:v>550</c:v>
                  </c:pt>
                  <c:pt idx="15">
                    <c:v>575</c:v>
                  </c:pt>
                  <c:pt idx="16">
                    <c:v>600</c:v>
                  </c:pt>
                  <c:pt idx="17">
                    <c:v>625</c:v>
                  </c:pt>
                  <c:pt idx="18">
                    <c:v>650</c:v>
                  </c:pt>
                  <c:pt idx="19">
                    <c:v>675</c:v>
                  </c:pt>
                  <c:pt idx="20">
                    <c:v>700</c:v>
                  </c:pt>
                  <c:pt idx="21">
                    <c:v>725</c:v>
                  </c:pt>
                  <c:pt idx="22">
                    <c:v>750</c:v>
                  </c:pt>
                  <c:pt idx="23">
                    <c:v>775</c:v>
                  </c:pt>
                  <c:pt idx="24">
                    <c:v>800</c:v>
                  </c:pt>
                  <c:pt idx="25">
                    <c:v>825</c:v>
                  </c:pt>
                  <c:pt idx="26">
                    <c:v>850</c:v>
                  </c:pt>
                  <c:pt idx="27">
                    <c:v>875</c:v>
                  </c:pt>
                  <c:pt idx="28">
                    <c:v>900</c:v>
                  </c:pt>
                  <c:pt idx="29">
                    <c:v>925</c:v>
                  </c:pt>
                  <c:pt idx="30">
                    <c:v>950</c:v>
                  </c:pt>
                  <c:pt idx="31">
                    <c:v>975</c:v>
                  </c:pt>
                  <c:pt idx="32">
                    <c:v>1000</c:v>
                  </c:pt>
                  <c:pt idx="33">
                    <c:v>1025</c:v>
                  </c:pt>
                  <c:pt idx="34">
                    <c:v>1050</c:v>
                  </c:pt>
                  <c:pt idx="35">
                    <c:v>1075</c:v>
                  </c:pt>
                  <c:pt idx="36">
                    <c:v>1100</c:v>
                  </c:pt>
                  <c:pt idx="37">
                    <c:v>1125</c:v>
                  </c:pt>
                  <c:pt idx="38">
                    <c:v>1150</c:v>
                  </c:pt>
                  <c:pt idx="39">
                    <c:v>1175</c:v>
                  </c:pt>
                  <c:pt idx="40">
                    <c:v>1200</c:v>
                  </c:pt>
                  <c:pt idx="41">
                    <c:v>1225</c:v>
                  </c:pt>
                  <c:pt idx="42">
                    <c:v>1250</c:v>
                  </c:pt>
                  <c:pt idx="43">
                    <c:v>1275</c:v>
                  </c:pt>
                  <c:pt idx="44">
                    <c:v>1300</c:v>
                  </c:pt>
                  <c:pt idx="45">
                    <c:v>1325</c:v>
                  </c:pt>
                  <c:pt idx="46">
                    <c:v>1350</c:v>
                  </c:pt>
                  <c:pt idx="47">
                    <c:v>1375</c:v>
                  </c:pt>
                  <c:pt idx="48">
                    <c:v>1400</c:v>
                  </c:pt>
                  <c:pt idx="49">
                    <c:v>1425</c:v>
                  </c:pt>
                  <c:pt idx="50">
                    <c:v>1450</c:v>
                  </c:pt>
                  <c:pt idx="51">
                    <c:v>1475</c:v>
                  </c:pt>
                </c:lvl>
              </c:multiLvlStrCache>
            </c:multiLvlStrRef>
          </c:cat>
          <c:val>
            <c:numRef>
              <c:f>Sheet1!$B$2:$B$53</c:f>
              <c:numCache>
                <c:formatCode>General</c:formatCode>
                <c:ptCount val="52"/>
                <c:pt idx="0">
                  <c:v>6</c:v>
                </c:pt>
                <c:pt idx="1">
                  <c:v>10</c:v>
                </c:pt>
                <c:pt idx="2">
                  <c:v>54</c:v>
                </c:pt>
                <c:pt idx="3">
                  <c:v>23</c:v>
                </c:pt>
                <c:pt idx="4">
                  <c:v>82</c:v>
                </c:pt>
                <c:pt idx="5">
                  <c:v>187</c:v>
                </c:pt>
                <c:pt idx="6">
                  <c:v>753</c:v>
                </c:pt>
                <c:pt idx="7">
                  <c:v>99</c:v>
                </c:pt>
                <c:pt idx="8">
                  <c:v>272</c:v>
                </c:pt>
                <c:pt idx="9">
                  <c:v>275</c:v>
                </c:pt>
                <c:pt idx="10">
                  <c:v>5979</c:v>
                </c:pt>
                <c:pt idx="11">
                  <c:v>3843</c:v>
                </c:pt>
                <c:pt idx="12">
                  <c:v>523</c:v>
                </c:pt>
                <c:pt idx="13">
                  <c:v>457</c:v>
                </c:pt>
                <c:pt idx="14">
                  <c:v>556</c:v>
                </c:pt>
                <c:pt idx="15">
                  <c:v>504</c:v>
                </c:pt>
                <c:pt idx="16">
                  <c:v>170</c:v>
                </c:pt>
                <c:pt idx="17">
                  <c:v>443</c:v>
                </c:pt>
                <c:pt idx="18">
                  <c:v>54</c:v>
                </c:pt>
                <c:pt idx="19">
                  <c:v>83</c:v>
                </c:pt>
                <c:pt idx="20">
                  <c:v>23</c:v>
                </c:pt>
                <c:pt idx="21">
                  <c:v>23</c:v>
                </c:pt>
                <c:pt idx="22">
                  <c:v>29</c:v>
                </c:pt>
                <c:pt idx="23">
                  <c:v>125</c:v>
                </c:pt>
                <c:pt idx="24">
                  <c:v>54</c:v>
                </c:pt>
                <c:pt idx="25">
                  <c:v>30</c:v>
                </c:pt>
                <c:pt idx="26">
                  <c:v>18</c:v>
                </c:pt>
                <c:pt idx="27">
                  <c:v>44</c:v>
                </c:pt>
                <c:pt idx="28">
                  <c:v>47</c:v>
                </c:pt>
                <c:pt idx="29">
                  <c:v>55</c:v>
                </c:pt>
                <c:pt idx="30">
                  <c:v>51</c:v>
                </c:pt>
                <c:pt idx="31">
                  <c:v>15</c:v>
                </c:pt>
                <c:pt idx="32">
                  <c:v>2</c:v>
                </c:pt>
                <c:pt idx="33">
                  <c:v>20</c:v>
                </c:pt>
                <c:pt idx="34">
                  <c:v>201</c:v>
                </c:pt>
                <c:pt idx="35">
                  <c:v>42</c:v>
                </c:pt>
                <c:pt idx="36">
                  <c:v>30</c:v>
                </c:pt>
                <c:pt idx="37">
                  <c:v>128</c:v>
                </c:pt>
                <c:pt idx="38">
                  <c:v>65</c:v>
                </c:pt>
                <c:pt idx="39">
                  <c:v>318</c:v>
                </c:pt>
                <c:pt idx="40">
                  <c:v>336</c:v>
                </c:pt>
                <c:pt idx="41">
                  <c:v>2</c:v>
                </c:pt>
                <c:pt idx="42">
                  <c:v>0</c:v>
                </c:pt>
                <c:pt idx="43">
                  <c:v>0</c:v>
                </c:pt>
                <c:pt idx="44">
                  <c:v>1</c:v>
                </c:pt>
                <c:pt idx="45">
                  <c:v>3</c:v>
                </c:pt>
                <c:pt idx="46">
                  <c:v>0</c:v>
                </c:pt>
                <c:pt idx="47">
                  <c:v>0</c:v>
                </c:pt>
                <c:pt idx="48">
                  <c:v>26</c:v>
                </c:pt>
                <c:pt idx="49">
                  <c:v>3</c:v>
                </c:pt>
                <c:pt idx="50">
                  <c:v>0</c:v>
                </c:pt>
                <c:pt idx="51">
                  <c:v>59</c:v>
                </c:pt>
              </c:numCache>
            </c:numRef>
          </c:val>
        </c:ser>
        <c:ser>
          <c:idx val="1"/>
          <c:order val="1"/>
          <c:tx>
            <c:strRef>
              <c:f>Sheet1!$C$1</c:f>
              <c:strCache>
                <c:ptCount val="1"/>
                <c:pt idx="0">
                  <c:v>Debris</c:v>
                </c:pt>
              </c:strCache>
            </c:strRef>
          </c:tx>
          <c:spPr>
            <a:solidFill>
              <a:srgbClr val="C039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Sheet1!$A$2:$A$53</c:f>
              <c:multiLvlStrCache>
                <c:ptCount val="52"/>
                <c:lvl>
                  <c:pt idx="0">
                    <c:v>200</c:v>
                  </c:pt>
                  <c:pt idx="1">
                    <c:v>225</c:v>
                  </c:pt>
                  <c:pt idx="2">
                    <c:v>250</c:v>
                  </c:pt>
                  <c:pt idx="3">
                    <c:v>275</c:v>
                  </c:pt>
                  <c:pt idx="4">
                    <c:v>300</c:v>
                  </c:pt>
                  <c:pt idx="5">
                    <c:v>325</c:v>
                  </c:pt>
                  <c:pt idx="6">
                    <c:v>350</c:v>
                  </c:pt>
                  <c:pt idx="7">
                    <c:v>375</c:v>
                  </c:pt>
                  <c:pt idx="8">
                    <c:v>400</c:v>
                  </c:pt>
                  <c:pt idx="9">
                    <c:v>425</c:v>
                  </c:pt>
                  <c:pt idx="10">
                    <c:v>450</c:v>
                  </c:pt>
                  <c:pt idx="11">
                    <c:v>475</c:v>
                  </c:pt>
                  <c:pt idx="12">
                    <c:v>500</c:v>
                  </c:pt>
                  <c:pt idx="13">
                    <c:v>525</c:v>
                  </c:pt>
                  <c:pt idx="14">
                    <c:v>550</c:v>
                  </c:pt>
                  <c:pt idx="15">
                    <c:v>575</c:v>
                  </c:pt>
                  <c:pt idx="16">
                    <c:v>600</c:v>
                  </c:pt>
                  <c:pt idx="17">
                    <c:v>625</c:v>
                  </c:pt>
                  <c:pt idx="18">
                    <c:v>650</c:v>
                  </c:pt>
                  <c:pt idx="19">
                    <c:v>675</c:v>
                  </c:pt>
                  <c:pt idx="20">
                    <c:v>700</c:v>
                  </c:pt>
                  <c:pt idx="21">
                    <c:v>725</c:v>
                  </c:pt>
                  <c:pt idx="22">
                    <c:v>750</c:v>
                  </c:pt>
                  <c:pt idx="23">
                    <c:v>775</c:v>
                  </c:pt>
                  <c:pt idx="24">
                    <c:v>800</c:v>
                  </c:pt>
                  <c:pt idx="25">
                    <c:v>825</c:v>
                  </c:pt>
                  <c:pt idx="26">
                    <c:v>850</c:v>
                  </c:pt>
                  <c:pt idx="27">
                    <c:v>875</c:v>
                  </c:pt>
                  <c:pt idx="28">
                    <c:v>900</c:v>
                  </c:pt>
                  <c:pt idx="29">
                    <c:v>925</c:v>
                  </c:pt>
                  <c:pt idx="30">
                    <c:v>950</c:v>
                  </c:pt>
                  <c:pt idx="31">
                    <c:v>975</c:v>
                  </c:pt>
                  <c:pt idx="32">
                    <c:v>1000</c:v>
                  </c:pt>
                  <c:pt idx="33">
                    <c:v>1025</c:v>
                  </c:pt>
                  <c:pt idx="34">
                    <c:v>1050</c:v>
                  </c:pt>
                  <c:pt idx="35">
                    <c:v>1075</c:v>
                  </c:pt>
                  <c:pt idx="36">
                    <c:v>1100</c:v>
                  </c:pt>
                  <c:pt idx="37">
                    <c:v>1125</c:v>
                  </c:pt>
                  <c:pt idx="38">
                    <c:v>1150</c:v>
                  </c:pt>
                  <c:pt idx="39">
                    <c:v>1175</c:v>
                  </c:pt>
                  <c:pt idx="40">
                    <c:v>1200</c:v>
                  </c:pt>
                  <c:pt idx="41">
                    <c:v>1225</c:v>
                  </c:pt>
                  <c:pt idx="42">
                    <c:v>1250</c:v>
                  </c:pt>
                  <c:pt idx="43">
                    <c:v>1275</c:v>
                  </c:pt>
                  <c:pt idx="44">
                    <c:v>1300</c:v>
                  </c:pt>
                  <c:pt idx="45">
                    <c:v>1325</c:v>
                  </c:pt>
                  <c:pt idx="46">
                    <c:v>1350</c:v>
                  </c:pt>
                  <c:pt idx="47">
                    <c:v>1375</c:v>
                  </c:pt>
                  <c:pt idx="48">
                    <c:v>1400</c:v>
                  </c:pt>
                  <c:pt idx="49">
                    <c:v>1425</c:v>
                  </c:pt>
                  <c:pt idx="50">
                    <c:v>1450</c:v>
                  </c:pt>
                  <c:pt idx="51">
                    <c:v>1475</c:v>
                  </c:pt>
                </c:lvl>
              </c:multiLvlStrCache>
            </c:multiLvlStrRef>
          </c:cat>
          <c:val>
            <c:numRef>
              <c:f>Sheet1!$C$2:$C$53</c:f>
              <c:numCache>
                <c:formatCode>General</c:formatCode>
                <c:ptCount val="52"/>
                <c:pt idx="0">
                  <c:v>0</c:v>
                </c:pt>
                <c:pt idx="1">
                  <c:v>1</c:v>
                </c:pt>
                <c:pt idx="2">
                  <c:v>1</c:v>
                </c:pt>
                <c:pt idx="3">
                  <c:v>6</c:v>
                </c:pt>
                <c:pt idx="4">
                  <c:v>2</c:v>
                </c:pt>
                <c:pt idx="5">
                  <c:v>4</c:v>
                </c:pt>
                <c:pt idx="6">
                  <c:v>6</c:v>
                </c:pt>
                <c:pt idx="7">
                  <c:v>10</c:v>
                </c:pt>
                <c:pt idx="8">
                  <c:v>14</c:v>
                </c:pt>
                <c:pt idx="9">
                  <c:v>24</c:v>
                </c:pt>
                <c:pt idx="10">
                  <c:v>28</c:v>
                </c:pt>
                <c:pt idx="11">
                  <c:v>33</c:v>
                </c:pt>
                <c:pt idx="12">
                  <c:v>52</c:v>
                </c:pt>
                <c:pt idx="13">
                  <c:v>67</c:v>
                </c:pt>
                <c:pt idx="14">
                  <c:v>92</c:v>
                </c:pt>
                <c:pt idx="15">
                  <c:v>131</c:v>
                </c:pt>
                <c:pt idx="16">
                  <c:v>159</c:v>
                </c:pt>
                <c:pt idx="17">
                  <c:v>223</c:v>
                </c:pt>
                <c:pt idx="18">
                  <c:v>263</c:v>
                </c:pt>
                <c:pt idx="19">
                  <c:v>377</c:v>
                </c:pt>
                <c:pt idx="20">
                  <c:v>424</c:v>
                </c:pt>
                <c:pt idx="21">
                  <c:v>494</c:v>
                </c:pt>
                <c:pt idx="22">
                  <c:v>583</c:v>
                </c:pt>
                <c:pt idx="23">
                  <c:v>656</c:v>
                </c:pt>
                <c:pt idx="24">
                  <c:v>692</c:v>
                </c:pt>
                <c:pt idx="25">
                  <c:v>670</c:v>
                </c:pt>
                <c:pt idx="26">
                  <c:v>645</c:v>
                </c:pt>
                <c:pt idx="27">
                  <c:v>510</c:v>
                </c:pt>
                <c:pt idx="28">
                  <c:v>371</c:v>
                </c:pt>
                <c:pt idx="29">
                  <c:v>320</c:v>
                </c:pt>
                <c:pt idx="30">
                  <c:v>285</c:v>
                </c:pt>
                <c:pt idx="31">
                  <c:v>282</c:v>
                </c:pt>
                <c:pt idx="32">
                  <c:v>201</c:v>
                </c:pt>
                <c:pt idx="33">
                  <c:v>181</c:v>
                </c:pt>
                <c:pt idx="34">
                  <c:v>143</c:v>
                </c:pt>
                <c:pt idx="35">
                  <c:v>133</c:v>
                </c:pt>
                <c:pt idx="36">
                  <c:v>125</c:v>
                </c:pt>
                <c:pt idx="37">
                  <c:v>114</c:v>
                </c:pt>
                <c:pt idx="38">
                  <c:v>85</c:v>
                </c:pt>
                <c:pt idx="39">
                  <c:v>73</c:v>
                </c:pt>
                <c:pt idx="40">
                  <c:v>64</c:v>
                </c:pt>
                <c:pt idx="41">
                  <c:v>59</c:v>
                </c:pt>
                <c:pt idx="42">
                  <c:v>165</c:v>
                </c:pt>
                <c:pt idx="43">
                  <c:v>129</c:v>
                </c:pt>
                <c:pt idx="44">
                  <c:v>49</c:v>
                </c:pt>
                <c:pt idx="45">
                  <c:v>61</c:v>
                </c:pt>
                <c:pt idx="46">
                  <c:v>58</c:v>
                </c:pt>
                <c:pt idx="47">
                  <c:v>51</c:v>
                </c:pt>
                <c:pt idx="48">
                  <c:v>59</c:v>
                </c:pt>
                <c:pt idx="49">
                  <c:v>67</c:v>
                </c:pt>
                <c:pt idx="50">
                  <c:v>68</c:v>
                </c:pt>
                <c:pt idx="51">
                  <c:v>109</c:v>
                </c:pt>
              </c:numCache>
            </c:numRef>
          </c:val>
        </c:ser>
        <c:ser>
          <c:idx val="2"/>
          <c:order val="2"/>
          <c:tx>
            <c:strRef>
              <c:f>Sheet1!$D$1</c:f>
              <c:strCache>
                <c:ptCount val="1"/>
                <c:pt idx="0">
                  <c:v>Dead satellites and rocket bodies</c:v>
                </c:pt>
              </c:strCache>
            </c:strRef>
          </c:tx>
          <c:spPr>
            <a:solidFill>
              <a:srgbClr val="9AA3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Sheet1!$A$2:$A$53</c:f>
              <c:multiLvlStrCache>
                <c:ptCount val="52"/>
                <c:lvl>
                  <c:pt idx="0">
                    <c:v>200</c:v>
                  </c:pt>
                  <c:pt idx="1">
                    <c:v>225</c:v>
                  </c:pt>
                  <c:pt idx="2">
                    <c:v>250</c:v>
                  </c:pt>
                  <c:pt idx="3">
                    <c:v>275</c:v>
                  </c:pt>
                  <c:pt idx="4">
                    <c:v>300</c:v>
                  </c:pt>
                  <c:pt idx="5">
                    <c:v>325</c:v>
                  </c:pt>
                  <c:pt idx="6">
                    <c:v>350</c:v>
                  </c:pt>
                  <c:pt idx="7">
                    <c:v>375</c:v>
                  </c:pt>
                  <c:pt idx="8">
                    <c:v>400</c:v>
                  </c:pt>
                  <c:pt idx="9">
                    <c:v>425</c:v>
                  </c:pt>
                  <c:pt idx="10">
                    <c:v>450</c:v>
                  </c:pt>
                  <c:pt idx="11">
                    <c:v>475</c:v>
                  </c:pt>
                  <c:pt idx="12">
                    <c:v>500</c:v>
                  </c:pt>
                  <c:pt idx="13">
                    <c:v>525</c:v>
                  </c:pt>
                  <c:pt idx="14">
                    <c:v>550</c:v>
                  </c:pt>
                  <c:pt idx="15">
                    <c:v>575</c:v>
                  </c:pt>
                  <c:pt idx="16">
                    <c:v>600</c:v>
                  </c:pt>
                  <c:pt idx="17">
                    <c:v>625</c:v>
                  </c:pt>
                  <c:pt idx="18">
                    <c:v>650</c:v>
                  </c:pt>
                  <c:pt idx="19">
                    <c:v>675</c:v>
                  </c:pt>
                  <c:pt idx="20">
                    <c:v>700</c:v>
                  </c:pt>
                  <c:pt idx="21">
                    <c:v>725</c:v>
                  </c:pt>
                  <c:pt idx="22">
                    <c:v>750</c:v>
                  </c:pt>
                  <c:pt idx="23">
                    <c:v>775</c:v>
                  </c:pt>
                  <c:pt idx="24">
                    <c:v>800</c:v>
                  </c:pt>
                  <c:pt idx="25">
                    <c:v>825</c:v>
                  </c:pt>
                  <c:pt idx="26">
                    <c:v>850</c:v>
                  </c:pt>
                  <c:pt idx="27">
                    <c:v>875</c:v>
                  </c:pt>
                  <c:pt idx="28">
                    <c:v>900</c:v>
                  </c:pt>
                  <c:pt idx="29">
                    <c:v>925</c:v>
                  </c:pt>
                  <c:pt idx="30">
                    <c:v>950</c:v>
                  </c:pt>
                  <c:pt idx="31">
                    <c:v>975</c:v>
                  </c:pt>
                  <c:pt idx="32">
                    <c:v>1000</c:v>
                  </c:pt>
                  <c:pt idx="33">
                    <c:v>1025</c:v>
                  </c:pt>
                  <c:pt idx="34">
                    <c:v>1050</c:v>
                  </c:pt>
                  <c:pt idx="35">
                    <c:v>1075</c:v>
                  </c:pt>
                  <c:pt idx="36">
                    <c:v>1100</c:v>
                  </c:pt>
                  <c:pt idx="37">
                    <c:v>1125</c:v>
                  </c:pt>
                  <c:pt idx="38">
                    <c:v>1150</c:v>
                  </c:pt>
                  <c:pt idx="39">
                    <c:v>1175</c:v>
                  </c:pt>
                  <c:pt idx="40">
                    <c:v>1200</c:v>
                  </c:pt>
                  <c:pt idx="41">
                    <c:v>1225</c:v>
                  </c:pt>
                  <c:pt idx="42">
                    <c:v>1250</c:v>
                  </c:pt>
                  <c:pt idx="43">
                    <c:v>1275</c:v>
                  </c:pt>
                  <c:pt idx="44">
                    <c:v>1300</c:v>
                  </c:pt>
                  <c:pt idx="45">
                    <c:v>1325</c:v>
                  </c:pt>
                  <c:pt idx="46">
                    <c:v>1350</c:v>
                  </c:pt>
                  <c:pt idx="47">
                    <c:v>1375</c:v>
                  </c:pt>
                  <c:pt idx="48">
                    <c:v>1400</c:v>
                  </c:pt>
                  <c:pt idx="49">
                    <c:v>1425</c:v>
                  </c:pt>
                  <c:pt idx="50">
                    <c:v>1450</c:v>
                  </c:pt>
                  <c:pt idx="51">
                    <c:v>1475</c:v>
                  </c:pt>
                </c:lvl>
              </c:multiLvlStrCache>
            </c:multiLvlStrRef>
          </c:cat>
          <c:val>
            <c:numRef>
              <c:f>Sheet1!$D$2:$D$53</c:f>
              <c:numCache>
                <c:formatCode>General</c:formatCode>
                <c:ptCount val="52"/>
                <c:pt idx="0">
                  <c:v>3</c:v>
                </c:pt>
                <c:pt idx="1">
                  <c:v>3</c:v>
                </c:pt>
                <c:pt idx="2">
                  <c:v>2</c:v>
                </c:pt>
                <c:pt idx="3">
                  <c:v>6</c:v>
                </c:pt>
                <c:pt idx="4">
                  <c:v>9</c:v>
                </c:pt>
                <c:pt idx="5">
                  <c:v>11</c:v>
                </c:pt>
                <c:pt idx="6">
                  <c:v>16</c:v>
                </c:pt>
                <c:pt idx="7">
                  <c:v>18</c:v>
                </c:pt>
                <c:pt idx="8">
                  <c:v>19</c:v>
                </c:pt>
                <c:pt idx="9">
                  <c:v>27</c:v>
                </c:pt>
                <c:pt idx="10">
                  <c:v>45</c:v>
                </c:pt>
                <c:pt idx="11">
                  <c:v>36</c:v>
                </c:pt>
                <c:pt idx="12">
                  <c:v>31</c:v>
                </c:pt>
                <c:pt idx="13">
                  <c:v>46</c:v>
                </c:pt>
                <c:pt idx="14">
                  <c:v>56</c:v>
                </c:pt>
                <c:pt idx="15">
                  <c:v>53</c:v>
                </c:pt>
                <c:pt idx="16">
                  <c:v>98</c:v>
                </c:pt>
                <c:pt idx="17">
                  <c:v>49</c:v>
                </c:pt>
                <c:pt idx="18">
                  <c:v>44</c:v>
                </c:pt>
                <c:pt idx="19">
                  <c:v>56</c:v>
                </c:pt>
                <c:pt idx="20">
                  <c:v>55</c:v>
                </c:pt>
                <c:pt idx="21">
                  <c:v>59</c:v>
                </c:pt>
                <c:pt idx="22">
                  <c:v>151</c:v>
                </c:pt>
                <c:pt idx="23">
                  <c:v>124</c:v>
                </c:pt>
                <c:pt idx="24">
                  <c:v>61</c:v>
                </c:pt>
                <c:pt idx="25">
                  <c:v>85</c:v>
                </c:pt>
                <c:pt idx="26">
                  <c:v>69</c:v>
                </c:pt>
                <c:pt idx="27">
                  <c:v>37</c:v>
                </c:pt>
                <c:pt idx="28">
                  <c:v>50</c:v>
                </c:pt>
                <c:pt idx="29">
                  <c:v>62</c:v>
                </c:pt>
                <c:pt idx="30">
                  <c:v>113</c:v>
                </c:pt>
                <c:pt idx="31">
                  <c:v>261</c:v>
                </c:pt>
                <c:pt idx="32">
                  <c:v>25</c:v>
                </c:pt>
                <c:pt idx="33">
                  <c:v>21</c:v>
                </c:pt>
                <c:pt idx="34">
                  <c:v>21</c:v>
                </c:pt>
                <c:pt idx="35">
                  <c:v>41</c:v>
                </c:pt>
                <c:pt idx="36">
                  <c:v>20</c:v>
                </c:pt>
                <c:pt idx="37">
                  <c:v>9</c:v>
                </c:pt>
                <c:pt idx="38">
                  <c:v>10</c:v>
                </c:pt>
                <c:pt idx="39">
                  <c:v>29</c:v>
                </c:pt>
                <c:pt idx="40">
                  <c:v>6</c:v>
                </c:pt>
                <c:pt idx="41">
                  <c:v>6</c:v>
                </c:pt>
                <c:pt idx="42">
                  <c:v>1</c:v>
                </c:pt>
                <c:pt idx="43">
                  <c:v>4</c:v>
                </c:pt>
                <c:pt idx="44">
                  <c:v>7</c:v>
                </c:pt>
                <c:pt idx="45">
                  <c:v>19</c:v>
                </c:pt>
                <c:pt idx="46">
                  <c:v>6</c:v>
                </c:pt>
                <c:pt idx="47">
                  <c:v>35</c:v>
                </c:pt>
                <c:pt idx="48">
                  <c:v>143</c:v>
                </c:pt>
                <c:pt idx="49">
                  <c:v>138</c:v>
                </c:pt>
                <c:pt idx="50">
                  <c:v>134</c:v>
                </c:pt>
                <c:pt idx="51">
                  <c:v>103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Share of catalogued debris still in orbit, Sep 2026 (%)</a:t>
            </a:r>
          </a:p>
        </c:rich>
      </c:tx>
      <c:layout/>
      <c:overlay val="0"/>
    </c:title>
    <c:autoTitleDeleted val="0"/>
    <c:plotArea>
      <c:layout/>
      <c:barChart>
        <c:barDir val="bar"/>
        <c:grouping val="clustered"/>
        <c:varyColors val="0"/>
        <c:ser>
          <c:idx val="0"/>
          <c:order val="0"/>
          <c:tx>
            <c:strRef>
              <c:f>Sheet1!$B$1</c:f>
              <c:strCache>
                <c:ptCount val="1"/>
                <c:pt idx="0">
                  <c:v>Still in orbit %</c:v>
                </c:pt>
              </c:strCache>
            </c:strRef>
          </c:tx>
          <c:spPr>
            <a:solidFill>
              <a:srgbClr val="C0392B"/>
            </a:solidFill>
            <a:effectLst/>
          </c:spPr>
          <c:invertIfNegative val="0"/>
          <c:dLbls>
            <c:numFmt formatCode="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cat>
            <c:multiLvlStrRef>
              <c:f>Sheet1!$A$2:$A$7</c:f>
              <c:multiLvlStrCache>
                <c:ptCount val="6"/>
                <c:lvl>
                  <c:pt idx="0">
                    <c:v>China ASAT test (Jan 2007)</c:v>
                  </c:pt>
                  <c:pt idx="1">
                    <c:v>Iridium-Cosmos collision (Russian debris) (Feb 2009)</c:v>
                  </c:pt>
                  <c:pt idx="2">
                    <c:v>Iridium-Cosmos collision (US debris) (Feb 2009)</c:v>
                  </c:pt>
                  <c:pt idx="3">
                    <c:v>US ASAT intercept (Feb 2008)</c:v>
                  </c:pt>
                  <c:pt idx="4">
                    <c:v>India ASAT test (Mission Shakti) (Mar 2019)</c:v>
                  </c:pt>
                  <c:pt idx="5">
                    <c:v>Russia ASAT test (Nov 2021)</c:v>
                  </c:pt>
                </c:lvl>
              </c:multiLvlStrCache>
            </c:multiLvlStrRef>
          </c:cat>
          <c:val>
            <c:numRef>
              <c:f>Sheet1!$B$2:$B$7</c:f>
              <c:numCache>
                <c:formatCode>General</c:formatCode>
                <c:ptCount val="6"/>
                <c:pt idx="0">
                  <c:v>65.5</c:v>
                </c:pt>
                <c:pt idx="1">
                  <c:v>35.8</c:v>
                </c:pt>
                <c:pt idx="2">
                  <c:v>17.8</c:v>
                </c:pt>
                <c:pt idx="3">
                  <c:v>0</c:v>
                </c:pt>
                <c:pt idx="4">
                  <c:v>0</c:v>
                </c:pt>
                <c:pt idx="5">
                  <c:v>0.2</c:v>
                </c:pt>
              </c:numCache>
            </c:numRef>
          </c:val>
        </c:ser>
        <c:dLbls>
          <c:numFmt formatCode="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Close approaches under 5 km in 24 hours (SGP4 screening)</a:t>
            </a:r>
          </a:p>
        </c:rich>
      </c:tx>
      <c:layout/>
      <c:overlay val="0"/>
    </c:title>
    <c:autoTitleDeleted val="0"/>
    <c:plotArea>
      <c:layout/>
      <c:barChart>
        <c:barDir val="bar"/>
        <c:grouping val="clustered"/>
        <c:varyColors val="0"/>
        <c:ser>
          <c:idx val="0"/>
          <c:order val="0"/>
          <c:tx>
            <c:strRef>
              <c:f>Sheet1!$B$1</c:f>
              <c:strCache>
                <c:ptCount val="1"/>
                <c:pt idx="0">
                  <c:v>Encounters &lt; 5 km</c:v>
                </c:pt>
              </c:strCache>
            </c:strRef>
          </c:tx>
          <c:spPr>
            <a:solidFill>
              <a:srgbClr val="2F5D8C"/>
            </a:solidFill>
            <a:effectLst/>
          </c:spPr>
          <c:invertIfNegative val="0"/>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cat>
            <c:multiLvlStrRef>
              <c:f>Sheet1!$A$2:$A$4</c:f>
              <c:multiLvlStrCache>
                <c:ptCount val="3"/>
                <c:lvl>
                  <c:pt idx="0">
                    <c:v>Different operators, crossing</c:v>
                  </c:pt>
                  <c:pt idx="1">
                    <c:v>Same constellation, crossing</c:v>
                  </c:pt>
                  <c:pt idx="2">
                    <c:v>Satellite vs debris</c:v>
                  </c:pt>
                </c:lvl>
              </c:multiLvlStrCache>
            </c:multiLvlStrRef>
          </c:cat>
          <c:val>
            <c:numRef>
              <c:f>Sheet1!$B$2:$B$4</c:f>
              <c:numCache>
                <c:formatCode>General</c:formatCode>
                <c:ptCount val="3"/>
                <c:pt idx="0">
                  <c:v>5043</c:v>
                </c:pt>
                <c:pt idx="1">
                  <c:v>12844</c:v>
                </c:pt>
                <c:pt idx="2">
                  <c:v>468</c:v>
                </c:pt>
              </c:numCache>
            </c:numRef>
          </c:val>
        </c:ser>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Military, state-ISR and imaging satellites working, Sep 2026 (name-based lower bound)</a:t>
            </a:r>
          </a:p>
        </c:rich>
      </c:tx>
      <c:layout/>
      <c:overlay val="0"/>
    </c:title>
    <c:autoTitleDeleted val="0"/>
    <c:plotArea>
      <c:layout/>
      <c:barChart>
        <c:barDir val="bar"/>
        <c:grouping val="clustered"/>
        <c:varyColors val="0"/>
        <c:ser>
          <c:idx val="0"/>
          <c:order val="0"/>
          <c:tx>
            <c:strRef>
              <c:f>Sheet1!$B$1</c:f>
              <c:strCache>
                <c:ptCount val="1"/>
                <c:pt idx="0">
                  <c:v>Operational</c:v>
                </c:pt>
              </c:strCache>
            </c:strRef>
          </c:tx>
          <c:spPr>
            <a:solidFill>
              <a:srgbClr val="0B1D3A"/>
            </a:solidFill>
            <a:effectLst/>
          </c:spPr>
          <c:invertIfNegative val="0"/>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cat>
            <c:multiLvlStrRef>
              <c:f>Sheet1!$A$2:$A$6</c:f>
              <c:multiLvlStrCache>
                <c:ptCount val="5"/>
                <c:lvl>
                  <c:pt idx="0">
                    <c:v>USA</c:v>
                  </c:pt>
                  <c:pt idx="1">
                    <c:v>China</c:v>
                  </c:pt>
                  <c:pt idx="2">
                    <c:v>Russia</c:v>
                  </c:pt>
                  <c:pt idx="3">
                    <c:v>India</c:v>
                  </c:pt>
                  <c:pt idx="4">
                    <c:v>India + SBS-III (2029)</c:v>
                  </c:pt>
                </c:lvl>
              </c:multiLvlStrCache>
            </c:multiLvlStrRef>
          </c:cat>
          <c:val>
            <c:numRef>
              <c:f>Sheet1!$B$2:$B$6</c:f>
              <c:numCache>
                <c:formatCode>General</c:formatCode>
                <c:ptCount val="5"/>
                <c:pt idx="0">
                  <c:v>542</c:v>
                </c:pt>
                <c:pt idx="1">
                  <c:v>406</c:v>
                </c:pt>
                <c:pt idx="2">
                  <c:v>146</c:v>
                </c:pt>
                <c:pt idx="3">
                  <c:v>17</c:v>
                </c:pt>
                <c:pt idx="4">
                  <c:v>69</c:v>
                </c:pt>
              </c:numCache>
            </c:numRef>
          </c:val>
        </c:ser>
        <c:dLbls>
          <c:numFmt formatCode="#,##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ROC-AUC (0.5 = coin toss): the honest out-of-time test picks the simpler model</a:t>
            </a:r>
          </a:p>
        </c:rich>
      </c:tx>
      <c:layout/>
      <c:overlay val="0"/>
    </c:title>
    <c:autoTitleDeleted val="0"/>
    <c:plotArea>
      <c:layout/>
      <c:barChart>
        <c:barDir val="col"/>
        <c:grouping val="clustered"/>
        <c:varyColors val="0"/>
        <c:ser>
          <c:idx val="0"/>
          <c:order val="0"/>
          <c:tx>
            <c:strRef>
              <c:f>Sheet1!$B$1</c:f>
              <c:strCache>
                <c:ptCount val="1"/>
                <c:pt idx="0">
                  <c:v>Cross-validation 2014</c:v>
                </c:pt>
              </c:strCache>
            </c:strRef>
          </c:tx>
          <c:spPr>
            <a:solidFill>
              <a:srgbClr val="9AA3AE"/>
            </a:solidFill>
            <a:effectLst/>
          </c:spPr>
          <c:invertIfNegative val="0"/>
          <c:dLbls>
            <c:numFmt formatCode="0.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cat>
            <c:multiLvlStrRef>
              <c:f>Sheet1!$A$2:$A$5</c:f>
              <c:multiLvlStrCache>
                <c:ptCount val="4"/>
                <c:lvl>
                  <c:pt idx="0">
                    <c:v>Physics, logistic</c:v>
                  </c:pt>
                  <c:pt idx="1">
                    <c:v>Physics, trees</c:v>
                  </c:pt>
                  <c:pt idx="2">
                    <c:v>Physics + country, logistic</c:v>
                  </c:pt>
                  <c:pt idx="3">
                    <c:v>Physics + country, trees</c:v>
                  </c:pt>
                </c:lvl>
              </c:multiLvlStrCache>
            </c:multiLvlStrRef>
          </c:cat>
          <c:val>
            <c:numRef>
              <c:f>Sheet1!$B$2:$B$5</c:f>
              <c:numCache>
                <c:formatCode>General</c:formatCode>
                <c:ptCount val="4"/>
                <c:pt idx="0">
                  <c:v>0.835</c:v>
                </c:pt>
                <c:pt idx="1">
                  <c:v>0.941</c:v>
                </c:pt>
                <c:pt idx="2">
                  <c:v>0.845</c:v>
                </c:pt>
                <c:pt idx="3">
                  <c:v>0.942</c:v>
                </c:pt>
              </c:numCache>
            </c:numRef>
          </c:val>
        </c:ser>
        <c:ser>
          <c:idx val="1"/>
          <c:order val="1"/>
          <c:tx>
            <c:strRef>
              <c:f>Sheet1!$C$1</c:f>
              <c:strCache>
                <c:ptCount val="1"/>
                <c:pt idx="0">
                  <c:v>Out-of-time (2014-2020 launches)</c:v>
                </c:pt>
              </c:strCache>
            </c:strRef>
          </c:tx>
          <c:spPr>
            <a:solidFill>
              <a:srgbClr val="0B1D3A"/>
            </a:solidFill>
            <a:effectLst/>
          </c:spPr>
          <c:invertIfNegative val="0"/>
          <c:dLbls>
            <c:numFmt formatCode="0.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cat>
            <c:multiLvlStrRef>
              <c:f>Sheet1!$A$2:$A$5</c:f>
              <c:multiLvlStrCache>
                <c:ptCount val="4"/>
                <c:lvl>
                  <c:pt idx="0">
                    <c:v>Physics, logistic</c:v>
                  </c:pt>
                  <c:pt idx="1">
                    <c:v>Physics, trees</c:v>
                  </c:pt>
                  <c:pt idx="2">
                    <c:v>Physics + country, logistic</c:v>
                  </c:pt>
                  <c:pt idx="3">
                    <c:v>Physics + country, trees</c:v>
                  </c:pt>
                </c:lvl>
              </c:multiLvlStrCache>
            </c:multiLvlStrRef>
          </c:cat>
          <c:val>
            <c:numRef>
              <c:f>Sheet1!$C$2:$C$5</c:f>
              <c:numCache>
                <c:formatCode>General</c:formatCode>
                <c:ptCount val="4"/>
                <c:pt idx="0">
                  <c:v>0.793</c:v>
                </c:pt>
                <c:pt idx="1">
                  <c:v>0.644</c:v>
                </c:pt>
                <c:pt idx="2">
                  <c:v>0.759</c:v>
                </c:pt>
                <c:pt idx="3">
                  <c:v>0.634</c:v>
                </c:pt>
              </c:numCache>
            </c:numRef>
          </c:val>
        </c:ser>
        <c:dLbls>
          <c:numFmt formatCode="0.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Intense storms per 30 days (CDM Dst data)</a:t>
            </a:r>
          </a:p>
        </c:rich>
      </c:tx>
      <c:layout/>
      <c:overlay val="0"/>
    </c:title>
    <c:autoTitleDeleted val="0"/>
    <c:plotArea>
      <c:layout/>
      <c:barChart>
        <c:barDir val="col"/>
        <c:grouping val="clustered"/>
        <c:varyColors val="0"/>
        <c:ser>
          <c:idx val="0"/>
          <c:order val="0"/>
          <c:tx>
            <c:strRef>
              <c:f>Sheet1!$B$1</c:f>
              <c:strCache>
                <c:ptCount val="1"/>
                <c:pt idx="0">
                  <c:v>Intense storms per 30 days</c:v>
                </c:pt>
              </c:strCache>
            </c:strRef>
          </c:tx>
          <c:spPr>
            <a:solidFill>
              <a:srgbClr val="D99A1E"/>
            </a:solidFill>
            <a:effectLst/>
          </c:spPr>
          <c:invertIfNegative val="0"/>
          <c:dLbls>
            <c:numFmt formatCode="0.0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cat>
            <c:multiLvlStrRef>
              <c:f>Sheet1!$A$2:$A$5</c:f>
              <c:multiLvlStrCache>
                <c:ptCount val="4"/>
                <c:lvl>
                  <c:pt idx="0">
                    <c:v>&lt;30</c:v>
                  </c:pt>
                  <c:pt idx="1">
                    <c:v>30-60</c:v>
                  </c:pt>
                  <c:pt idx="2">
                    <c:v>60-100</c:v>
                  </c:pt>
                  <c:pt idx="3">
                    <c:v>&gt;=100</c:v>
                  </c:pt>
                </c:lvl>
              </c:multiLvlStrCache>
            </c:multiLvlStrRef>
          </c:cat>
          <c:val>
            <c:numRef>
              <c:f>Sheet1!$B$2:$B$5</c:f>
              <c:numCache>
                <c:formatCode>General</c:formatCode>
                <c:ptCount val="4"/>
                <c:pt idx="0">
                  <c:v>0.06</c:v>
                </c:pt>
                <c:pt idx="1">
                  <c:v>0.39</c:v>
                </c:pt>
                <c:pt idx="2">
                  <c:v>0.5</c:v>
                </c:pt>
                <c:pt idx="3">
                  <c:v>0.59</c:v>
                </c:pt>
              </c:numCache>
            </c:numRef>
          </c:val>
        </c:ser>
        <c:dLbls>
          <c:numFmt formatCode="0.00" sourceLinked="0"/>
          <c:txPr>
            <a:bodyPr/>
            <a:lstStyle/>
            <a:p>
              <a:pPr>
                <a:defRPr b="0" i="0" strike="noStrike" sz="12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B6573"/>
                    </a:solidFill>
                    <a:latin typeface="Arial"/>
                  </a:defRPr>
                </a:pPr>
                <a:r>
                  <a:rPr sz="1000" b="0" i="0" u="none" strike="noStrike">
                    <a:solidFill>
                      <a:srgbClr val="5B6573"/>
                    </a:solidFill>
                    <a:latin typeface="Arial"/>
                  </a:rPr>
                  <a:t>smoothed sunspot number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Low-orbit debris re-entering per year (%): a 12-year cycle</a:t>
            </a:r>
          </a:p>
        </c:rich>
      </c:tx>
      <c:layout/>
      <c:overlay val="0"/>
    </c:title>
    <c:autoTitleDeleted val="0"/>
    <c:plotArea>
      <c:layout/>
      <c:lineChart>
        <c:varyColors val="0"/>
        <c:ser>
          <c:idx val="0"/>
          <c:order val="0"/>
          <c:tx>
            <c:strRef>
              <c:f>Sheet1!$B$1</c:f>
              <c:strCache>
                <c:ptCount val="1"/>
                <c:pt idx="0">
                  <c:v>Re-entry rate %</c:v>
                </c:pt>
              </c:strCache>
            </c:strRef>
          </c:tx>
          <c:spPr>
            <a:solidFill>
              <a:srgbClr val="2F5D8C"/>
            </a:solidFill>
            <a:ln w="25400" cap="flat">
              <a:solidFill>
                <a:srgbClr val="2F5D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5D8C"/>
              </a:solidFill>
              <a:ln w="9525" cap="flat">
                <a:solidFill>
                  <a:srgbClr val="2F5D8C"/>
                </a:solidFill>
                <a:prstDash val="solid"/>
                <a:round/>
              </a:ln>
              <a:effectLst/>
            </c:spPr>
          </c:marker>
          <c:cat>
            <c:multiLvlStrRef>
              <c:f>Sheet1!$A$2:$A$62</c:f>
              <c:multiLvlStrCache>
                <c:ptCount val="61"/>
                <c:lvl>
                  <c:pt idx="0">
                    <c:v>1965</c:v>
                  </c:pt>
                  <c:pt idx="1">
                    <c:v>1966</c:v>
                  </c:pt>
                  <c:pt idx="2">
                    <c:v>1967</c:v>
                  </c:pt>
                  <c:pt idx="3">
                    <c:v>1968</c:v>
                  </c:pt>
                  <c:pt idx="4">
                    <c:v>1969</c:v>
                  </c:pt>
                  <c:pt idx="5">
                    <c:v>1970</c:v>
                  </c:pt>
                  <c:pt idx="6">
                    <c:v>1971</c:v>
                  </c:pt>
                  <c:pt idx="7">
                    <c:v>1972</c:v>
                  </c:pt>
                  <c:pt idx="8">
                    <c:v>1973</c:v>
                  </c:pt>
                  <c:pt idx="9">
                    <c:v>1974</c:v>
                  </c:pt>
                  <c:pt idx="10">
                    <c:v>1975</c:v>
                  </c:pt>
                  <c:pt idx="11">
                    <c:v>1976</c:v>
                  </c:pt>
                  <c:pt idx="12">
                    <c:v>1977</c:v>
                  </c:pt>
                  <c:pt idx="13">
                    <c:v>1978</c:v>
                  </c:pt>
                  <c:pt idx="14">
                    <c:v>1979</c:v>
                  </c:pt>
                  <c:pt idx="15">
                    <c:v>1980</c:v>
                  </c:pt>
                  <c:pt idx="16">
                    <c:v>1981</c:v>
                  </c:pt>
                  <c:pt idx="17">
                    <c:v>1982</c:v>
                  </c:pt>
                  <c:pt idx="18">
                    <c:v>1983</c:v>
                  </c:pt>
                  <c:pt idx="19">
                    <c:v>1984</c:v>
                  </c:pt>
                  <c:pt idx="20">
                    <c:v>1985</c:v>
                  </c:pt>
                  <c:pt idx="21">
                    <c:v>1986</c:v>
                  </c:pt>
                  <c:pt idx="22">
                    <c:v>1987</c:v>
                  </c:pt>
                  <c:pt idx="23">
                    <c:v>1988</c:v>
                  </c:pt>
                  <c:pt idx="24">
                    <c:v>1989</c:v>
                  </c:pt>
                  <c:pt idx="25">
                    <c:v>1990</c:v>
                  </c:pt>
                  <c:pt idx="26">
                    <c:v>1991</c:v>
                  </c:pt>
                  <c:pt idx="27">
                    <c:v>1992</c:v>
                  </c:pt>
                  <c:pt idx="28">
                    <c:v>1993</c:v>
                  </c:pt>
                  <c:pt idx="29">
                    <c:v>1994</c:v>
                  </c:pt>
                  <c:pt idx="30">
                    <c:v>1995</c:v>
                  </c:pt>
                  <c:pt idx="31">
                    <c:v>1996</c:v>
                  </c:pt>
                  <c:pt idx="32">
                    <c:v>1997</c:v>
                  </c:pt>
                  <c:pt idx="33">
                    <c:v>1998</c:v>
                  </c:pt>
                  <c:pt idx="34">
                    <c:v>1999</c:v>
                  </c:pt>
                  <c:pt idx="35">
                    <c:v>2000</c:v>
                  </c:pt>
                  <c:pt idx="36">
                    <c:v>2001</c:v>
                  </c:pt>
                  <c:pt idx="37">
                    <c:v>2002</c:v>
                  </c:pt>
                  <c:pt idx="38">
                    <c:v>2003</c:v>
                  </c:pt>
                  <c:pt idx="39">
                    <c:v>2004</c:v>
                  </c:pt>
                  <c:pt idx="40">
                    <c:v>2005</c:v>
                  </c:pt>
                  <c:pt idx="41">
                    <c:v>2006</c:v>
                  </c:pt>
                  <c:pt idx="42">
                    <c:v>2007</c:v>
                  </c:pt>
                  <c:pt idx="43">
                    <c:v>2008</c:v>
                  </c:pt>
                  <c:pt idx="44">
                    <c:v>2009</c:v>
                  </c:pt>
                  <c:pt idx="45">
                    <c:v>2010</c:v>
                  </c:pt>
                  <c:pt idx="46">
                    <c:v>2011</c:v>
                  </c:pt>
                  <c:pt idx="47">
                    <c:v>2012</c:v>
                  </c:pt>
                  <c:pt idx="48">
                    <c:v>2013</c:v>
                  </c:pt>
                  <c:pt idx="49">
                    <c:v>2014</c:v>
                  </c:pt>
                  <c:pt idx="50">
                    <c:v>2015</c:v>
                  </c:pt>
                  <c:pt idx="51">
                    <c:v>2016</c:v>
                  </c:pt>
                  <c:pt idx="52">
                    <c:v>2017</c:v>
                  </c:pt>
                  <c:pt idx="53">
                    <c:v>2018</c:v>
                  </c:pt>
                  <c:pt idx="54">
                    <c:v>2019</c:v>
                  </c:pt>
                  <c:pt idx="55">
                    <c:v>2020</c:v>
                  </c:pt>
                  <c:pt idx="56">
                    <c:v>2021</c:v>
                  </c:pt>
                  <c:pt idx="57">
                    <c:v>2022</c:v>
                  </c:pt>
                  <c:pt idx="58">
                    <c:v>2023</c:v>
                  </c:pt>
                  <c:pt idx="59">
                    <c:v>2024</c:v>
                  </c:pt>
                  <c:pt idx="60">
                    <c:v>2025</c:v>
                  </c:pt>
                </c:lvl>
              </c:multiLvlStrCache>
            </c:multiLvlStrRef>
          </c:cat>
          <c:val>
            <c:numRef>
              <c:f>Sheet1!$B$2:$B$62</c:f>
              <c:numCache>
                <c:formatCode>General</c:formatCode>
                <c:ptCount val="61"/>
                <c:pt idx="0">
                  <c:v>2.22</c:v>
                </c:pt>
                <c:pt idx="1">
                  <c:v>4.26</c:v>
                </c:pt>
                <c:pt idx="2">
                  <c:v>4.82</c:v>
                </c:pt>
                <c:pt idx="3">
                  <c:v>4.27</c:v>
                </c:pt>
                <c:pt idx="4">
                  <c:v>5.2</c:v>
                </c:pt>
                <c:pt idx="5">
                  <c:v>4.04</c:v>
                </c:pt>
                <c:pt idx="6">
                  <c:v>2.31</c:v>
                </c:pt>
                <c:pt idx="7">
                  <c:v>3.59</c:v>
                </c:pt>
                <c:pt idx="8">
                  <c:v>1.94</c:v>
                </c:pt>
                <c:pt idx="9">
                  <c:v>2.44</c:v>
                </c:pt>
                <c:pt idx="10">
                  <c:v>2.39</c:v>
                </c:pt>
                <c:pt idx="11">
                  <c:v>2.57</c:v>
                </c:pt>
                <c:pt idx="12">
                  <c:v>4.58</c:v>
                </c:pt>
                <c:pt idx="13">
                  <c:v>5.19</c:v>
                </c:pt>
                <c:pt idx="14">
                  <c:v>6.23</c:v>
                </c:pt>
                <c:pt idx="15">
                  <c:v>4.55</c:v>
                </c:pt>
                <c:pt idx="16">
                  <c:v>5.72</c:v>
                </c:pt>
                <c:pt idx="17">
                  <c:v>3.95</c:v>
                </c:pt>
                <c:pt idx="18">
                  <c:v>2.42</c:v>
                </c:pt>
                <c:pt idx="19">
                  <c:v>2.88</c:v>
                </c:pt>
                <c:pt idx="20">
                  <c:v>1.51</c:v>
                </c:pt>
                <c:pt idx="21">
                  <c:v>3.12</c:v>
                </c:pt>
                <c:pt idx="22">
                  <c:v>2.49</c:v>
                </c:pt>
                <c:pt idx="23">
                  <c:v>6.18</c:v>
                </c:pt>
                <c:pt idx="24">
                  <c:v>7.59</c:v>
                </c:pt>
                <c:pt idx="25">
                  <c:v>3.09</c:v>
                </c:pt>
                <c:pt idx="26">
                  <c:v>4.05</c:v>
                </c:pt>
                <c:pt idx="27">
                  <c:v>1.9</c:v>
                </c:pt>
                <c:pt idx="28">
                  <c:v>1.07</c:v>
                </c:pt>
                <c:pt idx="29">
                  <c:v>0.6</c:v>
                </c:pt>
                <c:pt idx="30">
                  <c:v>0.61</c:v>
                </c:pt>
                <c:pt idx="31">
                  <c:v>1.33</c:v>
                </c:pt>
                <c:pt idx="32">
                  <c:v>2.46</c:v>
                </c:pt>
                <c:pt idx="33">
                  <c:v>2.17</c:v>
                </c:pt>
                <c:pt idx="34">
                  <c:v>2.48</c:v>
                </c:pt>
                <c:pt idx="35">
                  <c:v>1.8</c:v>
                </c:pt>
                <c:pt idx="36">
                  <c:v>1.77</c:v>
                </c:pt>
                <c:pt idx="37">
                  <c:v>2.4</c:v>
                </c:pt>
                <c:pt idx="38">
                  <c:v>1.26</c:v>
                </c:pt>
                <c:pt idx="39">
                  <c:v>0.81</c:v>
                </c:pt>
                <c:pt idx="40">
                  <c:v>0.83</c:v>
                </c:pt>
                <c:pt idx="41">
                  <c:v>0.92</c:v>
                </c:pt>
                <c:pt idx="42">
                  <c:v>0.75</c:v>
                </c:pt>
                <c:pt idx="43">
                  <c:v>3.82</c:v>
                </c:pt>
                <c:pt idx="44">
                  <c:v>1.4</c:v>
                </c:pt>
                <c:pt idx="45">
                  <c:v>1.79</c:v>
                </c:pt>
                <c:pt idx="46">
                  <c:v>2.4</c:v>
                </c:pt>
                <c:pt idx="47">
                  <c:v>2.22</c:v>
                </c:pt>
                <c:pt idx="48">
                  <c:v>2.15</c:v>
                </c:pt>
                <c:pt idx="49">
                  <c:v>3.21</c:v>
                </c:pt>
                <c:pt idx="50">
                  <c:v>2.11</c:v>
                </c:pt>
                <c:pt idx="51">
                  <c:v>0.93</c:v>
                </c:pt>
                <c:pt idx="52">
                  <c:v>0.67</c:v>
                </c:pt>
                <c:pt idx="53">
                  <c:v>0.66</c:v>
                </c:pt>
                <c:pt idx="54">
                  <c:v>0.61</c:v>
                </c:pt>
                <c:pt idx="55">
                  <c:v>1.38</c:v>
                </c:pt>
                <c:pt idx="56">
                  <c:v>1.61</c:v>
                </c:pt>
                <c:pt idx="57">
                  <c:v>11.82</c:v>
                </c:pt>
                <c:pt idx="58">
                  <c:v>8.24</c:v>
                </c:pt>
                <c:pt idx="59">
                  <c:v>7.09</c:v>
                </c:pt>
                <c:pt idx="60">
                  <c:v>5.12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Who saw each fire-day (10 km grid)</a:t>
            </a:r>
          </a:p>
        </c:rich>
      </c:tx>
      <c:layout/>
      <c:overlay val="0"/>
    </c:title>
    <c:autoTitleDeleted val="0"/>
    <c:plotArea>
      <c:layout/>
      <c:doughnutChart>
        <c:varyColors val="1"/>
        <c:ser>
          <c:idx val="0"/>
          <c:order val="0"/>
          <c:tx>
            <c:strRef>
              <c:f>Sheet1!$B$1</c:f>
              <c:strCache>
                <c:ptCount val="1"/>
                <c:pt idx="0">
                  <c:v>Fire-days</c:v>
                </c:pt>
              </c:strCache>
            </c:strRef>
          </c:tx>
          <c:spPr>
            <a:solidFill>
              <a:schemeClr val="accent1"/>
            </a:solidFill>
            <a:ln w="9525" cap="flat">
              <a:solidFill>
                <a:srgbClr val="F9F9F9"/>
              </a:solidFill>
              <a:prstDash val="solid"/>
              <a:round/>
            </a:ln>
            <a:effectLst/>
          </c:spPr>
          <c:dPt>
            <c:idx val="0"/>
            <c:bubble3D val="0"/>
            <c:spPr>
              <a:solidFill>
                <a:srgbClr val="2F5D8C"/>
              </a:solidFill>
              <a:effectLst/>
            </c:spPr>
          </c:dPt>
          <c:dPt>
            <c:idx val="1"/>
            <c:bubble3D val="0"/>
            <c:spPr>
              <a:solidFill>
                <a:srgbClr val="D99A1E"/>
              </a:solidFill>
              <a:effectLst/>
            </c:spPr>
          </c:dPt>
          <c:dPt>
            <c:idx val="2"/>
            <c:bubble3D val="0"/>
            <c:spPr>
              <a:solidFill>
                <a:srgbClr val="0B1D3A"/>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Aqua only</c:v>
                </c:pt>
                <c:pt idx="1">
                  <c:v>Terra only</c:v>
                </c:pt>
                <c:pt idx="2">
                  <c:v>Both</c:v>
                </c:pt>
              </c:strCache>
            </c:strRef>
          </c:cat>
          <c:val>
            <c:numRef>
              <c:f>Sheet1!$B$2:$B$4</c:f>
              <c:numCache>
                <c:ptCount val="3"/>
                <c:pt idx="0">
                  <c:v>45.5</c:v>
                </c:pt>
                <c:pt idx="1">
                  <c:v>38.5</c:v>
                </c:pt>
                <c:pt idx="2">
                  <c:v>16</c:v>
                </c:pt>
              </c:numCache>
            </c:numRef>
          </c:val>
        </c:ser>
        <c:firstSliceAng val="0"/>
        <c:holeSize val="55"/>
      </c:doughnutChart>
      <c:spPr>
        <a:noFill/>
        <a:ln>
          <a:noFill/>
        </a:ln>
        <a:effectLst/>
      </c:spPr>
    </c:plotArea>
    <c:legend>
      <c:legendPos val="r"/>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Satellites in orbit, 2000-2030</a:t>
            </a:r>
          </a:p>
        </c:rich>
      </c:tx>
      <c:layout/>
      <c:overlay val="0"/>
    </c:title>
    <c:autoTitleDeleted val="0"/>
    <c:plotArea>
      <c:layout/>
      <c:lineChart>
        <c:varyColors val="0"/>
        <c:ser>
          <c:idx val="0"/>
          <c:order val="0"/>
          <c:tx>
            <c:strRef>
              <c:f>Sheet1!$B$1</c:f>
              <c:strCache>
                <c:ptCount val="1"/>
                <c:pt idx="0">
                  <c:v>Payloads in orbit (catalogue)</c:v>
                </c:pt>
              </c:strCache>
            </c:strRef>
          </c:tx>
          <c:spPr>
            <a:solidFill>
              <a:srgbClr val="2F5D8C"/>
            </a:solidFill>
            <a:ln w="31750" cap="flat">
              <a:solidFill>
                <a:srgbClr val="2F5D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5D8C"/>
              </a:solidFill>
              <a:ln w="9525" cap="flat">
                <a:solidFill>
                  <a:srgbClr val="2F5D8C"/>
                </a:solidFill>
                <a:prstDash val="solid"/>
                <a:round/>
              </a:ln>
              <a:effectLst/>
            </c:spPr>
          </c:marker>
          <c:cat>
            <c:multiLvlStrRef>
              <c:f>Sheet1!$A$2:$A$32</c:f>
              <c:multiLvlStrCache>
                <c:ptCount val="31"/>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pt idx="25">
                    <c:v>2025</c:v>
                  </c:pt>
                  <c:pt idx="26">
                    <c:v>2026</c:v>
                  </c:pt>
                  <c:pt idx="27">
                    <c:v>2027</c:v>
                  </c:pt>
                  <c:pt idx="28">
                    <c:v>2028</c:v>
                  </c:pt>
                  <c:pt idx="29">
                    <c:v>2029</c:v>
                  </c:pt>
                  <c:pt idx="30">
                    <c:v>2030</c:v>
                  </c:pt>
                </c:lvl>
              </c:multiLvlStrCache>
            </c:multiLvlStrRef>
          </c:cat>
          <c:val>
            <c:numRef>
              <c:f>Sheet1!$B$2:$B$32</c:f>
              <c:numCache>
                <c:formatCode>General</c:formatCode>
                <c:ptCount val="31"/>
                <c:pt idx="0">
                  <c:v>3145</c:v>
                </c:pt>
                <c:pt idx="1">
                  <c:v>3178</c:v>
                </c:pt>
                <c:pt idx="2">
                  <c:v>3228</c:v>
                </c:pt>
                <c:pt idx="3">
                  <c:v>3288</c:v>
                </c:pt>
                <c:pt idx="4">
                  <c:v>3340</c:v>
                </c:pt>
                <c:pt idx="5">
                  <c:v>3387</c:v>
                </c:pt>
                <c:pt idx="6">
                  <c:v>3455</c:v>
                </c:pt>
                <c:pt idx="7">
                  <c:v>3533</c:v>
                </c:pt>
                <c:pt idx="8">
                  <c:v>3614</c:v>
                </c:pt>
                <c:pt idx="9">
                  <c:v>3710</c:v>
                </c:pt>
                <c:pt idx="10">
                  <c:v>3790</c:v>
                </c:pt>
                <c:pt idx="11">
                  <c:v>3874</c:v>
                </c:pt>
                <c:pt idx="12">
                  <c:v>3966</c:v>
                </c:pt>
                <c:pt idx="13">
                  <c:v>4126</c:v>
                </c:pt>
                <c:pt idx="14">
                  <c:v>4227</c:v>
                </c:pt>
                <c:pt idx="15">
                  <c:v>4322</c:v>
                </c:pt>
                <c:pt idx="16">
                  <c:v>4427</c:v>
                </c:pt>
                <c:pt idx="17">
                  <c:v>4762</c:v>
                </c:pt>
                <c:pt idx="18">
                  <c:v>5050</c:v>
                </c:pt>
                <c:pt idx="19">
                  <c:v>5415</c:v>
                </c:pt>
                <c:pt idx="20">
                  <c:v>6528</c:v>
                </c:pt>
                <c:pt idx="21">
                  <c:v>8123</c:v>
                </c:pt>
                <c:pt idx="22">
                  <c:v>10146</c:v>
                </c:pt>
                <c:pt idx="23">
                  <c:v>12338</c:v>
                </c:pt>
                <c:pt idx="24">
                  <c:v>14042</c:v>
                </c:pt>
                <c:pt idx="25">
                  <c:v>17414</c:v>
                </c:pt>
                <c:pt idx="26">
                  <c:v>19971</c:v>
                </c:pt>
                <c:pt idx="27">
                  <c:v/>
                </c:pt>
                <c:pt idx="28">
                  <c:v/>
                </c:pt>
                <c:pt idx="29">
                  <c:v/>
                </c:pt>
                <c:pt idx="30">
                  <c:v/>
                </c:pt>
              </c:numCache>
            </c:numRef>
          </c:val>
          <c:smooth val="0"/>
        </c:ser>
        <c:ser>
          <c:idx val="1"/>
          <c:order val="1"/>
          <c:tx>
            <c:strRef>
              <c:f>Sheet1!$C$1</c:f>
              <c:strCache>
                <c:ptCount val="1"/>
                <c:pt idx="0">
                  <c:v>Statistical trend (damped)</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392B"/>
              </a:solidFill>
              <a:ln w="9525" cap="flat">
                <a:solidFill>
                  <a:srgbClr val="C0392B"/>
                </a:solidFill>
                <a:prstDash val="solid"/>
                <a:round/>
              </a:ln>
              <a:effectLst/>
            </c:spPr>
          </c:marker>
          <c:cat>
            <c:multiLvlStrRef>
              <c:f>Sheet1!$A$2:$A$32</c:f>
              <c:multiLvlStrCache>
                <c:ptCount val="31"/>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pt idx="25">
                    <c:v>2025</c:v>
                  </c:pt>
                  <c:pt idx="26">
                    <c:v>2026</c:v>
                  </c:pt>
                  <c:pt idx="27">
                    <c:v>2027</c:v>
                  </c:pt>
                  <c:pt idx="28">
                    <c:v>2028</c:v>
                  </c:pt>
                  <c:pt idx="29">
                    <c:v>2029</c:v>
                  </c:pt>
                  <c:pt idx="30">
                    <c:v>2030</c:v>
                  </c:pt>
                </c:lvl>
              </c:multiLvlStrCache>
            </c:multiLvlStrRef>
          </c:cat>
          <c:val>
            <c:numRef>
              <c:f>Sheet1!$C$2:$C$32</c:f>
              <c:numCache>
                <c:formatCode>General</c:formatCode>
                <c:ptCount val="31"/>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19971</c:v>
                </c:pt>
                <c:pt idx="27">
                  <c:v>23257</c:v>
                </c:pt>
                <c:pt idx="28">
                  <c:v>26944</c:v>
                </c:pt>
                <c:pt idx="29">
                  <c:v>31178</c:v>
                </c:pt>
                <c:pt idx="30">
                  <c:v>36033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Collision-risk index, low orbit (2014 = 1)</a:t>
            </a:r>
          </a:p>
        </c:rich>
      </c:tx>
      <c:layout/>
      <c:overlay val="0"/>
    </c:title>
    <c:autoTitleDeleted val="0"/>
    <c:plotArea>
      <c:layout/>
      <c:barChart>
        <c:barDir val="col"/>
        <c:grouping val="clustered"/>
        <c:varyColors val="0"/>
        <c:ser>
          <c:idx val="0"/>
          <c:order val="0"/>
          <c:tx>
            <c:strRef>
              <c:f>Sheet1!$B$1</c:f>
              <c:strCache>
                <c:ptCount val="1"/>
                <c:pt idx="0">
                  <c:v>Index</c:v>
                </c:pt>
              </c:strCache>
            </c:strRef>
          </c:tx>
          <c:spPr>
            <a:solidFill>
              <a:srgbClr val="0B1D3A"/>
            </a:solidFill>
            <a:effectLst/>
          </c:spPr>
          <c:invertIfNegative val="0"/>
          <c:dLbls>
            <c:numFmt formatCode="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cat>
            <c:multiLvlStrRef>
              <c:f>Sheet1!$A$2:$A$6</c:f>
              <c:multiLvlStrCache>
                <c:ptCount val="5"/>
                <c:lvl>
                  <c:pt idx="0">
                    <c:v>Jan 2014</c:v>
                  </c:pt>
                  <c:pt idx="1">
                    <c:v>Sep 2026</c:v>
                  </c:pt>
                  <c:pt idx="2">
                    <c:v>2030 Low</c:v>
                  </c:pt>
                  <c:pt idx="3">
                    <c:v>2030 Base</c:v>
                  </c:pt>
                  <c:pt idx="4">
                    <c:v>2030 High</c:v>
                  </c:pt>
                </c:lvl>
              </c:multiLvlStrCache>
            </c:multiLvlStrRef>
          </c:cat>
          <c:val>
            <c:numRef>
              <c:f>Sheet1!$B$2:$B$6</c:f>
              <c:numCache>
                <c:formatCode>General</c:formatCode>
                <c:ptCount val="5"/>
                <c:pt idx="0">
                  <c:v>1</c:v>
                </c:pt>
                <c:pt idx="1">
                  <c:v>10.3</c:v>
                </c:pt>
                <c:pt idx="2">
                  <c:v>11.6</c:v>
                </c:pt>
                <c:pt idx="3">
                  <c:v>16.8</c:v>
                </c:pt>
                <c:pt idx="4">
                  <c:v>27.2</c:v>
                </c:pt>
              </c:numCache>
            </c:numRef>
          </c:val>
        </c:ser>
        <c:dLbls>
          <c:numFmt formatCode="0.0" sourceLinked="0"/>
          <c:txPr>
            <a:bodyPr/>
            <a:lstStyle/>
            <a:p>
              <a:pPr>
                <a:defRPr b="0" i="0" strike="noStrike" sz="1100" u="none">
                  <a:solidFill>
                    <a:srgbClr val="1B24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Sir, my study takes the CDM satellite data and asks five questions: how crowded orbit has become, who owns it, how dangerous it is, who is building military eyes in it, and what India should do. About fifteen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carry the study. Working satellites rose 15-fold in twelve years. Collision risk in low orbit is about ten times the 2014 level. And China operates about 406 state intelligence and military satellites to India's 17. India's share of working satellites has fallen to 0.5 percent. Everything that follows is the evidence, and at the end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asks for insights into satellite proliferation and a prediction of the trajectory. I turned that into five questions a commander would ask. The CDM data give the 2014 baseline, space weather and a real example of what satellites see. The open catalogue brings the picture to September 2026. Every number is regenerated from raw data by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counts: the CDM census of 2014, the UCS database of 2020, and today's catalogue. From 1,167 to 17,062. A change-point test puts the break around 2021, when the mega-constellations began. Satellites launched a year went from 199 in 2013 to 4,480 in 2025. UN registrations match the catalogue almost exactly, so the count is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of orbit is concentrating. The USA went from 43 to 76 percent of working satellites, mostly one company. China grew thirteen-fold in numbers but held its share near ten percent. India grew from 33 to 78 satellites, but its share fell from 2.8 to 0.5 percent. The concentration index is more than double the 'highly concentrated'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 is crowded in two places. The live crowd at 450 to 500 kilometres, almost all working satellites. The dead crowd at 750 to 900 kilometres, mostly debris from the 2007 Chinese test and the 2009 collision. Collisions grow with the square of the number of objects at each height, so the collision-risk index is about 10 times its 2014 level. Higher up, the geostationary arc India uses holds 162 satellites; China and the USA each have more there than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events, one lesson. China's 2007 test at high altitude made over three and a half thousand tracked pieces, and two thirds are still up nearly twenty years later. India's 2019 test was done low; every piece re-entered, most within half a year. Russia's 2021 test has almost cleared. A responsible test is a low one, and India can say so with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see congestion directly, I screened current orbits. Every active satellite in low orbit, 15,656 of them, was propagated with SGP4 every ten seconds for a day and every pair checked. Result: 18,355 passes closer than 5 km, most involving Starlink. A second screening against the big debris clouds found 468 encounters, and 10 Indian satellites among them, including EMISAT and SARAL. This is exactly the watch ORBITWATCH would run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satellites by official programme names gives a transparent lower bound. China operates about 406, including 164 Yaogan reconnaissance satellites, and adds about 43 a year. India operates about 17. SBS-III is the right answer but closes only about 13% of today's gap. During Operation Sindoor ten Indian satellites worked round the clock: the need is proven, the capacity is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can hide a military satellite; physics cannot. Trained on the CDM census using only orbit, mass, power and design life, the model scores 0.79 on satellites launched after 2014. The honest test changed the answer: trees looked best in ordinary cross-validation, 0.94, but fell to 0.64 on later satellites, so the simpler model was chosen. Launch mass and apogee give a satellite away most. It flags 83 registered civil or commercial satellites as military-like, led by navigation satellites with encrypted government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 is the adversary nobody can deter. In the CDM records, when sunspots are high, the chance of an intense magnetic storm in a month is 39%; when quiet, 6%. A Poisson model gives 1.88 times the rate per 50 sunspots. A periodogram of debris re-entries finds a 12-year cycle on its own: the solar cycle heats the upper atmosphere and drags objects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take all this risk? Because of what satellites see. Terra passes in the morning, Aqua in the afternoon. On a ten-kilometre grid, 84% of fire-days were seen by only one of them: a single satellite would have missed nearly half. For the Services the lesson is direct: persistence comes from numbers, and revisit decides whether a mobilisation or a launcher is caught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routes agree. A damped-trend forecast reaches about 36,000 satellites in orbit by 2030; tested on held-back years it erred by 8.6 percent. A bottom-up build from the announced constellations gives 20,901, 30,875 or 43,606 working satellites. The collision-risk index rises to about 17 times the 2014 level in the base case. China's planned shells at 1,050 to 1,200 kilometres are the concern: debris there stays for centuries.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commander acts, he asks how sure we are. Each headline was checked by a second source or a second method: UN registrations for growth, a second shell size for congestion, a sensitivity test for the intelligence count, two statistical tests for storms, and a back-test for the forecast. The intelligence count is a lower bound: covert satellites would only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India the problem is structural: rising dependence on space for banking, navigation, communications and warning, a falling share of working satellites, and a launch rate far behind China's. For the Services: plan on being watched, and plan on losing some space services in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becomes a standing monitor. Seven indicators, each with thresholds and an action on Red. Today six are Red: collision risk, growth rate, Chinese ISR build rate, India's share, storm odds, and crowding of our geostationary arc. The anti-satellite test indicator is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from the booklet, each with a lead, a timeline and a measure of success. The first costs almost nothing: the open catalogue and the pipeline already exist. The others build capacity and resilience.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technical criteria: everything is code. One command rebuilds every figure, table and number, and the Power BI dashboard uses the same tables. I can show the dashboard live if the panel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twelve years orbit became crowded, concentrated and contested, and India's share shrank while its dependence grew. The remedy is numbers, resilience and awareness. The ask is small and time-bound, with a clear stop test. Thank you, 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1.xm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548640" y="548640"/>
            <a:ext cx="822960" cy="822960"/>
          </a:xfrm>
          <a:prstGeom prst="ellipse">
            <a:avLst/>
          </a:prstGeom>
          <a:solidFill>
            <a:srgbClr val="2F5D8C"/>
          </a:solidFill>
          <a:ln w="12700">
            <a:solidFill>
              <a:srgbClr val="2F5D8C"/>
            </a:solidFill>
            <a:prstDash val="solid"/>
          </a:ln>
        </p:spPr>
      </p:sp>
      <p:pic>
        <p:nvPicPr>
          <p:cNvPr id="3" name="Image 0" descr="preencoded.png">    </p:cNvPr>
          <p:cNvPicPr>
            <a:picLocks noChangeAspect="1"/>
          </p:cNvPicPr>
          <p:nvPr/>
        </p:nvPicPr>
        <p:blipFill>
          <a:blip r:embed="rId1"/>
          <a:stretch>
            <a:fillRect/>
          </a:stretch>
        </p:blipFill>
        <p:spPr>
          <a:xfrm>
            <a:off x="729691" y="729691"/>
            <a:ext cx="460858" cy="460858"/>
          </a:xfrm>
          <a:prstGeom prst="rect">
            <a:avLst/>
          </a:prstGeom>
        </p:spPr>
      </p:pic>
      <p:sp>
        <p:nvSpPr>
          <p:cNvPr id="4" name="Text 1"/>
          <p:cNvSpPr txBox="1"/>
          <p:nvPr/>
        </p:nvSpPr>
        <p:spPr>
          <a:xfrm>
            <a:off x="1554480" y="713232"/>
            <a:ext cx="10058400" cy="457200"/>
          </a:xfrm>
          <a:prstGeom prst="rect">
            <a:avLst/>
          </a:prstGeom>
          <a:noFill/>
          <a:ln/>
        </p:spPr>
        <p:txBody>
          <a:bodyPr wrap="square" lIns="0" tIns="0" rIns="0" bIns="0" rtlCol="0" anchor="ctr"/>
          <a:lstStyle/>
          <a:p>
            <a:pPr indent="0" marL="0">
              <a:buNone/>
            </a:pPr>
            <a:r>
              <a:rPr lang="en-US" sz="1400" b="1" spc="200" kern="0" dirty="0">
                <a:solidFill>
                  <a:srgbClr val="D99A1E"/>
                </a:solidFill>
                <a:latin typeface="Calibri" pitchFamily="34" charset="0"/>
                <a:ea typeface="Calibri" pitchFamily="34" charset="-122"/>
                <a:cs typeface="Calibri" pitchFamily="34" charset="-120"/>
              </a:rPr>
              <a:t>CDM DATATHON-2026  ·  THEME 6.1  ·  CONTESTED AND CONGESTED</a:t>
            </a:r>
            <a:endParaRPr lang="en-US" sz="1400" dirty="0"/>
          </a:p>
        </p:txBody>
      </p:sp>
      <p:sp>
        <p:nvSpPr>
          <p:cNvPr id="5" name="Text 2"/>
          <p:cNvSpPr txBox="1"/>
          <p:nvPr/>
        </p:nvSpPr>
        <p:spPr>
          <a:xfrm>
            <a:off x="548640" y="1828800"/>
            <a:ext cx="109728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Project High Ground</a:t>
            </a:r>
            <a:endParaRPr lang="en-US" sz="6000" dirty="0"/>
          </a:p>
        </p:txBody>
      </p:sp>
      <p:sp>
        <p:nvSpPr>
          <p:cNvPr id="6" name="Text 3"/>
          <p:cNvSpPr txBox="1"/>
          <p:nvPr/>
        </p:nvSpPr>
        <p:spPr>
          <a:xfrm>
            <a:off x="548640" y="3063240"/>
            <a:ext cx="10515600" cy="822960"/>
          </a:xfrm>
          <a:prstGeom prst="rect">
            <a:avLst/>
          </a:prstGeom>
          <a:noFill/>
          <a:ln/>
        </p:spPr>
        <p:txBody>
          <a:bodyPr wrap="square" lIns="0" tIns="0" rIns="0" bIns="0" rtlCol="0" anchor="ctr"/>
          <a:lstStyle/>
          <a:p>
            <a:pPr indent="0" marL="0">
              <a:buNone/>
            </a:pPr>
            <a:r>
              <a:rPr lang="en-US" sz="2400" i="1" dirty="0">
                <a:solidFill>
                  <a:srgbClr val="D9DEE7"/>
                </a:solidFill>
                <a:latin typeface="Cambria" pitchFamily="34" charset="0"/>
                <a:ea typeface="Cambria" pitchFamily="34" charset="-122"/>
                <a:cs typeface="Cambria" pitchFamily="34" charset="-120"/>
              </a:rPr>
              <a:t>The crowding of orbit, and what it means for India and the Indian Armed Forces</a:t>
            </a:r>
            <a:endParaRPr lang="en-US" sz="2400" dirty="0"/>
          </a:p>
        </p:txBody>
      </p:sp>
      <p:sp>
        <p:nvSpPr>
          <p:cNvPr id="7" name="Text 4"/>
          <p:cNvSpPr txBox="1"/>
          <p:nvPr/>
        </p:nvSpPr>
        <p:spPr>
          <a:xfrm>
            <a:off x="548640" y="4572000"/>
            <a:ext cx="7315200" cy="1097280"/>
          </a:xfrm>
          <a:prstGeom prst="rect">
            <a:avLst/>
          </a:prstGeom>
          <a:noFill/>
          <a:ln/>
        </p:spPr>
        <p:txBody>
          <a:bodyPr wrap="square" lIns="0" tIns="0" rIns="0" bIns="0" rtlCol="0" anchor="ctr"/>
          <a:lstStyle/>
          <a:p>
            <a:pPr indent="0" marL="0">
              <a:spcAft>
                <a:spcPts val="400"/>
              </a:spcAft>
              <a:buNone/>
            </a:pPr>
            <a:r>
              <a:rPr lang="en-US" sz="1600" b="1" dirty="0">
                <a:solidFill>
                  <a:srgbClr val="FFFFFF"/>
                </a:solidFill>
                <a:latin typeface="Calibri" pitchFamily="34" charset="0"/>
                <a:ea typeface="Calibri" pitchFamily="34" charset="-122"/>
                <a:cs typeface="Calibri" pitchFamily="34" charset="-120"/>
              </a:rPr>
              <a:t>[Rank] Arjun Jayadev</a:t>
            </a:r>
            <a:endParaRPr lang="en-US" sz="1600" dirty="0"/>
          </a:p>
          <a:p>
            <a:pPr indent="0" marL="0">
              <a:spcAft>
                <a:spcPts val="400"/>
              </a:spcAft>
              <a:buNone/>
            </a:pPr>
            <a:r>
              <a:rPr lang="en-US" sz="1600" dirty="0">
                <a:solidFill>
                  <a:srgbClr val="AEB9C8"/>
                </a:solidFill>
                <a:latin typeface="Calibri" pitchFamily="34" charset="0"/>
                <a:ea typeface="Calibri" pitchFamily="34" charset="-122"/>
                <a:cs typeface="Calibri" pitchFamily="34" charset="-120"/>
              </a:rPr>
              <a:t>[Service No]  ·  [Unit / Formation]</a:t>
            </a:r>
            <a:endParaRPr lang="en-US" sz="1600" dirty="0"/>
          </a:p>
          <a:p>
            <a:pPr indent="0" marL="0">
              <a:spcAft>
                <a:spcPts val="400"/>
              </a:spcAft>
              <a:buNone/>
            </a:pPr>
            <a:r>
              <a:rPr lang="en-US" sz="1600" dirty="0">
                <a:solidFill>
                  <a:srgbClr val="AEB9C8"/>
                </a:solidFill>
                <a:latin typeface="Calibri" pitchFamily="34" charset="0"/>
                <a:ea typeface="Calibri" pitchFamily="34" charset="-122"/>
                <a:cs typeface="Calibri" pitchFamily="34" charset="-120"/>
              </a:rPr>
              <a:t>College of Defence Management  ·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BOTTOM LINE UP FRONT</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Orbit is crowded, concentrated and contested</a:t>
            </a:r>
            <a:endParaRPr lang="en-US" sz="2800" dirty="0"/>
          </a:p>
        </p:txBody>
      </p:sp>
      <p:sp>
        <p:nvSpPr>
          <p:cNvPr id="4" name="Shape 2"/>
          <p:cNvSpPr/>
          <p:nvPr/>
        </p:nvSpPr>
        <p:spPr>
          <a:xfrm>
            <a:off x="548640" y="1737360"/>
            <a:ext cx="3474720" cy="3017520"/>
          </a:xfrm>
          <a:prstGeom prst="roundRect">
            <a:avLst>
              <a:gd name="adj" fmla="val 2424"/>
            </a:avLst>
          </a:prstGeom>
          <a:solidFill>
            <a:srgbClr val="EEF2F7"/>
          </a:solidFill>
          <a:ln w="12700">
            <a:solidFill>
              <a:srgbClr val="EEF2F7"/>
            </a:solidFill>
            <a:prstDash val="solid"/>
          </a:ln>
        </p:spPr>
      </p:sp>
      <p:sp>
        <p:nvSpPr>
          <p:cNvPr id="5" name="Shape 3"/>
          <p:cNvSpPr/>
          <p:nvPr/>
        </p:nvSpPr>
        <p:spPr>
          <a:xfrm>
            <a:off x="868680" y="2011680"/>
            <a:ext cx="685800" cy="685800"/>
          </a:xfrm>
          <a:prstGeom prst="ellipse">
            <a:avLst/>
          </a:prstGeom>
          <a:solidFill>
            <a:srgbClr val="0B1D3A"/>
          </a:solidFill>
          <a:ln w="12700">
            <a:solidFill>
              <a:srgbClr val="0B1D3A"/>
            </a:solidFill>
            <a:prstDash val="solid"/>
          </a:ln>
        </p:spPr>
      </p:sp>
      <p:pic>
        <p:nvPicPr>
          <p:cNvPr id="6" name="Image 0" descr="preencoded.png">    </p:cNvPr>
          <p:cNvPicPr>
            <a:picLocks noChangeAspect="1"/>
          </p:cNvPicPr>
          <p:nvPr/>
        </p:nvPicPr>
        <p:blipFill>
          <a:blip r:embed="rId1"/>
          <a:stretch>
            <a:fillRect/>
          </a:stretch>
        </p:blipFill>
        <p:spPr>
          <a:xfrm>
            <a:off x="1019556" y="2162556"/>
            <a:ext cx="384048" cy="384048"/>
          </a:xfrm>
          <a:prstGeom prst="rect">
            <a:avLst/>
          </a:prstGeom>
        </p:spPr>
      </p:pic>
      <p:sp>
        <p:nvSpPr>
          <p:cNvPr id="7" name="Text 4"/>
          <p:cNvSpPr txBox="1"/>
          <p:nvPr/>
        </p:nvSpPr>
        <p:spPr>
          <a:xfrm>
            <a:off x="868680" y="2834640"/>
            <a:ext cx="2926080" cy="822960"/>
          </a:xfrm>
          <a:prstGeom prst="rect">
            <a:avLst/>
          </a:prstGeom>
          <a:noFill/>
          <a:ln/>
        </p:spPr>
        <p:txBody>
          <a:bodyPr wrap="square" lIns="0" tIns="0" rIns="0" bIns="0" rtlCol="0" anchor="ctr"/>
          <a:lstStyle/>
          <a:p>
            <a:pPr indent="0" marL="0">
              <a:buNone/>
            </a:pPr>
            <a:r>
              <a:rPr lang="en-US" sz="4400" b="1" dirty="0">
                <a:solidFill>
                  <a:srgbClr val="C0392B"/>
                </a:solidFill>
                <a:latin typeface="Cambria" pitchFamily="34" charset="0"/>
                <a:ea typeface="Cambria" pitchFamily="34" charset="-122"/>
                <a:cs typeface="Cambria" pitchFamily="34" charset="-120"/>
              </a:rPr>
              <a:t>15×</a:t>
            </a:r>
            <a:endParaRPr lang="en-US" sz="4400" dirty="0"/>
          </a:p>
        </p:txBody>
      </p:sp>
      <p:sp>
        <p:nvSpPr>
          <p:cNvPr id="8" name="Text 5"/>
          <p:cNvSpPr txBox="1"/>
          <p:nvPr/>
        </p:nvSpPr>
        <p:spPr>
          <a:xfrm>
            <a:off x="868680" y="3703320"/>
            <a:ext cx="2926080" cy="822960"/>
          </a:xfrm>
          <a:prstGeom prst="rect">
            <a:avLst/>
          </a:prstGeom>
          <a:noFill/>
          <a:ln/>
        </p:spPr>
        <p:txBody>
          <a:bodyPr wrap="square" lIns="0" tIns="0" rIns="0" bIns="0" rtlCol="0" anchor="t"/>
          <a:lstStyle/>
          <a:p>
            <a:pPr indent="0" marL="0">
              <a:buNone/>
            </a:pPr>
            <a:r>
              <a:rPr lang="en-US" sz="1500" dirty="0">
                <a:solidFill>
                  <a:srgbClr val="1B2433"/>
                </a:solidFill>
                <a:latin typeface="Calibri" pitchFamily="34" charset="0"/>
                <a:ea typeface="Calibri" pitchFamily="34" charset="-122"/>
                <a:cs typeface="Calibri" pitchFamily="34" charset="-120"/>
              </a:rPr>
              <a:t>working satellites since 2014: 1,167 to 17,062</a:t>
            </a:r>
            <a:endParaRPr lang="en-US" sz="1500" dirty="0"/>
          </a:p>
        </p:txBody>
      </p:sp>
      <p:sp>
        <p:nvSpPr>
          <p:cNvPr id="9" name="Shape 6"/>
          <p:cNvSpPr/>
          <p:nvPr/>
        </p:nvSpPr>
        <p:spPr>
          <a:xfrm>
            <a:off x="4297680" y="1737360"/>
            <a:ext cx="3474720" cy="3017520"/>
          </a:xfrm>
          <a:prstGeom prst="roundRect">
            <a:avLst>
              <a:gd name="adj" fmla="val 2424"/>
            </a:avLst>
          </a:prstGeom>
          <a:solidFill>
            <a:srgbClr val="EEF2F7"/>
          </a:solidFill>
          <a:ln w="12700">
            <a:solidFill>
              <a:srgbClr val="EEF2F7"/>
            </a:solidFill>
            <a:prstDash val="solid"/>
          </a:ln>
        </p:spPr>
      </p:sp>
      <p:sp>
        <p:nvSpPr>
          <p:cNvPr id="10" name="Shape 7"/>
          <p:cNvSpPr/>
          <p:nvPr/>
        </p:nvSpPr>
        <p:spPr>
          <a:xfrm>
            <a:off x="4617720" y="2011680"/>
            <a:ext cx="685800" cy="685800"/>
          </a:xfrm>
          <a:prstGeom prst="ellipse">
            <a:avLst/>
          </a:prstGeom>
          <a:solidFill>
            <a:srgbClr val="0B1D3A"/>
          </a:solidFill>
          <a:ln w="12700">
            <a:solidFill>
              <a:srgbClr val="0B1D3A"/>
            </a:solidFill>
            <a:prstDash val="solid"/>
          </a:ln>
        </p:spPr>
      </p:sp>
      <p:pic>
        <p:nvPicPr>
          <p:cNvPr id="11" name="Image 1" descr="preencoded.png">    </p:cNvPr>
          <p:cNvPicPr>
            <a:picLocks noChangeAspect="1"/>
          </p:cNvPicPr>
          <p:nvPr/>
        </p:nvPicPr>
        <p:blipFill>
          <a:blip r:embed="rId2"/>
          <a:stretch>
            <a:fillRect/>
          </a:stretch>
        </p:blipFill>
        <p:spPr>
          <a:xfrm>
            <a:off x="4768596" y="2162556"/>
            <a:ext cx="384048" cy="384048"/>
          </a:xfrm>
          <a:prstGeom prst="rect">
            <a:avLst/>
          </a:prstGeom>
        </p:spPr>
      </p:pic>
      <p:sp>
        <p:nvSpPr>
          <p:cNvPr id="12" name="Text 8"/>
          <p:cNvSpPr txBox="1"/>
          <p:nvPr/>
        </p:nvSpPr>
        <p:spPr>
          <a:xfrm>
            <a:off x="4617720" y="2834640"/>
            <a:ext cx="2926080" cy="822960"/>
          </a:xfrm>
          <a:prstGeom prst="rect">
            <a:avLst/>
          </a:prstGeom>
          <a:noFill/>
          <a:ln/>
        </p:spPr>
        <p:txBody>
          <a:bodyPr wrap="square" lIns="0" tIns="0" rIns="0" bIns="0" rtlCol="0" anchor="ctr"/>
          <a:lstStyle/>
          <a:p>
            <a:pPr indent="0" marL="0">
              <a:buNone/>
            </a:pPr>
            <a:r>
              <a:rPr lang="en-US" sz="4400" b="1" dirty="0">
                <a:solidFill>
                  <a:srgbClr val="C0392B"/>
                </a:solidFill>
                <a:latin typeface="Cambria" pitchFamily="34" charset="0"/>
                <a:ea typeface="Cambria" pitchFamily="34" charset="-122"/>
                <a:cs typeface="Cambria" pitchFamily="34" charset="-120"/>
              </a:rPr>
              <a:t>×10</a:t>
            </a:r>
            <a:endParaRPr lang="en-US" sz="4400" dirty="0"/>
          </a:p>
        </p:txBody>
      </p:sp>
      <p:sp>
        <p:nvSpPr>
          <p:cNvPr id="13" name="Text 9"/>
          <p:cNvSpPr txBox="1"/>
          <p:nvPr/>
        </p:nvSpPr>
        <p:spPr>
          <a:xfrm>
            <a:off x="4617720" y="3703320"/>
            <a:ext cx="2926080" cy="822960"/>
          </a:xfrm>
          <a:prstGeom prst="rect">
            <a:avLst/>
          </a:prstGeom>
          <a:noFill/>
          <a:ln/>
        </p:spPr>
        <p:txBody>
          <a:bodyPr wrap="square" lIns="0" tIns="0" rIns="0" bIns="0" rtlCol="0" anchor="t"/>
          <a:lstStyle/>
          <a:p>
            <a:pPr indent="0" marL="0">
              <a:buNone/>
            </a:pPr>
            <a:r>
              <a:rPr lang="en-US" sz="1500" dirty="0">
                <a:solidFill>
                  <a:srgbClr val="1B2433"/>
                </a:solidFill>
                <a:latin typeface="Calibri" pitchFamily="34" charset="0"/>
                <a:ea typeface="Calibri" pitchFamily="34" charset="-122"/>
                <a:cs typeface="Calibri" pitchFamily="34" charset="-120"/>
              </a:rPr>
              <a:t>collision-risk index in low orbit, against 2014</a:t>
            </a:r>
            <a:endParaRPr lang="en-US" sz="1500" dirty="0"/>
          </a:p>
        </p:txBody>
      </p:sp>
      <p:sp>
        <p:nvSpPr>
          <p:cNvPr id="14" name="Shape 10"/>
          <p:cNvSpPr/>
          <p:nvPr/>
        </p:nvSpPr>
        <p:spPr>
          <a:xfrm>
            <a:off x="8046720" y="1737360"/>
            <a:ext cx="3474720" cy="3017520"/>
          </a:xfrm>
          <a:prstGeom prst="roundRect">
            <a:avLst>
              <a:gd name="adj" fmla="val 2424"/>
            </a:avLst>
          </a:prstGeom>
          <a:solidFill>
            <a:srgbClr val="EEF2F7"/>
          </a:solidFill>
          <a:ln w="12700">
            <a:solidFill>
              <a:srgbClr val="EEF2F7"/>
            </a:solidFill>
            <a:prstDash val="solid"/>
          </a:ln>
        </p:spPr>
      </p:sp>
      <p:sp>
        <p:nvSpPr>
          <p:cNvPr id="15" name="Shape 11"/>
          <p:cNvSpPr/>
          <p:nvPr/>
        </p:nvSpPr>
        <p:spPr>
          <a:xfrm>
            <a:off x="8366760" y="2011680"/>
            <a:ext cx="685800" cy="685800"/>
          </a:xfrm>
          <a:prstGeom prst="ellipse">
            <a:avLst/>
          </a:prstGeom>
          <a:solidFill>
            <a:srgbClr val="0B1D3A"/>
          </a:solidFill>
          <a:ln w="12700">
            <a:solidFill>
              <a:srgbClr val="0B1D3A"/>
            </a:solidFill>
            <a:prstDash val="solid"/>
          </a:ln>
        </p:spPr>
      </p:sp>
      <p:pic>
        <p:nvPicPr>
          <p:cNvPr id="16" name="Image 2" descr="preencoded.png">    </p:cNvPr>
          <p:cNvPicPr>
            <a:picLocks noChangeAspect="1"/>
          </p:cNvPicPr>
          <p:nvPr/>
        </p:nvPicPr>
        <p:blipFill>
          <a:blip r:embed="rId3"/>
          <a:stretch>
            <a:fillRect/>
          </a:stretch>
        </p:blipFill>
        <p:spPr>
          <a:xfrm>
            <a:off x="8517636" y="2162556"/>
            <a:ext cx="384048" cy="384048"/>
          </a:xfrm>
          <a:prstGeom prst="rect">
            <a:avLst/>
          </a:prstGeom>
        </p:spPr>
      </p:pic>
      <p:sp>
        <p:nvSpPr>
          <p:cNvPr id="17" name="Text 12"/>
          <p:cNvSpPr txBox="1"/>
          <p:nvPr/>
        </p:nvSpPr>
        <p:spPr>
          <a:xfrm>
            <a:off x="8366760" y="2834640"/>
            <a:ext cx="2926080" cy="822960"/>
          </a:xfrm>
          <a:prstGeom prst="rect">
            <a:avLst/>
          </a:prstGeom>
          <a:noFill/>
          <a:ln/>
        </p:spPr>
        <p:txBody>
          <a:bodyPr wrap="square" lIns="0" tIns="0" rIns="0" bIns="0" rtlCol="0" anchor="ctr"/>
          <a:lstStyle/>
          <a:p>
            <a:pPr indent="0" marL="0">
              <a:buNone/>
            </a:pPr>
            <a:r>
              <a:rPr lang="en-US" sz="4400" b="1" dirty="0">
                <a:solidFill>
                  <a:srgbClr val="C0392B"/>
                </a:solidFill>
                <a:latin typeface="Cambria" pitchFamily="34" charset="0"/>
                <a:ea typeface="Cambria" pitchFamily="34" charset="-122"/>
                <a:cs typeface="Cambria" pitchFamily="34" charset="-120"/>
              </a:rPr>
              <a:t>406 : 17</a:t>
            </a:r>
            <a:endParaRPr lang="en-US" sz="4400" dirty="0"/>
          </a:p>
        </p:txBody>
      </p:sp>
      <p:sp>
        <p:nvSpPr>
          <p:cNvPr id="18" name="Text 13"/>
          <p:cNvSpPr txBox="1"/>
          <p:nvPr/>
        </p:nvSpPr>
        <p:spPr>
          <a:xfrm>
            <a:off x="8366760" y="3703320"/>
            <a:ext cx="2926080" cy="822960"/>
          </a:xfrm>
          <a:prstGeom prst="rect">
            <a:avLst/>
          </a:prstGeom>
          <a:noFill/>
          <a:ln/>
        </p:spPr>
        <p:txBody>
          <a:bodyPr wrap="square" lIns="0" tIns="0" rIns="0" bIns="0" rtlCol="0" anchor="t"/>
          <a:lstStyle/>
          <a:p>
            <a:pPr indent="0" marL="0">
              <a:buNone/>
            </a:pPr>
            <a:r>
              <a:rPr lang="en-US" sz="1500" dirty="0">
                <a:solidFill>
                  <a:srgbClr val="1B2433"/>
                </a:solidFill>
                <a:latin typeface="Calibri" pitchFamily="34" charset="0"/>
                <a:ea typeface="Calibri" pitchFamily="34" charset="-122"/>
                <a:cs typeface="Calibri" pitchFamily="34" charset="-120"/>
              </a:rPr>
              <a:t>state ISR and military satellites, China : India</a:t>
            </a:r>
            <a:endParaRPr lang="en-US" sz="1500" dirty="0"/>
          </a:p>
        </p:txBody>
      </p:sp>
      <p:sp>
        <p:nvSpPr>
          <p:cNvPr id="19" name="Text 14"/>
          <p:cNvSpPr txBox="1"/>
          <p:nvPr/>
        </p:nvSpPr>
        <p:spPr>
          <a:xfrm>
            <a:off x="548640" y="5120640"/>
            <a:ext cx="11064240" cy="73152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Decision sought: </a:t>
            </a:r>
            <a:pPr indent="0" marL="0">
              <a:buNone/>
            </a:pPr>
            <a:r>
              <a:rPr lang="en-US" sz="1700" dirty="0">
                <a:solidFill>
                  <a:srgbClr val="1B2433"/>
                </a:solidFill>
                <a:latin typeface="Calibri" pitchFamily="34" charset="0"/>
                <a:ea typeface="Calibri" pitchFamily="34" charset="-122"/>
                <a:cs typeface="Calibri" pitchFamily="34" charset="-120"/>
              </a:rPr>
              <a:t>a four-month ORBITWATCH proof of concept at the Defence Space Agency, using the open catalogue and the pipeline already built.</a:t>
            </a:r>
            <a:endParaRPr lang="en-US" sz="1700" dirty="0"/>
          </a:p>
        </p:txBody>
      </p:sp>
      <p:sp>
        <p:nvSpPr>
          <p:cNvPr id="20" name="Text 1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21" name="Text 16"/>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DEFINING THE PROBLEM · DATA</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Five questions, seven sources of evidence</a:t>
            </a:r>
            <a:endParaRPr lang="en-US" sz="2800" dirty="0"/>
          </a:p>
        </p:txBody>
      </p:sp>
      <p:sp>
        <p:nvSpPr>
          <p:cNvPr id="4" name="Shape 2"/>
          <p:cNvSpPr/>
          <p:nvPr/>
        </p:nvSpPr>
        <p:spPr>
          <a:xfrm>
            <a:off x="548640" y="1691640"/>
            <a:ext cx="457200" cy="457200"/>
          </a:xfrm>
          <a:prstGeom prst="ellipse">
            <a:avLst/>
          </a:prstGeom>
          <a:solidFill>
            <a:srgbClr val="0B1D3A"/>
          </a:solidFill>
          <a:ln w="12700">
            <a:solidFill>
              <a:srgbClr val="0B1D3A"/>
            </a:solidFill>
            <a:prstDash val="solid"/>
          </a:ln>
        </p:spPr>
      </p:sp>
      <p:pic>
        <p:nvPicPr>
          <p:cNvPr id="5" name="Image 0" descr="preencoded.png">    </p:cNvPr>
          <p:cNvPicPr>
            <a:picLocks noChangeAspect="1"/>
          </p:cNvPicPr>
          <p:nvPr/>
        </p:nvPicPr>
        <p:blipFill>
          <a:blip r:embed="rId1"/>
          <a:stretch>
            <a:fillRect/>
          </a:stretch>
        </p:blipFill>
        <p:spPr>
          <a:xfrm>
            <a:off x="649224" y="1792224"/>
            <a:ext cx="256032" cy="256032"/>
          </a:xfrm>
          <a:prstGeom prst="rect">
            <a:avLst/>
          </a:prstGeom>
        </p:spPr>
      </p:pic>
      <p:sp>
        <p:nvSpPr>
          <p:cNvPr id="6" name="Text 3"/>
          <p:cNvSpPr txBox="1"/>
          <p:nvPr/>
        </p:nvSpPr>
        <p:spPr>
          <a:xfrm>
            <a:off x="1143000" y="1691640"/>
            <a:ext cx="4754880" cy="457200"/>
          </a:xfrm>
          <a:prstGeom prst="rect">
            <a:avLst/>
          </a:prstGeom>
          <a:noFill/>
          <a:ln/>
        </p:spPr>
        <p:txBody>
          <a:bodyPr wrap="square" lIns="0" tIns="0" rIns="0" bIns="0" rtlCol="0" anchor="ctr"/>
          <a:lstStyle/>
          <a:p>
            <a:pPr indent="0" marL="0">
              <a:buNone/>
            </a:pPr>
            <a:r>
              <a:rPr lang="en-US" sz="1600" dirty="0">
                <a:solidFill>
                  <a:srgbClr val="1B2433"/>
                </a:solidFill>
                <a:latin typeface="Calibri" pitchFamily="34" charset="0"/>
                <a:ea typeface="Calibri" pitchFamily="34" charset="-122"/>
                <a:cs typeface="Calibri" pitchFamily="34" charset="-120"/>
              </a:rPr>
              <a:t>How crowded has orbit become since 2014?</a:t>
            </a:r>
            <a:endParaRPr lang="en-US" sz="1600" dirty="0"/>
          </a:p>
        </p:txBody>
      </p:sp>
      <p:sp>
        <p:nvSpPr>
          <p:cNvPr id="7" name="Shape 4"/>
          <p:cNvSpPr/>
          <p:nvPr/>
        </p:nvSpPr>
        <p:spPr>
          <a:xfrm>
            <a:off x="548640" y="2468880"/>
            <a:ext cx="457200" cy="457200"/>
          </a:xfrm>
          <a:prstGeom prst="ellipse">
            <a:avLst/>
          </a:prstGeom>
          <a:solidFill>
            <a:srgbClr val="0B1D3A"/>
          </a:solidFill>
          <a:ln w="12700">
            <a:solidFill>
              <a:srgbClr val="0B1D3A"/>
            </a:solidFill>
            <a:prstDash val="solid"/>
          </a:ln>
        </p:spPr>
      </p:sp>
      <p:pic>
        <p:nvPicPr>
          <p:cNvPr id="8" name="Image 1" descr="preencoded.png">    </p:cNvPr>
          <p:cNvPicPr>
            <a:picLocks noChangeAspect="1"/>
          </p:cNvPicPr>
          <p:nvPr/>
        </p:nvPicPr>
        <p:blipFill>
          <a:blip r:embed="rId2"/>
          <a:stretch>
            <a:fillRect/>
          </a:stretch>
        </p:blipFill>
        <p:spPr>
          <a:xfrm>
            <a:off x="649224" y="2569464"/>
            <a:ext cx="256032" cy="256032"/>
          </a:xfrm>
          <a:prstGeom prst="rect">
            <a:avLst/>
          </a:prstGeom>
        </p:spPr>
      </p:pic>
      <p:sp>
        <p:nvSpPr>
          <p:cNvPr id="9" name="Text 5"/>
          <p:cNvSpPr txBox="1"/>
          <p:nvPr/>
        </p:nvSpPr>
        <p:spPr>
          <a:xfrm>
            <a:off x="1143000" y="2468880"/>
            <a:ext cx="4754880" cy="457200"/>
          </a:xfrm>
          <a:prstGeom prst="rect">
            <a:avLst/>
          </a:prstGeom>
          <a:noFill/>
          <a:ln/>
        </p:spPr>
        <p:txBody>
          <a:bodyPr wrap="square" lIns="0" tIns="0" rIns="0" bIns="0" rtlCol="0" anchor="ctr"/>
          <a:lstStyle/>
          <a:p>
            <a:pPr indent="0" marL="0">
              <a:buNone/>
            </a:pPr>
            <a:r>
              <a:rPr lang="en-US" sz="1600" dirty="0">
                <a:solidFill>
                  <a:srgbClr val="1B2433"/>
                </a:solidFill>
                <a:latin typeface="Calibri" pitchFamily="34" charset="0"/>
                <a:ea typeface="Calibri" pitchFamily="34" charset="-122"/>
                <a:cs typeface="Calibri" pitchFamily="34" charset="-120"/>
              </a:rPr>
              <a:t>Whose satellites are they, and what are they for?</a:t>
            </a:r>
            <a:endParaRPr lang="en-US" sz="1600" dirty="0"/>
          </a:p>
        </p:txBody>
      </p:sp>
      <p:sp>
        <p:nvSpPr>
          <p:cNvPr id="10" name="Shape 6"/>
          <p:cNvSpPr/>
          <p:nvPr/>
        </p:nvSpPr>
        <p:spPr>
          <a:xfrm>
            <a:off x="548640" y="3246120"/>
            <a:ext cx="457200" cy="457200"/>
          </a:xfrm>
          <a:prstGeom prst="ellipse">
            <a:avLst/>
          </a:prstGeom>
          <a:solidFill>
            <a:srgbClr val="0B1D3A"/>
          </a:solidFill>
          <a:ln w="12700">
            <a:solidFill>
              <a:srgbClr val="0B1D3A"/>
            </a:solidFill>
            <a:prstDash val="solid"/>
          </a:ln>
        </p:spPr>
      </p:sp>
      <p:pic>
        <p:nvPicPr>
          <p:cNvPr id="11" name="Image 2" descr="preencoded.png">    </p:cNvPr>
          <p:cNvPicPr>
            <a:picLocks noChangeAspect="1"/>
          </p:cNvPicPr>
          <p:nvPr/>
        </p:nvPicPr>
        <p:blipFill>
          <a:blip r:embed="rId3"/>
          <a:stretch>
            <a:fillRect/>
          </a:stretch>
        </p:blipFill>
        <p:spPr>
          <a:xfrm>
            <a:off x="649224" y="3346704"/>
            <a:ext cx="256032" cy="256032"/>
          </a:xfrm>
          <a:prstGeom prst="rect">
            <a:avLst/>
          </a:prstGeom>
        </p:spPr>
      </p:pic>
      <p:sp>
        <p:nvSpPr>
          <p:cNvPr id="12" name="Text 7"/>
          <p:cNvSpPr txBox="1"/>
          <p:nvPr/>
        </p:nvSpPr>
        <p:spPr>
          <a:xfrm>
            <a:off x="1143000" y="3246120"/>
            <a:ext cx="4754880" cy="457200"/>
          </a:xfrm>
          <a:prstGeom prst="rect">
            <a:avLst/>
          </a:prstGeom>
          <a:noFill/>
          <a:ln/>
        </p:spPr>
        <p:txBody>
          <a:bodyPr wrap="square" lIns="0" tIns="0" rIns="0" bIns="0" rtlCol="0" anchor="ctr"/>
          <a:lstStyle/>
          <a:p>
            <a:pPr indent="0" marL="0">
              <a:buNone/>
            </a:pPr>
            <a:r>
              <a:rPr lang="en-US" sz="1600" dirty="0">
                <a:solidFill>
                  <a:srgbClr val="1B2433"/>
                </a:solidFill>
                <a:latin typeface="Calibri" pitchFamily="34" charset="0"/>
                <a:ea typeface="Calibri" pitchFamily="34" charset="-122"/>
                <a:cs typeface="Calibri" pitchFamily="34" charset="-120"/>
              </a:rPr>
              <a:t>Where is orbit crowded, and how dangerous is it?</a:t>
            </a:r>
            <a:endParaRPr lang="en-US" sz="1600" dirty="0"/>
          </a:p>
        </p:txBody>
      </p:sp>
      <p:sp>
        <p:nvSpPr>
          <p:cNvPr id="13" name="Shape 8"/>
          <p:cNvSpPr/>
          <p:nvPr/>
        </p:nvSpPr>
        <p:spPr>
          <a:xfrm>
            <a:off x="548640" y="4023360"/>
            <a:ext cx="457200" cy="457200"/>
          </a:xfrm>
          <a:prstGeom prst="ellipse">
            <a:avLst/>
          </a:prstGeom>
          <a:solidFill>
            <a:srgbClr val="0B1D3A"/>
          </a:solidFill>
          <a:ln w="12700">
            <a:solidFill>
              <a:srgbClr val="0B1D3A"/>
            </a:solidFill>
            <a:prstDash val="solid"/>
          </a:ln>
        </p:spPr>
      </p:sp>
      <p:pic>
        <p:nvPicPr>
          <p:cNvPr id="14" name="Image 3" descr="preencoded.png">    </p:cNvPr>
          <p:cNvPicPr>
            <a:picLocks noChangeAspect="1"/>
          </p:cNvPicPr>
          <p:nvPr/>
        </p:nvPicPr>
        <p:blipFill>
          <a:blip r:embed="rId4"/>
          <a:stretch>
            <a:fillRect/>
          </a:stretch>
        </p:blipFill>
        <p:spPr>
          <a:xfrm>
            <a:off x="649224" y="4123944"/>
            <a:ext cx="256032" cy="256032"/>
          </a:xfrm>
          <a:prstGeom prst="rect">
            <a:avLst/>
          </a:prstGeom>
        </p:spPr>
      </p:pic>
      <p:sp>
        <p:nvSpPr>
          <p:cNvPr id="15" name="Text 9"/>
          <p:cNvSpPr txBox="1"/>
          <p:nvPr/>
        </p:nvSpPr>
        <p:spPr>
          <a:xfrm>
            <a:off x="1143000" y="4023360"/>
            <a:ext cx="4754880" cy="457200"/>
          </a:xfrm>
          <a:prstGeom prst="rect">
            <a:avLst/>
          </a:prstGeom>
          <a:noFill/>
          <a:ln/>
        </p:spPr>
        <p:txBody>
          <a:bodyPr wrap="square" lIns="0" tIns="0" rIns="0" bIns="0" rtlCol="0" anchor="ctr"/>
          <a:lstStyle/>
          <a:p>
            <a:pPr indent="0" marL="0">
              <a:buNone/>
            </a:pPr>
            <a:r>
              <a:rPr lang="en-US" sz="1600" dirty="0">
                <a:solidFill>
                  <a:srgbClr val="1B2433"/>
                </a:solidFill>
                <a:latin typeface="Calibri" pitchFamily="34" charset="0"/>
                <a:ea typeface="Calibri" pitchFamily="34" charset="-122"/>
                <a:cs typeface="Calibri" pitchFamily="34" charset="-120"/>
              </a:rPr>
              <a:t>Who is building military eyes in orbit?</a:t>
            </a:r>
            <a:endParaRPr lang="en-US" sz="1600" dirty="0"/>
          </a:p>
        </p:txBody>
      </p:sp>
      <p:sp>
        <p:nvSpPr>
          <p:cNvPr id="16" name="Shape 10"/>
          <p:cNvSpPr/>
          <p:nvPr/>
        </p:nvSpPr>
        <p:spPr>
          <a:xfrm>
            <a:off x="548640" y="4800600"/>
            <a:ext cx="457200" cy="457200"/>
          </a:xfrm>
          <a:prstGeom prst="ellipse">
            <a:avLst/>
          </a:prstGeom>
          <a:solidFill>
            <a:srgbClr val="0B1D3A"/>
          </a:solidFill>
          <a:ln w="12700">
            <a:solidFill>
              <a:srgbClr val="0B1D3A"/>
            </a:solidFill>
            <a:prstDash val="solid"/>
          </a:ln>
        </p:spPr>
      </p:sp>
      <p:pic>
        <p:nvPicPr>
          <p:cNvPr id="17" name="Image 4" descr="preencoded.png">    </p:cNvPr>
          <p:cNvPicPr>
            <a:picLocks noChangeAspect="1"/>
          </p:cNvPicPr>
          <p:nvPr/>
        </p:nvPicPr>
        <p:blipFill>
          <a:blip r:embed="rId5"/>
          <a:stretch>
            <a:fillRect/>
          </a:stretch>
        </p:blipFill>
        <p:spPr>
          <a:xfrm>
            <a:off x="649224" y="4901184"/>
            <a:ext cx="256032" cy="256032"/>
          </a:xfrm>
          <a:prstGeom prst="rect">
            <a:avLst/>
          </a:prstGeom>
        </p:spPr>
      </p:pic>
      <p:sp>
        <p:nvSpPr>
          <p:cNvPr id="18" name="Text 11"/>
          <p:cNvSpPr txBox="1"/>
          <p:nvPr/>
        </p:nvSpPr>
        <p:spPr>
          <a:xfrm>
            <a:off x="1143000" y="4800600"/>
            <a:ext cx="4754880" cy="457200"/>
          </a:xfrm>
          <a:prstGeom prst="rect">
            <a:avLst/>
          </a:prstGeom>
          <a:noFill/>
          <a:ln/>
        </p:spPr>
        <p:txBody>
          <a:bodyPr wrap="square" lIns="0" tIns="0" rIns="0" bIns="0" rtlCol="0" anchor="ctr"/>
          <a:lstStyle/>
          <a:p>
            <a:pPr indent="0" marL="0">
              <a:buNone/>
            </a:pPr>
            <a:r>
              <a:rPr lang="en-US" sz="1600" dirty="0">
                <a:solidFill>
                  <a:srgbClr val="1B2433"/>
                </a:solidFill>
                <a:latin typeface="Calibri" pitchFamily="34" charset="0"/>
                <a:ea typeface="Calibri" pitchFamily="34" charset="-122"/>
                <a:cs typeface="Calibri" pitchFamily="34" charset="-120"/>
              </a:rPr>
              <a:t>What should India and its Armed Forces do?</a:t>
            </a:r>
            <a:endParaRPr lang="en-US" sz="1600" dirty="0"/>
          </a:p>
        </p:txBody>
      </p:sp>
      <p:sp>
        <p:nvSpPr>
          <p:cNvPr id="19" name="Shape 12"/>
          <p:cNvSpPr/>
          <p:nvPr/>
        </p:nvSpPr>
        <p:spPr>
          <a:xfrm>
            <a:off x="6309360" y="1691640"/>
            <a:ext cx="2560320" cy="1188720"/>
          </a:xfrm>
          <a:prstGeom prst="roundRect">
            <a:avLst>
              <a:gd name="adj" fmla="val 6154"/>
            </a:avLst>
          </a:prstGeom>
          <a:solidFill>
            <a:srgbClr val="EEF2F7"/>
          </a:solidFill>
          <a:ln w="12700">
            <a:solidFill>
              <a:srgbClr val="EEF2F7"/>
            </a:solidFill>
            <a:prstDash val="solid"/>
          </a:ln>
        </p:spPr>
      </p:sp>
      <p:sp>
        <p:nvSpPr>
          <p:cNvPr id="20" name="Shape 13"/>
          <p:cNvSpPr/>
          <p:nvPr/>
        </p:nvSpPr>
        <p:spPr>
          <a:xfrm>
            <a:off x="6446520" y="1828800"/>
            <a:ext cx="411480" cy="411480"/>
          </a:xfrm>
          <a:prstGeom prst="ellipse">
            <a:avLst/>
          </a:prstGeom>
          <a:solidFill>
            <a:srgbClr val="C0392B"/>
          </a:solidFill>
          <a:ln w="12700">
            <a:solidFill>
              <a:srgbClr val="C0392B"/>
            </a:solidFill>
            <a:prstDash val="solid"/>
          </a:ln>
        </p:spPr>
      </p:sp>
      <p:pic>
        <p:nvPicPr>
          <p:cNvPr id="21" name="Image 5" descr="preencoded.png">    </p:cNvPr>
          <p:cNvPicPr>
            <a:picLocks noChangeAspect="1"/>
          </p:cNvPicPr>
          <p:nvPr/>
        </p:nvPicPr>
        <p:blipFill>
          <a:blip r:embed="rId6"/>
          <a:stretch>
            <a:fillRect/>
          </a:stretch>
        </p:blipFill>
        <p:spPr>
          <a:xfrm>
            <a:off x="6537046" y="1919326"/>
            <a:ext cx="230429" cy="230429"/>
          </a:xfrm>
          <a:prstGeom prst="rect">
            <a:avLst/>
          </a:prstGeom>
        </p:spPr>
      </p:pic>
      <p:sp>
        <p:nvSpPr>
          <p:cNvPr id="22" name="Text 14"/>
          <p:cNvSpPr txBox="1"/>
          <p:nvPr/>
        </p:nvSpPr>
        <p:spPr>
          <a:xfrm>
            <a:off x="6949440" y="180136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CDM satellite census</a:t>
            </a:r>
            <a:endParaRPr lang="en-US" sz="1250" dirty="0"/>
          </a:p>
        </p:txBody>
      </p:sp>
      <p:sp>
        <p:nvSpPr>
          <p:cNvPr id="23" name="Text 15"/>
          <p:cNvSpPr txBox="1"/>
          <p:nvPr/>
        </p:nvSpPr>
        <p:spPr>
          <a:xfrm>
            <a:off x="6446520" y="233172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1,167 active satellites, Jan 2014</a:t>
            </a:r>
            <a:endParaRPr lang="en-US" sz="1150" dirty="0"/>
          </a:p>
        </p:txBody>
      </p:sp>
      <p:sp>
        <p:nvSpPr>
          <p:cNvPr id="24" name="Shape 16"/>
          <p:cNvSpPr/>
          <p:nvPr/>
        </p:nvSpPr>
        <p:spPr>
          <a:xfrm>
            <a:off x="9052560" y="1691640"/>
            <a:ext cx="2560320" cy="1188720"/>
          </a:xfrm>
          <a:prstGeom prst="roundRect">
            <a:avLst>
              <a:gd name="adj" fmla="val 6154"/>
            </a:avLst>
          </a:prstGeom>
          <a:solidFill>
            <a:srgbClr val="EEF2F7"/>
          </a:solidFill>
          <a:ln w="12700">
            <a:solidFill>
              <a:srgbClr val="EEF2F7"/>
            </a:solidFill>
            <a:prstDash val="solid"/>
          </a:ln>
        </p:spPr>
      </p:sp>
      <p:sp>
        <p:nvSpPr>
          <p:cNvPr id="25" name="Shape 17"/>
          <p:cNvSpPr/>
          <p:nvPr/>
        </p:nvSpPr>
        <p:spPr>
          <a:xfrm>
            <a:off x="9189720" y="1828800"/>
            <a:ext cx="411480" cy="411480"/>
          </a:xfrm>
          <a:prstGeom prst="ellipse">
            <a:avLst/>
          </a:prstGeom>
          <a:solidFill>
            <a:srgbClr val="C0392B"/>
          </a:solidFill>
          <a:ln w="12700">
            <a:solidFill>
              <a:srgbClr val="C0392B"/>
            </a:solidFill>
            <a:prstDash val="solid"/>
          </a:ln>
        </p:spPr>
      </p:sp>
      <p:pic>
        <p:nvPicPr>
          <p:cNvPr id="26" name="Image 6" descr="preencoded.png">    </p:cNvPr>
          <p:cNvPicPr>
            <a:picLocks noChangeAspect="1"/>
          </p:cNvPicPr>
          <p:nvPr/>
        </p:nvPicPr>
        <p:blipFill>
          <a:blip r:embed="rId7"/>
          <a:stretch>
            <a:fillRect/>
          </a:stretch>
        </p:blipFill>
        <p:spPr>
          <a:xfrm>
            <a:off x="9280246" y="1919326"/>
            <a:ext cx="230429" cy="230429"/>
          </a:xfrm>
          <a:prstGeom prst="rect">
            <a:avLst/>
          </a:prstGeom>
        </p:spPr>
      </p:pic>
      <p:sp>
        <p:nvSpPr>
          <p:cNvPr id="27" name="Text 18"/>
          <p:cNvSpPr txBox="1"/>
          <p:nvPr/>
        </p:nvSpPr>
        <p:spPr>
          <a:xfrm>
            <a:off x="9692640" y="180136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CDM space weather</a:t>
            </a:r>
            <a:endParaRPr lang="en-US" sz="1250" dirty="0"/>
          </a:p>
        </p:txBody>
      </p:sp>
      <p:sp>
        <p:nvSpPr>
          <p:cNvPr id="28" name="Text 19"/>
          <p:cNvSpPr txBox="1"/>
          <p:nvPr/>
        </p:nvSpPr>
        <p:spPr>
          <a:xfrm>
            <a:off x="9189720" y="233172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139,872 hours of Dst + sunspots</a:t>
            </a:r>
            <a:endParaRPr lang="en-US" sz="1150" dirty="0"/>
          </a:p>
        </p:txBody>
      </p:sp>
      <p:sp>
        <p:nvSpPr>
          <p:cNvPr id="29" name="Shape 20"/>
          <p:cNvSpPr/>
          <p:nvPr/>
        </p:nvSpPr>
        <p:spPr>
          <a:xfrm>
            <a:off x="6309360" y="3017520"/>
            <a:ext cx="2560320" cy="1188720"/>
          </a:xfrm>
          <a:prstGeom prst="roundRect">
            <a:avLst>
              <a:gd name="adj" fmla="val 6154"/>
            </a:avLst>
          </a:prstGeom>
          <a:solidFill>
            <a:srgbClr val="EEF2F7"/>
          </a:solidFill>
          <a:ln w="12700">
            <a:solidFill>
              <a:srgbClr val="EEF2F7"/>
            </a:solidFill>
            <a:prstDash val="solid"/>
          </a:ln>
        </p:spPr>
      </p:sp>
      <p:sp>
        <p:nvSpPr>
          <p:cNvPr id="30" name="Shape 21"/>
          <p:cNvSpPr/>
          <p:nvPr/>
        </p:nvSpPr>
        <p:spPr>
          <a:xfrm>
            <a:off x="6446520" y="3154680"/>
            <a:ext cx="411480" cy="411480"/>
          </a:xfrm>
          <a:prstGeom prst="ellipse">
            <a:avLst/>
          </a:prstGeom>
          <a:solidFill>
            <a:srgbClr val="C0392B"/>
          </a:solidFill>
          <a:ln w="12700">
            <a:solidFill>
              <a:srgbClr val="C0392B"/>
            </a:solidFill>
            <a:prstDash val="solid"/>
          </a:ln>
        </p:spPr>
      </p:sp>
      <p:pic>
        <p:nvPicPr>
          <p:cNvPr id="31" name="Image 7" descr="preencoded.png">    </p:cNvPr>
          <p:cNvPicPr>
            <a:picLocks noChangeAspect="1"/>
          </p:cNvPicPr>
          <p:nvPr/>
        </p:nvPicPr>
        <p:blipFill>
          <a:blip r:embed="rId8"/>
          <a:stretch>
            <a:fillRect/>
          </a:stretch>
        </p:blipFill>
        <p:spPr>
          <a:xfrm>
            <a:off x="6537046" y="3245206"/>
            <a:ext cx="230429" cy="230429"/>
          </a:xfrm>
          <a:prstGeom prst="rect">
            <a:avLst/>
          </a:prstGeom>
        </p:spPr>
      </p:pic>
      <p:sp>
        <p:nvSpPr>
          <p:cNvPr id="32" name="Text 22"/>
          <p:cNvSpPr txBox="1"/>
          <p:nvPr/>
        </p:nvSpPr>
        <p:spPr>
          <a:xfrm>
            <a:off x="6949440" y="312724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CDM MODIS fires</a:t>
            </a:r>
            <a:endParaRPr lang="en-US" sz="1250" dirty="0"/>
          </a:p>
        </p:txBody>
      </p:sp>
      <p:sp>
        <p:nvSpPr>
          <p:cNvPr id="33" name="Text 23"/>
          <p:cNvSpPr txBox="1"/>
          <p:nvPr/>
        </p:nvSpPr>
        <p:spPr>
          <a:xfrm>
            <a:off x="6446520" y="365760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1.25 million detections, 2010-20</a:t>
            </a:r>
            <a:endParaRPr lang="en-US" sz="1150" dirty="0"/>
          </a:p>
        </p:txBody>
      </p:sp>
      <p:sp>
        <p:nvSpPr>
          <p:cNvPr id="34" name="Shape 24"/>
          <p:cNvSpPr/>
          <p:nvPr/>
        </p:nvSpPr>
        <p:spPr>
          <a:xfrm>
            <a:off x="9052560" y="3017520"/>
            <a:ext cx="2560320" cy="1188720"/>
          </a:xfrm>
          <a:prstGeom prst="roundRect">
            <a:avLst>
              <a:gd name="adj" fmla="val 6154"/>
            </a:avLst>
          </a:prstGeom>
          <a:solidFill>
            <a:srgbClr val="EEF2F7"/>
          </a:solidFill>
          <a:ln w="12700">
            <a:solidFill>
              <a:srgbClr val="EEF2F7"/>
            </a:solidFill>
            <a:prstDash val="solid"/>
          </a:ln>
        </p:spPr>
      </p:sp>
      <p:sp>
        <p:nvSpPr>
          <p:cNvPr id="35" name="Shape 25"/>
          <p:cNvSpPr/>
          <p:nvPr/>
        </p:nvSpPr>
        <p:spPr>
          <a:xfrm>
            <a:off x="9189720" y="3154680"/>
            <a:ext cx="411480" cy="411480"/>
          </a:xfrm>
          <a:prstGeom prst="ellipse">
            <a:avLst/>
          </a:prstGeom>
          <a:solidFill>
            <a:srgbClr val="2F5D8C"/>
          </a:solidFill>
          <a:ln w="12700">
            <a:solidFill>
              <a:srgbClr val="2F5D8C"/>
            </a:solidFill>
            <a:prstDash val="solid"/>
          </a:ln>
        </p:spPr>
      </p:sp>
      <p:pic>
        <p:nvPicPr>
          <p:cNvPr id="36" name="Image 8" descr="preencoded.png">    </p:cNvPr>
          <p:cNvPicPr>
            <a:picLocks noChangeAspect="1"/>
          </p:cNvPicPr>
          <p:nvPr/>
        </p:nvPicPr>
        <p:blipFill>
          <a:blip r:embed="rId9"/>
          <a:stretch>
            <a:fillRect/>
          </a:stretch>
        </p:blipFill>
        <p:spPr>
          <a:xfrm>
            <a:off x="9280246" y="3245206"/>
            <a:ext cx="230429" cy="230429"/>
          </a:xfrm>
          <a:prstGeom prst="rect">
            <a:avLst/>
          </a:prstGeom>
        </p:spPr>
      </p:pic>
      <p:sp>
        <p:nvSpPr>
          <p:cNvPr id="37" name="Text 26"/>
          <p:cNvSpPr txBox="1"/>
          <p:nvPr/>
        </p:nvSpPr>
        <p:spPr>
          <a:xfrm>
            <a:off x="9692640" y="312724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Satellite catalogue (open)</a:t>
            </a:r>
            <a:endParaRPr lang="en-US" sz="1250" dirty="0"/>
          </a:p>
        </p:txBody>
      </p:sp>
      <p:sp>
        <p:nvSpPr>
          <p:cNvPr id="38" name="Text 27"/>
          <p:cNvSpPr txBox="1"/>
          <p:nvPr/>
        </p:nvSpPr>
        <p:spPr>
          <a:xfrm>
            <a:off x="9189720" y="365760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70,366 objects to 21 Sep 2026</a:t>
            </a:r>
            <a:endParaRPr lang="en-US" sz="1150" dirty="0"/>
          </a:p>
        </p:txBody>
      </p:sp>
      <p:sp>
        <p:nvSpPr>
          <p:cNvPr id="39" name="Shape 28"/>
          <p:cNvSpPr/>
          <p:nvPr/>
        </p:nvSpPr>
        <p:spPr>
          <a:xfrm>
            <a:off x="6309360" y="4343400"/>
            <a:ext cx="2560320" cy="1188720"/>
          </a:xfrm>
          <a:prstGeom prst="roundRect">
            <a:avLst>
              <a:gd name="adj" fmla="val 6154"/>
            </a:avLst>
          </a:prstGeom>
          <a:solidFill>
            <a:srgbClr val="EEF2F7"/>
          </a:solidFill>
          <a:ln w="12700">
            <a:solidFill>
              <a:srgbClr val="EEF2F7"/>
            </a:solidFill>
            <a:prstDash val="solid"/>
          </a:ln>
        </p:spPr>
      </p:sp>
      <p:sp>
        <p:nvSpPr>
          <p:cNvPr id="40" name="Shape 29"/>
          <p:cNvSpPr/>
          <p:nvPr/>
        </p:nvSpPr>
        <p:spPr>
          <a:xfrm>
            <a:off x="6446520" y="4480560"/>
            <a:ext cx="411480" cy="411480"/>
          </a:xfrm>
          <a:prstGeom prst="ellipse">
            <a:avLst/>
          </a:prstGeom>
          <a:solidFill>
            <a:srgbClr val="2F5D8C"/>
          </a:solidFill>
          <a:ln w="12700">
            <a:solidFill>
              <a:srgbClr val="2F5D8C"/>
            </a:solidFill>
            <a:prstDash val="solid"/>
          </a:ln>
        </p:spPr>
      </p:sp>
      <p:pic>
        <p:nvPicPr>
          <p:cNvPr id="41" name="Image 9" descr="preencoded.png">    </p:cNvPr>
          <p:cNvPicPr>
            <a:picLocks noChangeAspect="1"/>
          </p:cNvPicPr>
          <p:nvPr/>
        </p:nvPicPr>
        <p:blipFill>
          <a:blip r:embed="rId10"/>
          <a:stretch>
            <a:fillRect/>
          </a:stretch>
        </p:blipFill>
        <p:spPr>
          <a:xfrm>
            <a:off x="6537046" y="4571086"/>
            <a:ext cx="230429" cy="230429"/>
          </a:xfrm>
          <a:prstGeom prst="rect">
            <a:avLst/>
          </a:prstGeom>
        </p:spPr>
      </p:pic>
      <p:sp>
        <p:nvSpPr>
          <p:cNvPr id="42" name="Text 30"/>
          <p:cNvSpPr txBox="1"/>
          <p:nvPr/>
        </p:nvSpPr>
        <p:spPr>
          <a:xfrm>
            <a:off x="6949440" y="445312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UCS 2020 + UNOOSA (open)</a:t>
            </a:r>
            <a:endParaRPr lang="en-US" sz="1250" dirty="0"/>
          </a:p>
        </p:txBody>
      </p:sp>
      <p:sp>
        <p:nvSpPr>
          <p:cNvPr id="43" name="Text 31"/>
          <p:cNvSpPr txBox="1"/>
          <p:nvPr/>
        </p:nvSpPr>
        <p:spPr>
          <a:xfrm>
            <a:off x="6446520" y="498348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second census; launches by country</a:t>
            </a:r>
            <a:endParaRPr lang="en-US" sz="1150" dirty="0"/>
          </a:p>
        </p:txBody>
      </p:sp>
      <p:sp>
        <p:nvSpPr>
          <p:cNvPr id="44" name="Shape 32"/>
          <p:cNvSpPr/>
          <p:nvPr/>
        </p:nvSpPr>
        <p:spPr>
          <a:xfrm>
            <a:off x="9052560" y="4343400"/>
            <a:ext cx="2560320" cy="1188720"/>
          </a:xfrm>
          <a:prstGeom prst="roundRect">
            <a:avLst>
              <a:gd name="adj" fmla="val 6154"/>
            </a:avLst>
          </a:prstGeom>
          <a:solidFill>
            <a:srgbClr val="EEF2F7"/>
          </a:solidFill>
          <a:ln w="12700">
            <a:solidFill>
              <a:srgbClr val="EEF2F7"/>
            </a:solidFill>
            <a:prstDash val="solid"/>
          </a:ln>
        </p:spPr>
      </p:sp>
      <p:sp>
        <p:nvSpPr>
          <p:cNvPr id="45" name="Shape 33"/>
          <p:cNvSpPr/>
          <p:nvPr/>
        </p:nvSpPr>
        <p:spPr>
          <a:xfrm>
            <a:off x="9189720" y="4480560"/>
            <a:ext cx="411480" cy="411480"/>
          </a:xfrm>
          <a:prstGeom prst="ellipse">
            <a:avLst/>
          </a:prstGeom>
          <a:solidFill>
            <a:srgbClr val="2F5D8C"/>
          </a:solidFill>
          <a:ln w="12700">
            <a:solidFill>
              <a:srgbClr val="2F5D8C"/>
            </a:solidFill>
            <a:prstDash val="solid"/>
          </a:ln>
        </p:spPr>
      </p:sp>
      <p:pic>
        <p:nvPicPr>
          <p:cNvPr id="46" name="Image 10" descr="preencoded.png">    </p:cNvPr>
          <p:cNvPicPr>
            <a:picLocks noChangeAspect="1"/>
          </p:cNvPicPr>
          <p:nvPr/>
        </p:nvPicPr>
        <p:blipFill>
          <a:blip r:embed="rId11"/>
          <a:stretch>
            <a:fillRect/>
          </a:stretch>
        </p:blipFill>
        <p:spPr>
          <a:xfrm>
            <a:off x="9280246" y="4571086"/>
            <a:ext cx="230429" cy="230429"/>
          </a:xfrm>
          <a:prstGeom prst="rect">
            <a:avLst/>
          </a:prstGeom>
        </p:spPr>
      </p:pic>
      <p:sp>
        <p:nvSpPr>
          <p:cNvPr id="47" name="Text 34"/>
          <p:cNvSpPr txBox="1"/>
          <p:nvPr/>
        </p:nvSpPr>
        <p:spPr>
          <a:xfrm>
            <a:off x="9692640" y="4453128"/>
            <a:ext cx="1828800" cy="457200"/>
          </a:xfrm>
          <a:prstGeom prst="rect">
            <a:avLst/>
          </a:prstGeom>
          <a:noFill/>
          <a:ln/>
        </p:spPr>
        <p:txBody>
          <a:bodyPr wrap="square" lIns="0" tIns="0" rIns="0" bIns="0" rtlCol="0" anchor="ctr"/>
          <a:lstStyle/>
          <a:p>
            <a:pPr indent="0" marL="0">
              <a:buNone/>
            </a:pPr>
            <a:r>
              <a:rPr lang="en-US" sz="1250" b="1" dirty="0">
                <a:solidFill>
                  <a:srgbClr val="0B1D3A"/>
                </a:solidFill>
                <a:latin typeface="Calibri" pitchFamily="34" charset="0"/>
                <a:ea typeface="Calibri" pitchFamily="34" charset="-122"/>
                <a:cs typeface="Calibri" pitchFamily="34" charset="-120"/>
              </a:rPr>
              <a:t>Official and news</a:t>
            </a:r>
            <a:endParaRPr lang="en-US" sz="1250" dirty="0"/>
          </a:p>
        </p:txBody>
      </p:sp>
      <p:sp>
        <p:nvSpPr>
          <p:cNvPr id="48" name="Text 35"/>
          <p:cNvSpPr txBox="1"/>
          <p:nvPr/>
        </p:nvSpPr>
        <p:spPr>
          <a:xfrm>
            <a:off x="9189720" y="4983480"/>
            <a:ext cx="2331720" cy="45720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ISRO, PIB, ESA, NOAA, 2024-26</a:t>
            </a:r>
            <a:endParaRPr lang="en-US" sz="1150" dirty="0"/>
          </a:p>
        </p:txBody>
      </p:sp>
      <p:sp>
        <p:nvSpPr>
          <p:cNvPr id="49" name="Text 3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50" name="Text 37"/>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1 · THE CROWD</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15 times more working satellites in twelve years</a:t>
            </a:r>
            <a:endParaRPr lang="en-US" sz="2800" dirty="0"/>
          </a:p>
        </p:txBody>
      </p:sp>
      <p:graphicFrame>
        <p:nvGraphicFramePr>
          <p:cNvPr id="4" name="Chart 0" descr=""/>
          <p:cNvGraphicFramePr/>
          <p:nvPr/>
        </p:nvGraphicFramePr>
        <p:xfrm>
          <a:off x="548640" y="1554480"/>
          <a:ext cx="42062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554480"/>
          <a:ext cx="6675120" cy="37490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937760" y="5440680"/>
            <a:ext cx="6675120" cy="685800"/>
          </a:xfrm>
          <a:prstGeom prst="rect">
            <a:avLst/>
          </a:prstGeom>
          <a:noFill/>
          <a:ln/>
        </p:spPr>
        <p:txBody>
          <a:bodyPr wrap="square" lIns="0" tIns="0" rIns="0" bIns="0" rtlCol="0" anchor="ctr"/>
          <a:lstStyle/>
          <a:p>
            <a:pPr indent="0" marL="0">
              <a:buNone/>
            </a:pPr>
            <a:r>
              <a:rPr lang="en-US" sz="1400" dirty="0">
                <a:solidFill>
                  <a:srgbClr val="1B2433"/>
                </a:solidFill>
                <a:latin typeface="Calibri" pitchFamily="34" charset="0"/>
                <a:ea typeface="Calibri" pitchFamily="34" charset="-122"/>
                <a:cs typeface="Calibri" pitchFamily="34" charset="-120"/>
              </a:rPr>
              <a:t>Growth changed gear in 2021: 4% a year before, 47% after. One constellation now holds 65% of working satellites.</a:t>
            </a:r>
            <a:endParaRPr lang="en-US" sz="1400" dirty="0"/>
          </a:p>
        </p:txBody>
      </p:sp>
      <p:sp>
        <p:nvSpPr>
          <p:cNvPr id="7" name="Text 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8" name="Text 4"/>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2 · WHO OWNS ORBIT</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One country and one company own most of orbit</a:t>
            </a:r>
            <a:endParaRPr lang="en-US" sz="2800" dirty="0"/>
          </a:p>
        </p:txBody>
      </p:sp>
      <p:graphicFrame>
        <p:nvGraphicFramePr>
          <p:cNvPr id="4" name="Chart 0" descr=""/>
          <p:cNvGraphicFramePr/>
          <p:nvPr/>
        </p:nvGraphicFramePr>
        <p:xfrm>
          <a:off x="548640" y="15544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772400" y="1737360"/>
            <a:ext cx="384048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76%</a:t>
            </a:r>
            <a:endParaRPr lang="en-US" sz="3600" dirty="0"/>
          </a:p>
        </p:txBody>
      </p:sp>
      <p:sp>
        <p:nvSpPr>
          <p:cNvPr id="6" name="Text 3"/>
          <p:cNvSpPr txBox="1"/>
          <p:nvPr/>
        </p:nvSpPr>
        <p:spPr>
          <a:xfrm>
            <a:off x="7772400" y="234086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of working satellites are US-operated (43% in 2014)</a:t>
            </a:r>
            <a:endParaRPr lang="en-US" sz="1300" dirty="0"/>
          </a:p>
        </p:txBody>
      </p:sp>
      <p:sp>
        <p:nvSpPr>
          <p:cNvPr id="7" name="Text 4"/>
          <p:cNvSpPr txBox="1"/>
          <p:nvPr/>
        </p:nvSpPr>
        <p:spPr>
          <a:xfrm>
            <a:off x="7772400" y="3154680"/>
            <a:ext cx="384048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5,879</a:t>
            </a:r>
            <a:endParaRPr lang="en-US" sz="3600" dirty="0"/>
          </a:p>
        </p:txBody>
      </p:sp>
      <p:sp>
        <p:nvSpPr>
          <p:cNvPr id="8" name="Text 5"/>
          <p:cNvSpPr txBox="1"/>
          <p:nvPr/>
        </p:nvSpPr>
        <p:spPr>
          <a:xfrm>
            <a:off x="7772400" y="375818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concentration index (HHI); above 2,500 = highly concentrated. 2014: 2,171</a:t>
            </a:r>
            <a:endParaRPr lang="en-US" sz="1300" dirty="0"/>
          </a:p>
        </p:txBody>
      </p:sp>
      <p:sp>
        <p:nvSpPr>
          <p:cNvPr id="9" name="Text 6"/>
          <p:cNvSpPr txBox="1"/>
          <p:nvPr/>
        </p:nvSpPr>
        <p:spPr>
          <a:xfrm>
            <a:off x="7772400" y="4572000"/>
            <a:ext cx="384048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0.5%</a:t>
            </a:r>
            <a:endParaRPr lang="en-US" sz="3600" dirty="0"/>
          </a:p>
        </p:txBody>
      </p:sp>
      <p:sp>
        <p:nvSpPr>
          <p:cNvPr id="10" name="Text 7"/>
          <p:cNvSpPr txBox="1"/>
          <p:nvPr/>
        </p:nvSpPr>
        <p:spPr>
          <a:xfrm>
            <a:off x="7772400" y="517550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India's share: 33 satellites (2.8%) in 2014, 78 today</a:t>
            </a:r>
            <a:endParaRPr lang="en-US" sz="1300" dirty="0"/>
          </a:p>
        </p:txBody>
      </p:sp>
      <p:sp>
        <p:nvSpPr>
          <p:cNvPr id="11"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2" name="Text 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3 · WHERE IT IS CROWDED</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A live crowd, a dead crowd, and collision risk ×10</a:t>
            </a:r>
            <a:endParaRPr lang="en-US" sz="2800" dirty="0"/>
          </a:p>
        </p:txBody>
      </p:sp>
      <p:graphicFrame>
        <p:nvGraphicFramePr>
          <p:cNvPr id="4" name="Chart 0" descr=""/>
          <p:cNvGraphicFramePr/>
          <p:nvPr/>
        </p:nvGraphicFramePr>
        <p:xfrm>
          <a:off x="548640" y="155448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37360"/>
            <a:ext cx="3291840" cy="566928"/>
          </a:xfrm>
          <a:prstGeom prst="rect">
            <a:avLst/>
          </a:prstGeom>
          <a:noFill/>
          <a:ln/>
        </p:spPr>
        <p:txBody>
          <a:bodyPr wrap="square" lIns="0" tIns="0" rIns="0" bIns="0" rtlCol="0" anchor="b"/>
          <a:lstStyle/>
          <a:p>
            <a:pPr indent="0" marL="0">
              <a:buNone/>
            </a:pPr>
            <a:r>
              <a:rPr lang="en-US" sz="3600" b="1" dirty="0">
                <a:solidFill>
                  <a:srgbClr val="2F5D8C"/>
                </a:solidFill>
                <a:latin typeface="Cambria" pitchFamily="34" charset="0"/>
                <a:ea typeface="Cambria" pitchFamily="34" charset="-122"/>
                <a:cs typeface="Cambria" pitchFamily="34" charset="-120"/>
              </a:rPr>
              <a:t>9,964</a:t>
            </a:r>
            <a:endParaRPr lang="en-US" sz="3600" dirty="0"/>
          </a:p>
        </p:txBody>
      </p:sp>
      <p:sp>
        <p:nvSpPr>
          <p:cNvPr id="6" name="Text 3"/>
          <p:cNvSpPr txBox="1"/>
          <p:nvPr/>
        </p:nvSpPr>
        <p:spPr>
          <a:xfrm>
            <a:off x="8412480" y="2340864"/>
            <a:ext cx="32918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objects at 450-500 km, 99% working (425 in 2014)</a:t>
            </a:r>
            <a:endParaRPr lang="en-US" sz="1300" dirty="0"/>
          </a:p>
        </p:txBody>
      </p:sp>
      <p:sp>
        <p:nvSpPr>
          <p:cNvPr id="7" name="Text 4"/>
          <p:cNvSpPr txBox="1"/>
          <p:nvPr/>
        </p:nvSpPr>
        <p:spPr>
          <a:xfrm>
            <a:off x="8412480" y="3154680"/>
            <a:ext cx="329184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4,583</a:t>
            </a:r>
            <a:endParaRPr lang="en-US" sz="3600" dirty="0"/>
          </a:p>
        </p:txBody>
      </p:sp>
      <p:sp>
        <p:nvSpPr>
          <p:cNvPr id="8" name="Text 5"/>
          <p:cNvSpPr txBox="1"/>
          <p:nvPr/>
        </p:nvSpPr>
        <p:spPr>
          <a:xfrm>
            <a:off x="8412480" y="3758184"/>
            <a:ext cx="32918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objects at 750-900 km, 82% of them debris</a:t>
            </a:r>
            <a:endParaRPr lang="en-US" sz="1300" dirty="0"/>
          </a:p>
        </p:txBody>
      </p:sp>
      <p:sp>
        <p:nvSpPr>
          <p:cNvPr id="9" name="Text 6"/>
          <p:cNvSpPr txBox="1"/>
          <p:nvPr/>
        </p:nvSpPr>
        <p:spPr>
          <a:xfrm>
            <a:off x="8412480" y="4572000"/>
            <a:ext cx="329184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162</a:t>
            </a:r>
            <a:endParaRPr lang="en-US" sz="3600" dirty="0"/>
          </a:p>
        </p:txBody>
      </p:sp>
      <p:sp>
        <p:nvSpPr>
          <p:cNvPr id="10" name="Text 7"/>
          <p:cNvSpPr txBox="1"/>
          <p:nvPr/>
        </p:nvSpPr>
        <p:spPr>
          <a:xfrm>
            <a:off x="8412480" y="5175504"/>
            <a:ext cx="32918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GEO satellites in India's 40-110 E arc, 29% of the belt</a:t>
            </a:r>
            <a:endParaRPr lang="en-US" sz="1300" dirty="0"/>
          </a:p>
        </p:txBody>
      </p:sp>
      <p:sp>
        <p:nvSpPr>
          <p:cNvPr id="11"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2" name="Text 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4 · WEAPON TESTS</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Altitude decides how long weapon debris stays</a:t>
            </a:r>
            <a:endParaRPr lang="en-US" sz="2800" dirty="0"/>
          </a:p>
        </p:txBody>
      </p:sp>
      <p:graphicFrame>
        <p:nvGraphicFramePr>
          <p:cNvPr id="4" name="Chart 0" descr=""/>
          <p:cNvGraphicFramePr/>
          <p:nvPr/>
        </p:nvGraphicFramePr>
        <p:xfrm>
          <a:off x="548640" y="1554480"/>
          <a:ext cx="694944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0" y="1645920"/>
          <a:ext cx="3840480" cy="914400"/>
        </p:xfrm>
        <a:graphic>
          <a:graphicData uri="http://schemas.openxmlformats.org/drawingml/2006/table">
            <a:tbl>
              <a:tblPr/>
              <a:tblGrid>
                <a:gridCol w="2286000"/>
                <a:gridCol w="777240"/>
                <a:gridCol w="7772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Event</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Pieces</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Left</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China ASAT test</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3,531</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65.5%</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Iridium-Cosmos collision (Russian debris)</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1,714</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35.8%</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Iridium-Cosmos collision (US debris)</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656</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17.8%</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US ASAT intercept</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174</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India ASAT test (Mission Shakti)</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129</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Russia ASAT test</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1,806</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1B2433"/>
                          </a:solidFill>
                          <a:latin typeface="Calibri" pitchFamily="34" charset="0"/>
                          <a:ea typeface="Calibri" pitchFamily="34" charset="-122"/>
                          <a:cs typeface="Calibri" pitchFamily="34" charset="-120"/>
                        </a:rPr>
                        <a:t>0.2%</a:t>
                      </a:r>
                      <a:endParaRPr lang="en-US" sz="105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6" name="Text 2"/>
          <p:cNvSpPr txBox="1"/>
          <p:nvPr/>
        </p:nvSpPr>
        <p:spPr>
          <a:xfrm>
            <a:off x="7772400" y="4434840"/>
            <a:ext cx="3840480" cy="1280160"/>
          </a:xfrm>
          <a:prstGeom prst="rect">
            <a:avLst/>
          </a:prstGeom>
          <a:noFill/>
          <a:ln/>
        </p:spPr>
        <p:txBody>
          <a:bodyPr wrap="square" lIns="0" tIns="0" rIns="0" bIns="0" rtlCol="0" anchor="ctr"/>
          <a:lstStyle/>
          <a:p>
            <a:pPr indent="0" marL="0">
              <a:buNone/>
            </a:pPr>
            <a:r>
              <a:rPr lang="en-US" sz="1400" dirty="0">
                <a:solidFill>
                  <a:srgbClr val="1B2433"/>
                </a:solidFill>
                <a:latin typeface="Calibri" pitchFamily="34" charset="0"/>
                <a:ea typeface="Calibri" pitchFamily="34" charset="-122"/>
                <a:cs typeface="Calibri" pitchFamily="34" charset="-120"/>
              </a:rPr>
              <a:t>India's 2019 test at ~280 km: all 129 pieces re-entered. China's 2007 test at ~865 km: 66% still in orbit after 20 years.</a:t>
            </a:r>
            <a:endParaRPr lang="en-US" sz="1400" dirty="0"/>
          </a:p>
        </p:txBody>
      </p:sp>
      <p:sp>
        <p:nvSpPr>
          <p:cNvPr id="7" name="Text 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8" name="Text 4"/>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4B · CLOSE CALLS</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One day of screening: thousands of near misses</a:t>
            </a:r>
            <a:endParaRPr lang="en-US" sz="2800" dirty="0"/>
          </a:p>
        </p:txBody>
      </p:sp>
      <p:graphicFrame>
        <p:nvGraphicFramePr>
          <p:cNvPr id="4" name="Chart 0" descr=""/>
          <p:cNvGraphicFramePr/>
          <p:nvPr/>
        </p:nvGraphicFramePr>
        <p:xfrm>
          <a:off x="548640" y="1554480"/>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846320"/>
            <a:ext cx="566928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10 Indian satellites</a:t>
            </a:r>
            <a:endParaRPr lang="en-US" sz="3600" dirty="0"/>
          </a:p>
        </p:txBody>
      </p:sp>
      <p:sp>
        <p:nvSpPr>
          <p:cNvPr id="6" name="Text 3"/>
          <p:cNvSpPr txBox="1"/>
          <p:nvPr/>
        </p:nvSpPr>
        <p:spPr>
          <a:xfrm>
            <a:off x="548640" y="5449824"/>
            <a:ext cx="56692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passed within 5 km of weapon-test or collision debris in a single day</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0" y="1645920"/>
          <a:ext cx="5029200" cy="914400"/>
        </p:xfrm>
        <a:graphic>
          <a:graphicData uri="http://schemas.openxmlformats.org/drawingml/2006/table">
            <a:tbl>
              <a:tblPr/>
              <a:tblGrid>
                <a:gridCol w="1737360"/>
                <a:gridCol w="1737360"/>
                <a:gridCol w="822960"/>
                <a:gridCol w="73152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Indian satellite</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Debris</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Miss (km)</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km/s</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SARAL</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COSMOS 2251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SCATSAT 1</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COSMOS 2251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14.23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HYSIS</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FENGYUN 1C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3.02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EMISAT</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COSMOS 2251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3.72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14.53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ASTROSAT</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COSMOS 2251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3.93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9.35</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EOS-6 (OCEANSAT-3)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COSMOS 2251 DEB</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3.94</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10.39</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Text 4"/>
          <p:cNvSpPr txBox="1"/>
          <p:nvPr/>
        </p:nvSpPr>
        <p:spPr>
          <a:xfrm>
            <a:off x="6583680" y="4572000"/>
            <a:ext cx="5029200" cy="1371600"/>
          </a:xfrm>
          <a:prstGeom prst="rect">
            <a:avLst/>
          </a:prstGeom>
          <a:noFill/>
          <a:ln/>
        </p:spPr>
        <p:txBody>
          <a:bodyPr wrap="square" lIns="0" tIns="0" rIns="0" bIns="0" rtlCol="0" anchor="t"/>
          <a:lstStyle/>
          <a:p>
            <a:pPr indent="0" marL="0">
              <a:buNone/>
            </a:pPr>
            <a:r>
              <a:rPr lang="en-US" sz="1300" i="1" dirty="0">
                <a:solidFill>
                  <a:srgbClr val="5B6573"/>
                </a:solidFill>
                <a:latin typeface="Calibri" pitchFamily="34" charset="0"/>
                <a:ea typeface="Calibri" pitchFamily="34" charset="-122"/>
                <a:cs typeface="Calibri" pitchFamily="34" charset="-120"/>
              </a:rPr>
              <a:t>Every active satellite propagated every 10 s for 24 h; every pair checked. Public elements are good to about 1 km: this is screening, the daily watch ORBITWATCH would run.</a:t>
            </a:r>
            <a:endParaRPr lang="en-US" sz="1300" dirty="0"/>
          </a:p>
        </p:txBody>
      </p:sp>
      <p:sp>
        <p:nvSpPr>
          <p:cNvPr id="9" name="Text 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0" name="Text 6"/>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5 · THE CONTEST</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China and the USA build eyes by the hundred</a:t>
            </a:r>
            <a:endParaRPr lang="en-US" sz="2800" dirty="0"/>
          </a:p>
        </p:txBody>
      </p:sp>
      <p:graphicFrame>
        <p:nvGraphicFramePr>
          <p:cNvPr id="4" name="Chart 0" descr=""/>
          <p:cNvGraphicFramePr/>
          <p:nvPr/>
        </p:nvGraphicFramePr>
        <p:xfrm>
          <a:off x="548640" y="15544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772400" y="1737360"/>
            <a:ext cx="384048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43 a year</a:t>
            </a:r>
            <a:endParaRPr lang="en-US" sz="3600" dirty="0"/>
          </a:p>
        </p:txBody>
      </p:sp>
      <p:sp>
        <p:nvSpPr>
          <p:cNvPr id="6" name="Text 3"/>
          <p:cNvSpPr txBox="1"/>
          <p:nvPr/>
        </p:nvSpPr>
        <p:spPr>
          <a:xfrm>
            <a:off x="7772400" y="234086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Chinese state-ISR satellites launched, 2023-25 average (India: under one)</a:t>
            </a:r>
            <a:endParaRPr lang="en-US" sz="1300" dirty="0"/>
          </a:p>
        </p:txBody>
      </p:sp>
      <p:sp>
        <p:nvSpPr>
          <p:cNvPr id="7" name="Text 4"/>
          <p:cNvSpPr txBox="1"/>
          <p:nvPr/>
        </p:nvSpPr>
        <p:spPr>
          <a:xfrm>
            <a:off x="7772400" y="3154680"/>
            <a:ext cx="384048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13%</a:t>
            </a:r>
            <a:endParaRPr lang="en-US" sz="3600" dirty="0"/>
          </a:p>
        </p:txBody>
      </p:sp>
      <p:sp>
        <p:nvSpPr>
          <p:cNvPr id="8" name="Text 5"/>
          <p:cNvSpPr txBox="1"/>
          <p:nvPr/>
        </p:nvSpPr>
        <p:spPr>
          <a:xfrm>
            <a:off x="7772400" y="375818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of today's China-India gap closed by SBS-III's 52 satellites (due 2029)</a:t>
            </a:r>
            <a:endParaRPr lang="en-US" sz="1300" dirty="0"/>
          </a:p>
        </p:txBody>
      </p:sp>
      <p:sp>
        <p:nvSpPr>
          <p:cNvPr id="9" name="Text 6"/>
          <p:cNvSpPr txBox="1"/>
          <p:nvPr/>
        </p:nvSpPr>
        <p:spPr>
          <a:xfrm>
            <a:off x="7772400" y="4572000"/>
            <a:ext cx="384048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305</a:t>
            </a:r>
            <a:endParaRPr lang="en-US" sz="3600" dirty="0"/>
          </a:p>
        </p:txBody>
      </p:sp>
      <p:sp>
        <p:nvSpPr>
          <p:cNvPr id="10" name="Text 7"/>
          <p:cNvSpPr txBox="1"/>
          <p:nvPr/>
        </p:nvSpPr>
        <p:spPr>
          <a:xfrm>
            <a:off x="7772400" y="5175504"/>
            <a:ext cx="384048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US national-security payloads launched since 2024</a:t>
            </a:r>
            <a:endParaRPr lang="en-US" sz="1300" dirty="0"/>
          </a:p>
        </p:txBody>
      </p:sp>
      <p:sp>
        <p:nvSpPr>
          <p:cNvPr id="11"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2" name="Text 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5B · MACHINE LEARNING</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Physics alone gives a military satellite away</a:t>
            </a:r>
            <a:endParaRPr lang="en-US" sz="2800" dirty="0"/>
          </a:p>
        </p:txBody>
      </p:sp>
      <p:graphicFrame>
        <p:nvGraphicFramePr>
          <p:cNvPr id="4" name="Chart 0" descr=""/>
          <p:cNvGraphicFramePr/>
          <p:nvPr/>
        </p:nvGraphicFramePr>
        <p:xfrm>
          <a:off x="548640" y="15544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406640" y="1737360"/>
            <a:ext cx="420624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0.79</a:t>
            </a:r>
            <a:endParaRPr lang="en-US" sz="3600" dirty="0"/>
          </a:p>
        </p:txBody>
      </p:sp>
      <p:sp>
        <p:nvSpPr>
          <p:cNvPr id="6" name="Text 3"/>
          <p:cNvSpPr txBox="1"/>
          <p:nvPr/>
        </p:nvSpPr>
        <p:spPr>
          <a:xfrm>
            <a:off x="7406640" y="2340864"/>
            <a:ext cx="42062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ROC-AUC on 1,851 satellites launched after the 2014 census</a:t>
            </a:r>
            <a:endParaRPr lang="en-US" sz="1300" dirty="0"/>
          </a:p>
        </p:txBody>
      </p:sp>
      <p:sp>
        <p:nvSpPr>
          <p:cNvPr id="7" name="Text 4"/>
          <p:cNvSpPr txBox="1"/>
          <p:nvPr/>
        </p:nvSpPr>
        <p:spPr>
          <a:xfrm>
            <a:off x="7406640" y="3154680"/>
            <a:ext cx="420624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0.94 → 0.64</a:t>
            </a:r>
            <a:endParaRPr lang="en-US" sz="3600" dirty="0"/>
          </a:p>
        </p:txBody>
      </p:sp>
      <p:sp>
        <p:nvSpPr>
          <p:cNvPr id="8" name="Text 5"/>
          <p:cNvSpPr txBox="1"/>
          <p:nvPr/>
        </p:nvSpPr>
        <p:spPr>
          <a:xfrm>
            <a:off x="7406640" y="3758184"/>
            <a:ext cx="42062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trees looked best in cross-validation, then failed on later launches</a:t>
            </a:r>
            <a:endParaRPr lang="en-US" sz="1300" dirty="0"/>
          </a:p>
        </p:txBody>
      </p:sp>
      <p:sp>
        <p:nvSpPr>
          <p:cNvPr id="9" name="Text 6"/>
          <p:cNvSpPr txBox="1"/>
          <p:nvPr/>
        </p:nvSpPr>
        <p:spPr>
          <a:xfrm>
            <a:off x="7406640" y="4572000"/>
            <a:ext cx="420624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83 (5%)</a:t>
            </a:r>
            <a:endParaRPr lang="en-US" sz="3600" dirty="0"/>
          </a:p>
        </p:txBody>
      </p:sp>
      <p:sp>
        <p:nvSpPr>
          <p:cNvPr id="10" name="Text 7"/>
          <p:cNvSpPr txBox="1"/>
          <p:nvPr/>
        </p:nvSpPr>
        <p:spPr>
          <a:xfrm>
            <a:off x="7406640" y="5175504"/>
            <a:ext cx="42062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'civil' or 'commercial' satellites that look military: the dual-use blur</a:t>
            </a:r>
            <a:endParaRPr lang="en-US" sz="1300" dirty="0"/>
          </a:p>
        </p:txBody>
      </p:sp>
      <p:sp>
        <p:nvSpPr>
          <p:cNvPr id="11"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2" name="Text 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10 / 19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6 · THE NATURAL ADVERSARY</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Storm odds rise ~7-fold when the Sun is active</a:t>
            </a:r>
            <a:endParaRPr lang="en-US" sz="2800" dirty="0"/>
          </a:p>
        </p:txBody>
      </p:sp>
      <p:graphicFrame>
        <p:nvGraphicFramePr>
          <p:cNvPr id="4" name="Chart 0" descr=""/>
          <p:cNvGraphicFramePr/>
          <p:nvPr/>
        </p:nvGraphicFramePr>
        <p:xfrm>
          <a:off x="548640" y="1554480"/>
          <a:ext cx="457200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5303520" y="1554480"/>
          <a:ext cx="6309360" cy="30175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303520" y="4754880"/>
            <a:ext cx="6309360" cy="1371600"/>
          </a:xfrm>
          <a:prstGeom prst="rect">
            <a:avLst/>
          </a:prstGeom>
          <a:noFill/>
          <a:ln/>
        </p:spPr>
        <p:txBody>
          <a:bodyPr wrap="square" lIns="0" tIns="0" rIns="0" bIns="0" rtlCol="0" anchor="ctr"/>
          <a:lstStyle/>
          <a:p>
            <a:pPr indent="0" marL="0">
              <a:spcAft>
                <a:spcPts val="400"/>
              </a:spcAft>
              <a:buNone/>
            </a:pPr>
            <a:r>
              <a:rPr lang="en-US" sz="1400" b="1" dirty="0">
                <a:solidFill>
                  <a:srgbClr val="C0392B"/>
                </a:solidFill>
                <a:latin typeface="Calibri" pitchFamily="34" charset="0"/>
                <a:ea typeface="Calibri" pitchFamily="34" charset="-122"/>
                <a:cs typeface="Calibri" pitchFamily="34" charset="-120"/>
              </a:rPr>
              <a:t>39% vs 6%</a:t>
            </a:r>
            <a:endParaRPr lang="en-US" sz="1400" dirty="0"/>
          </a:p>
          <a:p>
            <a:pPr indent="0" marL="0">
              <a:spcAft>
                <a:spcPts val="400"/>
              </a:spcAft>
              <a:buNone/>
            </a:pPr>
            <a:r>
              <a:rPr lang="en-US" sz="1400" dirty="0">
                <a:solidFill>
                  <a:srgbClr val="1B2433"/>
                </a:solidFill>
                <a:latin typeface="Calibri" pitchFamily="34" charset="0"/>
                <a:ea typeface="Calibri" pitchFamily="34" charset="-122"/>
                <a:cs typeface="Calibri" pitchFamily="34" charset="-120"/>
              </a:rPr>
              <a:t>chance of an intense storm in any 30 days, active vs quiet Sun. Storms killed 38 new Starlink satellites (Feb 2022); solar cycle 25 peaked in Oct 2024.</a:t>
            </a:r>
            <a:endParaRPr lang="en-US" sz="1400" dirty="0"/>
          </a:p>
        </p:txBody>
      </p:sp>
      <p:sp>
        <p:nvSpPr>
          <p:cNvPr id="7" name="Text 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8" name="Text 4"/>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FINDING 7 · WHAT EYES IN ORBIT BUY</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Two satellites saw what one would have missed</a:t>
            </a:r>
            <a:endParaRPr lang="en-US" sz="2800" dirty="0"/>
          </a:p>
        </p:txBody>
      </p:sp>
      <p:pic>
        <p:nvPicPr>
          <p:cNvPr id="4" name="Image 0" descr="f7_2_fire_map.png">    </p:cNvPr>
          <p:cNvPicPr>
            <a:picLocks noChangeAspect="1"/>
          </p:cNvPicPr>
          <p:nvPr/>
        </p:nvPicPr>
        <p:blipFill>
          <a:blip r:embed="rId1"/>
          <a:srcRect l="0" r="0" t="-4" b="-4"/>
          <a:stretch/>
        </p:blipFill>
        <p:spPr>
          <a:xfrm>
            <a:off x="548640" y="1600200"/>
            <a:ext cx="6035040" cy="2404872"/>
          </a:xfrm>
          <a:prstGeom prst="rect">
            <a:avLst/>
          </a:prstGeom>
        </p:spPr>
      </p:pic>
      <p:sp>
        <p:nvSpPr>
          <p:cNvPr id="5" name="Text 2"/>
          <p:cNvSpPr txBox="1"/>
          <p:nvPr/>
        </p:nvSpPr>
        <p:spPr>
          <a:xfrm>
            <a:off x="548640" y="4069080"/>
            <a:ext cx="6035040" cy="457200"/>
          </a:xfrm>
          <a:prstGeom prst="rect">
            <a:avLst/>
          </a:prstGeom>
          <a:noFill/>
          <a:ln/>
        </p:spPr>
        <p:txBody>
          <a:bodyPr wrap="square" lIns="0" tIns="0" rIns="0" bIns="0" rtlCol="0" anchor="ctr"/>
          <a:lstStyle/>
          <a:p>
            <a:pPr indent="0" marL="0">
              <a:buNone/>
            </a:pPr>
            <a:r>
              <a:rPr lang="en-US" sz="1100" i="1" dirty="0">
                <a:solidFill>
                  <a:srgbClr val="5B6573"/>
                </a:solidFill>
                <a:latin typeface="Calibri" pitchFamily="34" charset="0"/>
                <a:ea typeface="Calibri" pitchFamily="34" charset="-122"/>
                <a:cs typeface="Calibri" pitchFamily="34" charset="-120"/>
              </a:rPr>
              <a:t>1.25 million fire and heat detections by NASA's Terra and Aqua over the USA, 2010-2020 (CDM data)</a:t>
            </a:r>
            <a:endParaRPr lang="en-US" sz="1100" dirty="0"/>
          </a:p>
        </p:txBody>
      </p:sp>
      <p:graphicFrame>
        <p:nvGraphicFramePr>
          <p:cNvPr id="6" name="Chart 0" descr=""/>
          <p:cNvGraphicFramePr/>
          <p:nvPr/>
        </p:nvGraphicFramePr>
        <p:xfrm>
          <a:off x="6858000" y="1554480"/>
          <a:ext cx="4754880" cy="310896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48640" y="4663440"/>
            <a:ext cx="3474720" cy="566928"/>
          </a:xfrm>
          <a:prstGeom prst="rect">
            <a:avLst/>
          </a:prstGeom>
          <a:noFill/>
          <a:ln/>
        </p:spPr>
        <p:txBody>
          <a:bodyPr wrap="square" lIns="0" tIns="0" rIns="0" bIns="0" rtlCol="0" anchor="b"/>
          <a:lstStyle/>
          <a:p>
            <a:pPr indent="0" marL="0">
              <a:buNone/>
            </a:pPr>
            <a:r>
              <a:rPr lang="en-US" sz="3600" b="1" dirty="0">
                <a:solidFill>
                  <a:srgbClr val="C0392B"/>
                </a:solidFill>
                <a:latin typeface="Cambria" pitchFamily="34" charset="0"/>
                <a:ea typeface="Cambria" pitchFamily="34" charset="-122"/>
                <a:cs typeface="Cambria" pitchFamily="34" charset="-120"/>
              </a:rPr>
              <a:t>84%</a:t>
            </a:r>
            <a:endParaRPr lang="en-US" sz="3600" dirty="0"/>
          </a:p>
        </p:txBody>
      </p:sp>
      <p:sp>
        <p:nvSpPr>
          <p:cNvPr id="8" name="Text 4"/>
          <p:cNvSpPr txBox="1"/>
          <p:nvPr/>
        </p:nvSpPr>
        <p:spPr>
          <a:xfrm>
            <a:off x="548640" y="5266944"/>
            <a:ext cx="347472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of fire-days seen by only one of the two satellites</a:t>
            </a:r>
            <a:endParaRPr lang="en-US" sz="1300" dirty="0"/>
          </a:p>
        </p:txBody>
      </p:sp>
      <p:sp>
        <p:nvSpPr>
          <p:cNvPr id="9" name="Text 5"/>
          <p:cNvSpPr txBox="1"/>
          <p:nvPr/>
        </p:nvSpPr>
        <p:spPr>
          <a:xfrm>
            <a:off x="4206240" y="4663440"/>
            <a:ext cx="347472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21%</a:t>
            </a:r>
            <a:endParaRPr lang="en-US" sz="3600" dirty="0"/>
          </a:p>
        </p:txBody>
      </p:sp>
      <p:sp>
        <p:nvSpPr>
          <p:cNvPr id="10" name="Text 6"/>
          <p:cNvSpPr txBox="1"/>
          <p:nvPr/>
        </p:nvSpPr>
        <p:spPr>
          <a:xfrm>
            <a:off x="4206240" y="5266944"/>
            <a:ext cx="347472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of detections at night: thermal sensors see in the dark</a:t>
            </a:r>
            <a:endParaRPr lang="en-US" sz="1300" dirty="0"/>
          </a:p>
        </p:txBody>
      </p:sp>
      <p:sp>
        <p:nvSpPr>
          <p:cNvPr id="11" name="Text 7"/>
          <p:cNvSpPr txBox="1"/>
          <p:nvPr/>
        </p:nvSpPr>
        <p:spPr>
          <a:xfrm>
            <a:off x="7863840" y="4663440"/>
            <a:ext cx="3749040" cy="566928"/>
          </a:xfrm>
          <a:prstGeom prst="rect">
            <a:avLst/>
          </a:prstGeom>
          <a:noFill/>
          <a:ln/>
        </p:spPr>
        <p:txBody>
          <a:bodyPr wrap="square" lIns="0" tIns="0" rIns="0" bIns="0" rtlCol="0" anchor="b"/>
          <a:lstStyle/>
          <a:p>
            <a:pPr indent="0" marL="0">
              <a:buNone/>
            </a:pPr>
            <a:r>
              <a:rPr lang="en-US" sz="3600" b="1" dirty="0">
                <a:solidFill>
                  <a:srgbClr val="0B1D3A"/>
                </a:solidFill>
                <a:latin typeface="Cambria" pitchFamily="34" charset="0"/>
                <a:ea typeface="Cambria" pitchFamily="34" charset="-122"/>
                <a:cs typeface="Cambria" pitchFamily="34" charset="-120"/>
              </a:rPr>
              <a:t>659</a:t>
            </a:r>
            <a:endParaRPr lang="en-US" sz="3600" dirty="0"/>
          </a:p>
        </p:txBody>
      </p:sp>
      <p:sp>
        <p:nvSpPr>
          <p:cNvPr id="12" name="Text 8"/>
          <p:cNvSpPr txBox="1"/>
          <p:nvPr/>
        </p:nvSpPr>
        <p:spPr>
          <a:xfrm>
            <a:off x="7863840" y="5266944"/>
            <a:ext cx="3749040" cy="566928"/>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persistent industrial heat sources found (steel mills, smelters)</a:t>
            </a:r>
            <a:endParaRPr lang="en-US" sz="1300" dirty="0"/>
          </a:p>
        </p:txBody>
      </p:sp>
      <p:sp>
        <p:nvSpPr>
          <p:cNvPr id="13"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14" name="Text 10"/>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12 / 19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PREDICTION · THE TRAJECTORY TO 2030</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About 31,000 working satellites by 2030</a:t>
            </a:r>
            <a:endParaRPr lang="en-US" sz="2800" dirty="0"/>
          </a:p>
        </p:txBody>
      </p:sp>
      <p:graphicFrame>
        <p:nvGraphicFramePr>
          <p:cNvPr id="4" name="Chart 0" descr=""/>
          <p:cNvGraphicFramePr/>
          <p:nvPr/>
        </p:nvGraphicFramePr>
        <p:xfrm>
          <a:off x="548640" y="1554480"/>
          <a:ext cx="60350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1554480"/>
          <a:ext cx="4846320" cy="3291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4983480"/>
          <a:ext cx="11064240" cy="914400"/>
        </p:xfrm>
        <a:graphic>
          <a:graphicData uri="http://schemas.openxmlformats.org/drawingml/2006/table">
            <a:tbl>
              <a:tblPr/>
              <a:tblGrid>
                <a:gridCol w="1580606"/>
                <a:gridCol w="1580606"/>
                <a:gridCol w="1580606"/>
                <a:gridCol w="1580606"/>
                <a:gridCol w="1580606"/>
                <a:gridCol w="1580606"/>
                <a:gridCol w="1580606"/>
              </a:tblGrid>
              <a:tr h="27432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 2030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Starlink</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Kuiper</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Guowang</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Qianfan</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Others</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274320">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12,000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1,600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800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800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5,701</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20,901</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Base</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3,236</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3,000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3,000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6,639</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30,875</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19,400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3,236</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6,500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6,500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7,970</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ctr" indent="0" marL="0">
                        <a:buNone/>
                      </a:pPr>
                      <a:r>
                        <a:rPr lang="en-US" sz="1100" dirty="0">
                          <a:solidFill>
                            <a:srgbClr val="1B2433"/>
                          </a:solidFill>
                          <a:latin typeface="Calibri" pitchFamily="34" charset="0"/>
                          <a:ea typeface="Calibri" pitchFamily="34" charset="-122"/>
                          <a:cs typeface="Calibri" pitchFamily="34" charset="-120"/>
                        </a:rPr>
                        <a:t>43,606</a:t>
                      </a:r>
                      <a:endParaRPr lang="en-US" sz="11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7" name="Text 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8" name="Text 3"/>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INFERENCE · HOW SURE ARE WE</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Every finding survives an independent check</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828800"/>
                <a:gridCol w="2926080"/>
                <a:gridCol w="4663440"/>
                <a:gridCol w="16459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Independent check</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Growth of orbit</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15x active satellites 2014-2026</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UNOOSA registrations track catalogue launches (r = 0.997); UCS 2020 census sits on the same curve</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Collision risk</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index x10 since 2014</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Same result with 25 km shells and with objects' mean altitude; the densest shell holds mostly working satellites, the second band mostly debris</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 (relative index)</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ISR race</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China 406 vs India 17 state ISR/military satellites</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Name-based lower bound; excluding commercial imagers the ratio stays above 20:1</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 (lower bound)</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Space weather</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intense-storm odds x7 at high solar activity</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Poisson rate ratio 1.88 per +50 sunspots (p &lt; 0.001); Spearman rho -0.57</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Solar cycle in debris decay</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re-entry cycle of 12 years</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Found blind by periodogram; matches the ~11-year solar cycle (SILSO maxima)</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Forecast to 2030</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~36k payloads (statistical) vs 31k working (base scenario)</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Back-test error 8.6% over 2022-2026; two independent routes agree</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Moderate confidence</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Military-use classifier</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out-of-time ROC-AUC 0.79 (trained 2014, tested on 2014-2020 launches)</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Cross-validation alone would have picked gradient-boosted trees (CV 0.94); out of time they fell to 0.64, so the simpler model was chosen</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Confirmed (out of time)</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Close-approach screening</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18,355 crossing encounters &lt; 5 km in two 24-hour screenings</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Elements used only inside their fresh window (under ~3 days old); co-orbiting and docked pairs removed</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b="1" dirty="0">
                          <a:solidFill>
                            <a:srgbClr val="2E7D32"/>
                          </a:solidFill>
                          <a:latin typeface="Calibri" pitchFamily="34" charset="0"/>
                          <a:ea typeface="Calibri" pitchFamily="34" charset="-122"/>
                          <a:cs typeface="Calibri" pitchFamily="34" charset="-120"/>
                        </a:rPr>
                        <a:t>Screening grade (~1 km)</a:t>
                      </a:r>
                      <a:endParaRPr lang="en-US" sz="12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5" name="Text 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6" name="Text 3"/>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IMPACT · INDIA AND THE ARMED FORCES</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India depends on space, but holds less of it</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3200400"/>
                <a:gridCol w="822960"/>
                <a:gridCol w="822960"/>
                <a:gridCol w="8229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India</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China</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USA</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41148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Active satellites, Sep 2026</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1,531</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12,959</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Active satellites, Jan 2014 (CDM)</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502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Military / state-ISR satellites operational</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542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Orbital launches in 2025</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172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GEO satellites in the 40-110 E arc (2020)</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5" name="Shape 2"/>
          <p:cNvSpPr/>
          <p:nvPr/>
        </p:nvSpPr>
        <p:spPr>
          <a:xfrm>
            <a:off x="6583680" y="1645920"/>
            <a:ext cx="548640" cy="548640"/>
          </a:xfrm>
          <a:prstGeom prst="ellipse">
            <a:avLst/>
          </a:prstGeom>
          <a:solidFill>
            <a:srgbClr val="0B1D3A"/>
          </a:solidFill>
          <a:ln w="12700">
            <a:solidFill>
              <a:srgbClr val="0B1D3A"/>
            </a:solidFill>
            <a:prstDash val="solid"/>
          </a:ln>
        </p:spPr>
      </p:sp>
      <p:pic>
        <p:nvPicPr>
          <p:cNvPr id="6" name="Image 0" descr="preencoded.png">    </p:cNvPr>
          <p:cNvPicPr>
            <a:picLocks noChangeAspect="1"/>
          </p:cNvPicPr>
          <p:nvPr/>
        </p:nvPicPr>
        <p:blipFill>
          <a:blip r:embed="rId1"/>
          <a:stretch>
            <a:fillRect/>
          </a:stretch>
        </p:blipFill>
        <p:spPr>
          <a:xfrm>
            <a:off x="6704381" y="1766621"/>
            <a:ext cx="307238" cy="307238"/>
          </a:xfrm>
          <a:prstGeom prst="rect">
            <a:avLst/>
          </a:prstGeom>
        </p:spPr>
      </p:pic>
      <p:sp>
        <p:nvSpPr>
          <p:cNvPr id="7" name="Text 3"/>
          <p:cNvSpPr txBox="1"/>
          <p:nvPr/>
        </p:nvSpPr>
        <p:spPr>
          <a:xfrm>
            <a:off x="7269480" y="1645920"/>
            <a:ext cx="4297680" cy="3200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Navy</a:t>
            </a:r>
            <a:endParaRPr lang="en-US" sz="1500" dirty="0"/>
          </a:p>
        </p:txBody>
      </p:sp>
      <p:sp>
        <p:nvSpPr>
          <p:cNvPr id="8" name="Text 4"/>
          <p:cNvSpPr txBox="1"/>
          <p:nvPr/>
        </p:nvSpPr>
        <p:spPr>
          <a:xfrm>
            <a:off x="7269480" y="1975104"/>
            <a:ext cx="4297680" cy="640080"/>
          </a:xfrm>
          <a:prstGeom prst="rect">
            <a:avLst/>
          </a:prstGeom>
          <a:noFill/>
          <a:ln/>
        </p:spPr>
        <p:txBody>
          <a:bodyPr wrap="square" lIns="0" tIns="0" rIns="0" bIns="0" rtlCol="0" anchor="t"/>
          <a:lstStyle/>
          <a:p>
            <a:pPr indent="0" marL="0">
              <a:buNone/>
            </a:pPr>
            <a:r>
              <a:rPr lang="en-US" sz="1250" dirty="0">
                <a:solidFill>
                  <a:srgbClr val="1B2433"/>
                </a:solidFill>
                <a:latin typeface="Calibri" pitchFamily="34" charset="0"/>
                <a:ea typeface="Calibri" pitchFamily="34" charset="-122"/>
                <a:cs typeface="Calibri" pitchFamily="34" charset="-120"/>
              </a:rPr>
              <a:t>Ocean surveillance rests on radar and AIS satellites; assume carrier groups are tracked.</a:t>
            </a:r>
            <a:endParaRPr lang="en-US" sz="1250" dirty="0"/>
          </a:p>
        </p:txBody>
      </p:sp>
      <p:sp>
        <p:nvSpPr>
          <p:cNvPr id="9" name="Shape 5"/>
          <p:cNvSpPr/>
          <p:nvPr/>
        </p:nvSpPr>
        <p:spPr>
          <a:xfrm>
            <a:off x="6583680" y="2743200"/>
            <a:ext cx="548640" cy="548640"/>
          </a:xfrm>
          <a:prstGeom prst="ellipse">
            <a:avLst/>
          </a:prstGeom>
          <a:solidFill>
            <a:srgbClr val="2F5D8C"/>
          </a:solidFill>
          <a:ln w="12700">
            <a:solidFill>
              <a:srgbClr val="2F5D8C"/>
            </a:solidFill>
            <a:prstDash val="solid"/>
          </a:ln>
        </p:spPr>
      </p:sp>
      <p:pic>
        <p:nvPicPr>
          <p:cNvPr id="10" name="Image 1" descr="preencoded.png">    </p:cNvPr>
          <p:cNvPicPr>
            <a:picLocks noChangeAspect="1"/>
          </p:cNvPicPr>
          <p:nvPr/>
        </p:nvPicPr>
        <p:blipFill>
          <a:blip r:embed="rId2"/>
          <a:stretch>
            <a:fillRect/>
          </a:stretch>
        </p:blipFill>
        <p:spPr>
          <a:xfrm>
            <a:off x="6704381" y="2863901"/>
            <a:ext cx="307238" cy="307238"/>
          </a:xfrm>
          <a:prstGeom prst="rect">
            <a:avLst/>
          </a:prstGeom>
        </p:spPr>
      </p:pic>
      <p:sp>
        <p:nvSpPr>
          <p:cNvPr id="11" name="Text 6"/>
          <p:cNvSpPr txBox="1"/>
          <p:nvPr/>
        </p:nvSpPr>
        <p:spPr>
          <a:xfrm>
            <a:off x="7269480" y="2743200"/>
            <a:ext cx="4297680" cy="3200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Air Force</a:t>
            </a:r>
            <a:endParaRPr lang="en-US" sz="1500" dirty="0"/>
          </a:p>
        </p:txBody>
      </p:sp>
      <p:sp>
        <p:nvSpPr>
          <p:cNvPr id="12" name="Text 7"/>
          <p:cNvSpPr txBox="1"/>
          <p:nvPr/>
        </p:nvSpPr>
        <p:spPr>
          <a:xfrm>
            <a:off x="7269480" y="3072384"/>
            <a:ext cx="4297680" cy="640080"/>
          </a:xfrm>
          <a:prstGeom prst="rect">
            <a:avLst/>
          </a:prstGeom>
          <a:noFill/>
          <a:ln/>
        </p:spPr>
        <p:txBody>
          <a:bodyPr wrap="square" lIns="0" tIns="0" rIns="0" bIns="0" rtlCol="0" anchor="t"/>
          <a:lstStyle/>
          <a:p>
            <a:pPr indent="0" marL="0">
              <a:buNone/>
            </a:pPr>
            <a:r>
              <a:rPr lang="en-US" sz="1250" dirty="0">
                <a:solidFill>
                  <a:srgbClr val="1B2433"/>
                </a:solidFill>
                <a:latin typeface="Calibri" pitchFamily="34" charset="0"/>
                <a:ea typeface="Calibri" pitchFamily="34" charset="-122"/>
                <a:cs typeface="Calibri" pitchFamily="34" charset="-120"/>
              </a:rPr>
              <a:t>Precision strike needs NavIC and fresh imagery; storms degrade GNSS and HF.</a:t>
            </a:r>
            <a:endParaRPr lang="en-US" sz="1250" dirty="0"/>
          </a:p>
        </p:txBody>
      </p:sp>
      <p:sp>
        <p:nvSpPr>
          <p:cNvPr id="13" name="Shape 8"/>
          <p:cNvSpPr/>
          <p:nvPr/>
        </p:nvSpPr>
        <p:spPr>
          <a:xfrm>
            <a:off x="6583680" y="3840480"/>
            <a:ext cx="548640" cy="548640"/>
          </a:xfrm>
          <a:prstGeom prst="ellipse">
            <a:avLst/>
          </a:prstGeom>
          <a:solidFill>
            <a:srgbClr val="7B3B2E"/>
          </a:solidFill>
          <a:ln w="12700">
            <a:solidFill>
              <a:srgbClr val="7B3B2E"/>
            </a:solidFill>
            <a:prstDash val="solid"/>
          </a:ln>
        </p:spPr>
      </p:sp>
      <p:pic>
        <p:nvPicPr>
          <p:cNvPr id="14" name="Image 2" descr="preencoded.png">    </p:cNvPr>
          <p:cNvPicPr>
            <a:picLocks noChangeAspect="1"/>
          </p:cNvPicPr>
          <p:nvPr/>
        </p:nvPicPr>
        <p:blipFill>
          <a:blip r:embed="rId3"/>
          <a:stretch>
            <a:fillRect/>
          </a:stretch>
        </p:blipFill>
        <p:spPr>
          <a:xfrm>
            <a:off x="6704381" y="3961181"/>
            <a:ext cx="307238" cy="307238"/>
          </a:xfrm>
          <a:prstGeom prst="rect">
            <a:avLst/>
          </a:prstGeom>
        </p:spPr>
      </p:pic>
      <p:sp>
        <p:nvSpPr>
          <p:cNvPr id="15" name="Text 9"/>
          <p:cNvSpPr txBox="1"/>
          <p:nvPr/>
        </p:nvSpPr>
        <p:spPr>
          <a:xfrm>
            <a:off x="7269480" y="3840480"/>
            <a:ext cx="4297680" cy="3200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Army</a:t>
            </a:r>
            <a:endParaRPr lang="en-US" sz="1500" dirty="0"/>
          </a:p>
        </p:txBody>
      </p:sp>
      <p:sp>
        <p:nvSpPr>
          <p:cNvPr id="16" name="Text 10"/>
          <p:cNvSpPr txBox="1"/>
          <p:nvPr/>
        </p:nvSpPr>
        <p:spPr>
          <a:xfrm>
            <a:off x="7269480" y="4169664"/>
            <a:ext cx="4297680" cy="640080"/>
          </a:xfrm>
          <a:prstGeom prst="rect">
            <a:avLst/>
          </a:prstGeom>
          <a:noFill/>
          <a:ln/>
        </p:spPr>
        <p:txBody>
          <a:bodyPr wrap="square" lIns="0" tIns="0" rIns="0" bIns="0" rtlCol="0" anchor="t"/>
          <a:lstStyle/>
          <a:p>
            <a:pPr indent="0" marL="0">
              <a:buNone/>
            </a:pPr>
            <a:r>
              <a:rPr lang="en-US" sz="1250" dirty="0">
                <a:solidFill>
                  <a:srgbClr val="1B2433"/>
                </a:solidFill>
                <a:latin typeface="Calibri" pitchFamily="34" charset="0"/>
                <a:ea typeface="Calibri" pitchFamily="34" charset="-122"/>
                <a:cs typeface="Calibri" pitchFamily="34" charset="-120"/>
              </a:rPr>
              <a:t>Northern border under persistent ISR (406 Chinese satellites): concealment and deception.</a:t>
            </a:r>
            <a:endParaRPr lang="en-US" sz="1250" dirty="0"/>
          </a:p>
        </p:txBody>
      </p:sp>
      <p:sp>
        <p:nvSpPr>
          <p:cNvPr id="17" name="Shape 11"/>
          <p:cNvSpPr/>
          <p:nvPr/>
        </p:nvSpPr>
        <p:spPr>
          <a:xfrm>
            <a:off x="6583680" y="4937760"/>
            <a:ext cx="548640" cy="548640"/>
          </a:xfrm>
          <a:prstGeom prst="ellipse">
            <a:avLst/>
          </a:prstGeom>
          <a:solidFill>
            <a:srgbClr val="D99A1E"/>
          </a:solidFill>
          <a:ln w="12700">
            <a:solidFill>
              <a:srgbClr val="D99A1E"/>
            </a:solidFill>
            <a:prstDash val="solid"/>
          </a:ln>
        </p:spPr>
      </p:sp>
      <p:pic>
        <p:nvPicPr>
          <p:cNvPr id="18" name="Image 3" descr="preencoded.png">    </p:cNvPr>
          <p:cNvPicPr>
            <a:picLocks noChangeAspect="1"/>
          </p:cNvPicPr>
          <p:nvPr/>
        </p:nvPicPr>
        <p:blipFill>
          <a:blip r:embed="rId4"/>
          <a:stretch>
            <a:fillRect/>
          </a:stretch>
        </p:blipFill>
        <p:spPr>
          <a:xfrm>
            <a:off x="6704381" y="5058461"/>
            <a:ext cx="307238" cy="307238"/>
          </a:xfrm>
          <a:prstGeom prst="rect">
            <a:avLst/>
          </a:prstGeom>
        </p:spPr>
      </p:pic>
      <p:sp>
        <p:nvSpPr>
          <p:cNvPr id="19" name="Text 12"/>
          <p:cNvSpPr txBox="1"/>
          <p:nvPr/>
        </p:nvSpPr>
        <p:spPr>
          <a:xfrm>
            <a:off x="7269480" y="4937760"/>
            <a:ext cx="4297680" cy="3200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Joint / DSA</a:t>
            </a:r>
            <a:endParaRPr lang="en-US" sz="1500" dirty="0"/>
          </a:p>
        </p:txBody>
      </p:sp>
      <p:sp>
        <p:nvSpPr>
          <p:cNvPr id="20" name="Text 13"/>
          <p:cNvSpPr txBox="1"/>
          <p:nvPr/>
        </p:nvSpPr>
        <p:spPr>
          <a:xfrm>
            <a:off x="7269480" y="5266944"/>
            <a:ext cx="4297680" cy="640080"/>
          </a:xfrm>
          <a:prstGeom prst="rect">
            <a:avLst/>
          </a:prstGeom>
          <a:noFill/>
          <a:ln/>
        </p:spPr>
        <p:txBody>
          <a:bodyPr wrap="square" lIns="0" tIns="0" rIns="0" bIns="0" rtlCol="0" anchor="t"/>
          <a:lstStyle/>
          <a:p>
            <a:pPr indent="0" marL="0">
              <a:buNone/>
            </a:pPr>
            <a:r>
              <a:rPr lang="en-US" sz="1250" dirty="0">
                <a:solidFill>
                  <a:srgbClr val="1B2433"/>
                </a:solidFill>
                <a:latin typeface="Calibri" pitchFamily="34" charset="0"/>
                <a:ea typeface="Calibri" pitchFamily="34" charset="-122"/>
                <a:cs typeface="Calibri" pitchFamily="34" charset="-120"/>
              </a:rPr>
              <a:t>ORBITWATCH, SBS-III at pace, manoeuvrable storm-hardened satellites.</a:t>
            </a:r>
            <a:endParaRPr lang="en-US" sz="1250" dirty="0"/>
          </a:p>
        </p:txBody>
      </p:sp>
      <p:sp>
        <p:nvSpPr>
          <p:cNvPr id="21" name="Text 14"/>
          <p:cNvSpPr txBox="1"/>
          <p:nvPr/>
        </p:nvSpPr>
        <p:spPr>
          <a:xfrm>
            <a:off x="548640" y="4572000"/>
            <a:ext cx="5669280" cy="822960"/>
          </a:xfrm>
          <a:prstGeom prst="rect">
            <a:avLst/>
          </a:prstGeom>
          <a:noFill/>
          <a:ln/>
        </p:spPr>
        <p:txBody>
          <a:bodyPr wrap="square" lIns="0" tIns="0" rIns="0" bIns="0" rtlCol="0" anchor="ctr"/>
          <a:lstStyle/>
          <a:p>
            <a:pPr indent="0" marL="0">
              <a:buNone/>
            </a:pPr>
            <a:r>
              <a:rPr lang="en-US" sz="1400" dirty="0">
                <a:solidFill>
                  <a:srgbClr val="1B2433"/>
                </a:solidFill>
                <a:latin typeface="Calibri" pitchFamily="34" charset="0"/>
                <a:ea typeface="Calibri" pitchFamily="34" charset="-122"/>
                <a:cs typeface="Calibri" pitchFamily="34" charset="-120"/>
              </a:rPr>
              <a:t>Access to space is the bottleneck: China averaged about 16 times India's launch rate over 2021-25.</a:t>
            </a:r>
            <a:endParaRPr lang="en-US" sz="1400" dirty="0"/>
          </a:p>
        </p:txBody>
      </p:sp>
      <p:sp>
        <p:nvSpPr>
          <p:cNvPr id="22" name="Text 1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23" name="Text 16"/>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WARNING · ORBITWATCH</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Seven indicators: 6 Red, 1 Amber (Sep 2026)</a:t>
            </a:r>
            <a:endParaRPr lang="en-US" sz="2800" dirty="0"/>
          </a:p>
        </p:txBody>
      </p:sp>
      <p:sp>
        <p:nvSpPr>
          <p:cNvPr id="4" name="Shape 2"/>
          <p:cNvSpPr/>
          <p:nvPr/>
        </p:nvSpPr>
        <p:spPr>
          <a:xfrm>
            <a:off x="548640" y="1691640"/>
            <a:ext cx="2606040" cy="201168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731520" y="1892808"/>
            <a:ext cx="274320" cy="274320"/>
          </a:xfrm>
          <a:prstGeom prst="ellipse">
            <a:avLst/>
          </a:prstGeom>
          <a:solidFill>
            <a:srgbClr val="C0392B"/>
          </a:solidFill>
          <a:ln w="12700">
            <a:solidFill>
              <a:srgbClr val="C0392B"/>
            </a:solidFill>
            <a:prstDash val="solid"/>
          </a:ln>
        </p:spPr>
      </p:sp>
      <p:sp>
        <p:nvSpPr>
          <p:cNvPr id="6" name="Text 4"/>
          <p:cNvSpPr txBox="1"/>
          <p:nvPr/>
        </p:nvSpPr>
        <p:spPr>
          <a:xfrm>
            <a:off x="1097280" y="187452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7" name="Text 5"/>
          <p:cNvSpPr txBox="1"/>
          <p:nvPr/>
        </p:nvSpPr>
        <p:spPr>
          <a:xfrm>
            <a:off x="731520" y="225856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x10</a:t>
            </a:r>
            <a:endParaRPr lang="en-US" sz="2400" dirty="0"/>
          </a:p>
        </p:txBody>
      </p:sp>
      <p:sp>
        <p:nvSpPr>
          <p:cNvPr id="8" name="Text 6"/>
          <p:cNvSpPr txBox="1"/>
          <p:nvPr/>
        </p:nvSpPr>
        <p:spPr>
          <a:xfrm>
            <a:off x="731520" y="278892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Collision-risk index, LEO (2014 = 1)</a:t>
            </a:r>
            <a:endParaRPr lang="en-US" sz="1100" dirty="0"/>
          </a:p>
        </p:txBody>
      </p:sp>
      <p:sp>
        <p:nvSpPr>
          <p:cNvPr id="9" name="Shape 7"/>
          <p:cNvSpPr/>
          <p:nvPr/>
        </p:nvSpPr>
        <p:spPr>
          <a:xfrm>
            <a:off x="3337560" y="1691640"/>
            <a:ext cx="2606040" cy="2011680"/>
          </a:xfrm>
          <a:prstGeom prst="roundRect">
            <a:avLst>
              <a:gd name="adj" fmla="val 3636"/>
            </a:avLst>
          </a:prstGeom>
          <a:solidFill>
            <a:srgbClr val="EEF2F7"/>
          </a:solidFill>
          <a:ln w="12700">
            <a:solidFill>
              <a:srgbClr val="EEF2F7"/>
            </a:solidFill>
            <a:prstDash val="solid"/>
          </a:ln>
        </p:spPr>
      </p:sp>
      <p:sp>
        <p:nvSpPr>
          <p:cNvPr id="10" name="Shape 8"/>
          <p:cNvSpPr/>
          <p:nvPr/>
        </p:nvSpPr>
        <p:spPr>
          <a:xfrm>
            <a:off x="3520440" y="1892808"/>
            <a:ext cx="274320" cy="274320"/>
          </a:xfrm>
          <a:prstGeom prst="ellipse">
            <a:avLst/>
          </a:prstGeom>
          <a:solidFill>
            <a:srgbClr val="C0392B"/>
          </a:solidFill>
          <a:ln w="12700">
            <a:solidFill>
              <a:srgbClr val="C0392B"/>
            </a:solidFill>
            <a:prstDash val="solid"/>
          </a:ln>
        </p:spPr>
      </p:sp>
      <p:sp>
        <p:nvSpPr>
          <p:cNvPr id="11" name="Text 9"/>
          <p:cNvSpPr txBox="1"/>
          <p:nvPr/>
        </p:nvSpPr>
        <p:spPr>
          <a:xfrm>
            <a:off x="3886200" y="187452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12" name="Text 10"/>
          <p:cNvSpPr txBox="1"/>
          <p:nvPr/>
        </p:nvSpPr>
        <p:spPr>
          <a:xfrm>
            <a:off x="3520440" y="225856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24%</a:t>
            </a:r>
            <a:endParaRPr lang="en-US" sz="2400" dirty="0"/>
          </a:p>
        </p:txBody>
      </p:sp>
      <p:sp>
        <p:nvSpPr>
          <p:cNvPr id="13" name="Text 11"/>
          <p:cNvSpPr txBox="1"/>
          <p:nvPr/>
        </p:nvSpPr>
        <p:spPr>
          <a:xfrm>
            <a:off x="3520440" y="278892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Payloads in orbit, growth per year</a:t>
            </a:r>
            <a:endParaRPr lang="en-US" sz="1100" dirty="0"/>
          </a:p>
        </p:txBody>
      </p:sp>
      <p:sp>
        <p:nvSpPr>
          <p:cNvPr id="14" name="Shape 12"/>
          <p:cNvSpPr/>
          <p:nvPr/>
        </p:nvSpPr>
        <p:spPr>
          <a:xfrm>
            <a:off x="6126480" y="1691640"/>
            <a:ext cx="2606040" cy="2011680"/>
          </a:xfrm>
          <a:prstGeom prst="roundRect">
            <a:avLst>
              <a:gd name="adj" fmla="val 3636"/>
            </a:avLst>
          </a:prstGeom>
          <a:solidFill>
            <a:srgbClr val="EEF2F7"/>
          </a:solidFill>
          <a:ln w="12700">
            <a:solidFill>
              <a:srgbClr val="EEF2F7"/>
            </a:solidFill>
            <a:prstDash val="solid"/>
          </a:ln>
        </p:spPr>
      </p:sp>
      <p:sp>
        <p:nvSpPr>
          <p:cNvPr id="15" name="Shape 13"/>
          <p:cNvSpPr/>
          <p:nvPr/>
        </p:nvSpPr>
        <p:spPr>
          <a:xfrm>
            <a:off x="6309360" y="1892808"/>
            <a:ext cx="274320" cy="274320"/>
          </a:xfrm>
          <a:prstGeom prst="ellipse">
            <a:avLst/>
          </a:prstGeom>
          <a:solidFill>
            <a:srgbClr val="C0392B"/>
          </a:solidFill>
          <a:ln w="12700">
            <a:solidFill>
              <a:srgbClr val="C0392B"/>
            </a:solidFill>
            <a:prstDash val="solid"/>
          </a:ln>
        </p:spPr>
      </p:sp>
      <p:sp>
        <p:nvSpPr>
          <p:cNvPr id="16" name="Text 14"/>
          <p:cNvSpPr txBox="1"/>
          <p:nvPr/>
        </p:nvSpPr>
        <p:spPr>
          <a:xfrm>
            <a:off x="6675120" y="187452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17" name="Text 15"/>
          <p:cNvSpPr txBox="1"/>
          <p:nvPr/>
        </p:nvSpPr>
        <p:spPr>
          <a:xfrm>
            <a:off x="6309360" y="225856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43</a:t>
            </a:r>
            <a:endParaRPr lang="en-US" sz="2400" dirty="0"/>
          </a:p>
        </p:txBody>
      </p:sp>
      <p:sp>
        <p:nvSpPr>
          <p:cNvPr id="18" name="Text 16"/>
          <p:cNvSpPr txBox="1"/>
          <p:nvPr/>
        </p:nvSpPr>
        <p:spPr>
          <a:xfrm>
            <a:off x="6309360" y="278892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Chinese state-ISR satellites launched per year (3-yr mean)</a:t>
            </a:r>
            <a:endParaRPr lang="en-US" sz="1100" dirty="0"/>
          </a:p>
        </p:txBody>
      </p:sp>
      <p:sp>
        <p:nvSpPr>
          <p:cNvPr id="19" name="Shape 17"/>
          <p:cNvSpPr/>
          <p:nvPr/>
        </p:nvSpPr>
        <p:spPr>
          <a:xfrm>
            <a:off x="8915400" y="1691640"/>
            <a:ext cx="2606040" cy="2011680"/>
          </a:xfrm>
          <a:prstGeom prst="roundRect">
            <a:avLst>
              <a:gd name="adj" fmla="val 3636"/>
            </a:avLst>
          </a:prstGeom>
          <a:solidFill>
            <a:srgbClr val="EEF2F7"/>
          </a:solidFill>
          <a:ln w="12700">
            <a:solidFill>
              <a:srgbClr val="EEF2F7"/>
            </a:solidFill>
            <a:prstDash val="solid"/>
          </a:ln>
        </p:spPr>
      </p:sp>
      <p:sp>
        <p:nvSpPr>
          <p:cNvPr id="20" name="Shape 18"/>
          <p:cNvSpPr/>
          <p:nvPr/>
        </p:nvSpPr>
        <p:spPr>
          <a:xfrm>
            <a:off x="9098280" y="1892808"/>
            <a:ext cx="274320" cy="274320"/>
          </a:xfrm>
          <a:prstGeom prst="ellipse">
            <a:avLst/>
          </a:prstGeom>
          <a:solidFill>
            <a:srgbClr val="C0392B"/>
          </a:solidFill>
          <a:ln w="12700">
            <a:solidFill>
              <a:srgbClr val="C0392B"/>
            </a:solidFill>
            <a:prstDash val="solid"/>
          </a:ln>
        </p:spPr>
      </p:sp>
      <p:sp>
        <p:nvSpPr>
          <p:cNvPr id="21" name="Text 19"/>
          <p:cNvSpPr txBox="1"/>
          <p:nvPr/>
        </p:nvSpPr>
        <p:spPr>
          <a:xfrm>
            <a:off x="9464040" y="187452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22" name="Text 20"/>
          <p:cNvSpPr txBox="1"/>
          <p:nvPr/>
        </p:nvSpPr>
        <p:spPr>
          <a:xfrm>
            <a:off x="9098280" y="225856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0.5%</a:t>
            </a:r>
            <a:endParaRPr lang="en-US" sz="2400" dirty="0"/>
          </a:p>
        </p:txBody>
      </p:sp>
      <p:sp>
        <p:nvSpPr>
          <p:cNvPr id="23" name="Text 21"/>
          <p:cNvSpPr txBox="1"/>
          <p:nvPr/>
        </p:nvSpPr>
        <p:spPr>
          <a:xfrm>
            <a:off x="9098280" y="278892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India's share of active satellites</a:t>
            </a:r>
            <a:endParaRPr lang="en-US" sz="1100" dirty="0"/>
          </a:p>
        </p:txBody>
      </p:sp>
      <p:sp>
        <p:nvSpPr>
          <p:cNvPr id="24" name="Shape 22"/>
          <p:cNvSpPr/>
          <p:nvPr/>
        </p:nvSpPr>
        <p:spPr>
          <a:xfrm>
            <a:off x="548640" y="3931920"/>
            <a:ext cx="2606040" cy="2011680"/>
          </a:xfrm>
          <a:prstGeom prst="roundRect">
            <a:avLst>
              <a:gd name="adj" fmla="val 3636"/>
            </a:avLst>
          </a:prstGeom>
          <a:solidFill>
            <a:srgbClr val="EEF2F7"/>
          </a:solidFill>
          <a:ln w="12700">
            <a:solidFill>
              <a:srgbClr val="EEF2F7"/>
            </a:solidFill>
            <a:prstDash val="solid"/>
          </a:ln>
        </p:spPr>
      </p:sp>
      <p:sp>
        <p:nvSpPr>
          <p:cNvPr id="25" name="Shape 23"/>
          <p:cNvSpPr/>
          <p:nvPr/>
        </p:nvSpPr>
        <p:spPr>
          <a:xfrm>
            <a:off x="731520" y="4133088"/>
            <a:ext cx="274320" cy="274320"/>
          </a:xfrm>
          <a:prstGeom prst="ellipse">
            <a:avLst/>
          </a:prstGeom>
          <a:solidFill>
            <a:srgbClr val="C0392B"/>
          </a:solidFill>
          <a:ln w="12700">
            <a:solidFill>
              <a:srgbClr val="C0392B"/>
            </a:solidFill>
            <a:prstDash val="solid"/>
          </a:ln>
        </p:spPr>
      </p:sp>
      <p:sp>
        <p:nvSpPr>
          <p:cNvPr id="26" name="Text 24"/>
          <p:cNvSpPr txBox="1"/>
          <p:nvPr/>
        </p:nvSpPr>
        <p:spPr>
          <a:xfrm>
            <a:off x="1097280" y="411480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27" name="Text 25"/>
          <p:cNvSpPr txBox="1"/>
          <p:nvPr/>
        </p:nvSpPr>
        <p:spPr>
          <a:xfrm>
            <a:off x="731520" y="449884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39%</a:t>
            </a:r>
            <a:endParaRPr lang="en-US" sz="2400" dirty="0"/>
          </a:p>
        </p:txBody>
      </p:sp>
      <p:sp>
        <p:nvSpPr>
          <p:cNvPr id="28" name="Text 26"/>
          <p:cNvSpPr txBox="1"/>
          <p:nvPr/>
        </p:nvSpPr>
        <p:spPr>
          <a:xfrm>
            <a:off x="731520" y="502920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Intense geomagnetic storm odds per 30 days (sunspot number &gt;= 100, as in 2023-25)</a:t>
            </a:r>
            <a:endParaRPr lang="en-US" sz="1100" dirty="0"/>
          </a:p>
        </p:txBody>
      </p:sp>
      <p:sp>
        <p:nvSpPr>
          <p:cNvPr id="29" name="Shape 27"/>
          <p:cNvSpPr/>
          <p:nvPr/>
        </p:nvSpPr>
        <p:spPr>
          <a:xfrm>
            <a:off x="3337560" y="3931920"/>
            <a:ext cx="2606040" cy="2011680"/>
          </a:xfrm>
          <a:prstGeom prst="roundRect">
            <a:avLst>
              <a:gd name="adj" fmla="val 3636"/>
            </a:avLst>
          </a:prstGeom>
          <a:solidFill>
            <a:srgbClr val="EEF2F7"/>
          </a:solidFill>
          <a:ln w="12700">
            <a:solidFill>
              <a:srgbClr val="EEF2F7"/>
            </a:solidFill>
            <a:prstDash val="solid"/>
          </a:ln>
        </p:spPr>
      </p:sp>
      <p:sp>
        <p:nvSpPr>
          <p:cNvPr id="30" name="Shape 28"/>
          <p:cNvSpPr/>
          <p:nvPr/>
        </p:nvSpPr>
        <p:spPr>
          <a:xfrm>
            <a:off x="3520440" y="4133088"/>
            <a:ext cx="274320" cy="274320"/>
          </a:xfrm>
          <a:prstGeom prst="ellipse">
            <a:avLst/>
          </a:prstGeom>
          <a:solidFill>
            <a:srgbClr val="E08A00"/>
          </a:solidFill>
          <a:ln w="12700">
            <a:solidFill>
              <a:srgbClr val="E08A00"/>
            </a:solidFill>
            <a:prstDash val="solid"/>
          </a:ln>
        </p:spPr>
      </p:sp>
      <p:sp>
        <p:nvSpPr>
          <p:cNvPr id="31" name="Text 29"/>
          <p:cNvSpPr txBox="1"/>
          <p:nvPr/>
        </p:nvSpPr>
        <p:spPr>
          <a:xfrm>
            <a:off x="3886200" y="4114800"/>
            <a:ext cx="1828800" cy="320040"/>
          </a:xfrm>
          <a:prstGeom prst="rect">
            <a:avLst/>
          </a:prstGeom>
          <a:noFill/>
          <a:ln/>
        </p:spPr>
        <p:txBody>
          <a:bodyPr wrap="square" lIns="0" tIns="0" rIns="0" bIns="0" rtlCol="0" anchor="ctr"/>
          <a:lstStyle/>
          <a:p>
            <a:pPr indent="0" marL="0">
              <a:buNone/>
            </a:pPr>
            <a:r>
              <a:rPr lang="en-US" sz="1200" b="1" dirty="0">
                <a:solidFill>
                  <a:srgbClr val="E08A00"/>
                </a:solidFill>
                <a:latin typeface="Calibri" pitchFamily="34" charset="0"/>
                <a:ea typeface="Calibri" pitchFamily="34" charset="-122"/>
                <a:cs typeface="Calibri" pitchFamily="34" charset="-120"/>
              </a:rPr>
              <a:t>AMBER</a:t>
            </a:r>
            <a:endParaRPr lang="en-US" sz="1200" dirty="0"/>
          </a:p>
        </p:txBody>
      </p:sp>
      <p:sp>
        <p:nvSpPr>
          <p:cNvPr id="32" name="Text 30"/>
          <p:cNvSpPr txBox="1"/>
          <p:nvPr/>
        </p:nvSpPr>
        <p:spPr>
          <a:xfrm>
            <a:off x="3520440" y="4498848"/>
            <a:ext cx="2286000" cy="502920"/>
          </a:xfrm>
          <a:prstGeom prst="rect">
            <a:avLst/>
          </a:prstGeom>
          <a:noFill/>
          <a:ln/>
        </p:spPr>
        <p:txBody>
          <a:bodyPr wrap="square" lIns="0" tIns="0" rIns="0" bIns="0" rtlCol="0" anchor="ctr"/>
          <a:lstStyle/>
          <a:p>
            <a:pPr indent="0" marL="0">
              <a:buNone/>
            </a:pPr>
            <a:r>
              <a:rPr lang="en-US" sz="2400" b="1" dirty="0">
                <a:solidFill>
                  <a:srgbClr val="E08A00"/>
                </a:solidFill>
                <a:latin typeface="Cambria" pitchFamily="34" charset="0"/>
                <a:ea typeface="Cambria" pitchFamily="34" charset="-122"/>
                <a:cs typeface="Cambria" pitchFamily="34" charset="-120"/>
              </a:rPr>
              <a:t>1 (2021)</a:t>
            </a:r>
            <a:endParaRPr lang="en-US" sz="2400" dirty="0"/>
          </a:p>
        </p:txBody>
      </p:sp>
      <p:sp>
        <p:nvSpPr>
          <p:cNvPr id="33" name="Text 31"/>
          <p:cNvSpPr txBox="1"/>
          <p:nvPr/>
        </p:nvSpPr>
        <p:spPr>
          <a:xfrm>
            <a:off x="3520440" y="502920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Anti-satellite tests in the last 5 years</a:t>
            </a:r>
            <a:endParaRPr lang="en-US" sz="1100" dirty="0"/>
          </a:p>
        </p:txBody>
      </p:sp>
      <p:sp>
        <p:nvSpPr>
          <p:cNvPr id="34" name="Shape 32"/>
          <p:cNvSpPr/>
          <p:nvPr/>
        </p:nvSpPr>
        <p:spPr>
          <a:xfrm>
            <a:off x="6126480" y="3931920"/>
            <a:ext cx="2606040" cy="2011680"/>
          </a:xfrm>
          <a:prstGeom prst="roundRect">
            <a:avLst>
              <a:gd name="adj" fmla="val 3636"/>
            </a:avLst>
          </a:prstGeom>
          <a:solidFill>
            <a:srgbClr val="EEF2F7"/>
          </a:solidFill>
          <a:ln w="12700">
            <a:solidFill>
              <a:srgbClr val="EEF2F7"/>
            </a:solidFill>
            <a:prstDash val="solid"/>
          </a:ln>
        </p:spPr>
      </p:sp>
      <p:sp>
        <p:nvSpPr>
          <p:cNvPr id="35" name="Shape 33"/>
          <p:cNvSpPr/>
          <p:nvPr/>
        </p:nvSpPr>
        <p:spPr>
          <a:xfrm>
            <a:off x="6309360" y="4133088"/>
            <a:ext cx="274320" cy="274320"/>
          </a:xfrm>
          <a:prstGeom prst="ellipse">
            <a:avLst/>
          </a:prstGeom>
          <a:solidFill>
            <a:srgbClr val="C0392B"/>
          </a:solidFill>
          <a:ln w="12700">
            <a:solidFill>
              <a:srgbClr val="C0392B"/>
            </a:solidFill>
            <a:prstDash val="solid"/>
          </a:ln>
        </p:spPr>
      </p:sp>
      <p:sp>
        <p:nvSpPr>
          <p:cNvPr id="36" name="Text 34"/>
          <p:cNvSpPr txBox="1"/>
          <p:nvPr/>
        </p:nvSpPr>
        <p:spPr>
          <a:xfrm>
            <a:off x="6675120" y="4114800"/>
            <a:ext cx="1828800" cy="3200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RED</a:t>
            </a:r>
            <a:endParaRPr lang="en-US" sz="1200" dirty="0"/>
          </a:p>
        </p:txBody>
      </p:sp>
      <p:sp>
        <p:nvSpPr>
          <p:cNvPr id="37" name="Text 35"/>
          <p:cNvSpPr txBox="1"/>
          <p:nvPr/>
        </p:nvSpPr>
        <p:spPr>
          <a:xfrm>
            <a:off x="6309360" y="4498848"/>
            <a:ext cx="2286000" cy="502920"/>
          </a:xfrm>
          <a:prstGeom prst="rect">
            <a:avLst/>
          </a:prstGeom>
          <a:noFill/>
          <a:ln/>
        </p:spPr>
        <p:txBody>
          <a:bodyPr wrap="square" lIns="0" tIns="0" rIns="0" bIns="0" rtlCol="0" anchor="ctr"/>
          <a:lstStyle/>
          <a:p>
            <a:pPr indent="0" marL="0">
              <a:buNone/>
            </a:pPr>
            <a:r>
              <a:rPr lang="en-US" sz="2400" b="1" dirty="0">
                <a:solidFill>
                  <a:srgbClr val="C0392B"/>
                </a:solidFill>
                <a:latin typeface="Cambria" pitchFamily="34" charset="0"/>
                <a:ea typeface="Cambria" pitchFamily="34" charset="-122"/>
                <a:cs typeface="Cambria" pitchFamily="34" charset="-120"/>
              </a:rPr>
              <a:t>162</a:t>
            </a:r>
            <a:endParaRPr lang="en-US" sz="2400" dirty="0"/>
          </a:p>
        </p:txBody>
      </p:sp>
      <p:sp>
        <p:nvSpPr>
          <p:cNvPr id="38" name="Text 36"/>
          <p:cNvSpPr txBox="1"/>
          <p:nvPr/>
        </p:nvSpPr>
        <p:spPr>
          <a:xfrm>
            <a:off x="6309360" y="5029200"/>
            <a:ext cx="2286000" cy="822960"/>
          </a:xfrm>
          <a:prstGeom prst="rect">
            <a:avLst/>
          </a:prstGeom>
          <a:noFill/>
          <a:ln/>
        </p:spPr>
        <p:txBody>
          <a:bodyPr wrap="square" lIns="0" tIns="0" rIns="0" bIns="0" rtlCol="0" anchor="t"/>
          <a:lstStyle/>
          <a:p>
            <a:pPr indent="0" marL="0">
              <a:buNone/>
            </a:pPr>
            <a:r>
              <a:rPr lang="en-US" sz="1100" dirty="0">
                <a:solidFill>
                  <a:srgbClr val="1B2433"/>
                </a:solidFill>
                <a:latin typeface="Calibri" pitchFamily="34" charset="0"/>
                <a:ea typeface="Calibri" pitchFamily="34" charset="-122"/>
                <a:cs typeface="Calibri" pitchFamily="34" charset="-120"/>
              </a:rPr>
              <a:t>GEO arc over India: satellites 40-110 E</a:t>
            </a:r>
            <a:endParaRPr lang="en-US" sz="1100" dirty="0"/>
          </a:p>
        </p:txBody>
      </p:sp>
      <p:sp>
        <p:nvSpPr>
          <p:cNvPr id="39" name="Text 37"/>
          <p:cNvSpPr txBox="1"/>
          <p:nvPr/>
        </p:nvSpPr>
        <p:spPr>
          <a:xfrm>
            <a:off x="8915400" y="3931920"/>
            <a:ext cx="2606040" cy="2011680"/>
          </a:xfrm>
          <a:prstGeom prst="rect">
            <a:avLst/>
          </a:prstGeom>
          <a:noFill/>
          <a:ln/>
        </p:spPr>
        <p:txBody>
          <a:bodyPr wrap="square" lIns="0" tIns="0" rIns="0" bIns="0" rtlCol="0" anchor="ctr"/>
          <a:lstStyle/>
          <a:p>
            <a:pPr indent="0" marL="0">
              <a:buNone/>
            </a:pPr>
            <a:r>
              <a:rPr lang="en-US" sz="1400" i="1" dirty="0">
                <a:solidFill>
                  <a:srgbClr val="5B6573"/>
                </a:solidFill>
                <a:latin typeface="Calibri" pitchFamily="34" charset="0"/>
                <a:ea typeface="Calibri" pitchFamily="34" charset="-122"/>
                <a:cs typeface="Calibri" pitchFamily="34" charset="-120"/>
              </a:rPr>
              <a:t>Each indicator has Amber and Red thresholds and an action on Red, updated from open data.</a:t>
            </a:r>
            <a:endParaRPr lang="en-US" sz="1400" dirty="0"/>
          </a:p>
        </p:txBody>
      </p:sp>
      <p:sp>
        <p:nvSpPr>
          <p:cNvPr id="40" name="Text 3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41" name="Text 3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WAY FORWARD</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Seven actions, each with a lead and a timeline</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949440"/>
                <a:gridCol w="2560320"/>
                <a:gridCol w="1554480"/>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Lead</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When</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Stand up ORBITWATCH: weekly space picture and warning matrix</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DSA, ISRO NETRA</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4 months</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Accelerate SBS-III; buy commercial imagery and radar capacity</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DSA, NSIL, industry</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2026-29</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Manoeuvre capability, fuel and storm hardening on every new military satellite</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DSA, ISRO, DRDO</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From 2027</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Space-weather cell; drills for degraded GNSS and HF</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HQ IDS, IAF Met</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6 months</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Rapid reconstitution: SSLV slots and spare satellites on standby</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ISRO, NSIL, DSA</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2-3 years</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Protect GEO slots and ITU filings in the 40-110 E arc</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DoT, ISRO, DSA</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Ongoing</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30352">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Concealment and deception doctrine against persistent ISR</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Army, HQ IDS</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400" dirty="0">
                          <a:solidFill>
                            <a:srgbClr val="1B2433"/>
                          </a:solidFill>
                          <a:latin typeface="Calibri" pitchFamily="34" charset="0"/>
                          <a:ea typeface="Calibri" pitchFamily="34" charset="-122"/>
                          <a:cs typeface="Calibri" pitchFamily="34" charset="-120"/>
                        </a:rPr>
                        <a:t>12 months</a:t>
                      </a:r>
                      <a:endParaRPr lang="en-US" sz="1400" dirty="0">
                        <a:latin typeface="Calibri" charset="0"/>
                        <a:ea typeface="Calibri" charset="0"/>
                        <a:cs typeface="Calibri" charset="0"/>
                      </a:endParaRPr>
                    </a:p>
                  </a:txBody>
                  <a:tcPr marL="91440" marR="9144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5" name="Text 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6" name="Text 3"/>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indent="0" marL="0">
              <a:buNone/>
            </a:pPr>
            <a:r>
              <a:rPr lang="en-US" sz="1200" b="1" spc="200" kern="0" dirty="0">
                <a:solidFill>
                  <a:srgbClr val="D99A1E"/>
                </a:solidFill>
                <a:latin typeface="Calibri" pitchFamily="34" charset="0"/>
                <a:ea typeface="Calibri" pitchFamily="34" charset="-122"/>
                <a:cs typeface="Calibri" pitchFamily="34" charset="-120"/>
              </a:rPr>
              <a:t>TECHNICAL SKILLS</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t"/>
          <a:lstStyle/>
          <a:p>
            <a:pPr indent="0" marL="0">
              <a:buNone/>
            </a:pPr>
            <a:r>
              <a:rPr lang="en-US" sz="2800" b="1" dirty="0">
                <a:solidFill>
                  <a:srgbClr val="0B1D3A"/>
                </a:solidFill>
                <a:latin typeface="Cambria" pitchFamily="34" charset="0"/>
                <a:ea typeface="Cambria" pitchFamily="34" charset="-122"/>
                <a:cs typeface="Cambria" pitchFamily="34" charset="-120"/>
              </a:rPr>
              <a:t>Reproducible from raw data to decision</a:t>
            </a:r>
            <a:endParaRPr lang="en-US" sz="2800" dirty="0"/>
          </a:p>
        </p:txBody>
      </p:sp>
      <p:sp>
        <p:nvSpPr>
          <p:cNvPr id="4" name="Shape 2"/>
          <p:cNvSpPr/>
          <p:nvPr/>
        </p:nvSpPr>
        <p:spPr>
          <a:xfrm>
            <a:off x="548640" y="1691640"/>
            <a:ext cx="5440680" cy="1965960"/>
          </a:xfrm>
          <a:prstGeom prst="roundRect">
            <a:avLst>
              <a:gd name="adj" fmla="val 3721"/>
            </a:avLst>
          </a:prstGeom>
          <a:solidFill>
            <a:srgbClr val="EEF2F7"/>
          </a:solidFill>
          <a:ln w="12700">
            <a:solidFill>
              <a:srgbClr val="EEF2F7"/>
            </a:solidFill>
            <a:prstDash val="solid"/>
          </a:ln>
        </p:spPr>
      </p:sp>
      <p:sp>
        <p:nvSpPr>
          <p:cNvPr id="5" name="Shape 3"/>
          <p:cNvSpPr/>
          <p:nvPr/>
        </p:nvSpPr>
        <p:spPr>
          <a:xfrm>
            <a:off x="822960" y="1965960"/>
            <a:ext cx="640080" cy="640080"/>
          </a:xfrm>
          <a:prstGeom prst="ellipse">
            <a:avLst/>
          </a:prstGeom>
          <a:solidFill>
            <a:srgbClr val="0B1D3A"/>
          </a:solidFill>
          <a:ln w="12700">
            <a:solidFill>
              <a:srgbClr val="0B1D3A"/>
            </a:solidFill>
            <a:prstDash val="solid"/>
          </a:ln>
        </p:spPr>
      </p:sp>
      <p:pic>
        <p:nvPicPr>
          <p:cNvPr id="6" name="Image 0" descr="preencoded.png">    </p:cNvPr>
          <p:cNvPicPr>
            <a:picLocks noChangeAspect="1"/>
          </p:cNvPicPr>
          <p:nvPr/>
        </p:nvPicPr>
        <p:blipFill>
          <a:blip r:embed="rId1"/>
          <a:stretch>
            <a:fillRect/>
          </a:stretch>
        </p:blipFill>
        <p:spPr>
          <a:xfrm>
            <a:off x="963778" y="2106778"/>
            <a:ext cx="358445" cy="358445"/>
          </a:xfrm>
          <a:prstGeom prst="rect">
            <a:avLst/>
          </a:prstGeom>
        </p:spPr>
      </p:pic>
      <p:sp>
        <p:nvSpPr>
          <p:cNvPr id="7" name="Text 4"/>
          <p:cNvSpPr txBox="1"/>
          <p:nvPr/>
        </p:nvSpPr>
        <p:spPr>
          <a:xfrm>
            <a:off x="1645920" y="1965960"/>
            <a:ext cx="4114800" cy="45720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Python pipeline</a:t>
            </a:r>
            <a:endParaRPr lang="en-US" sz="1700" dirty="0"/>
          </a:p>
        </p:txBody>
      </p:sp>
      <p:sp>
        <p:nvSpPr>
          <p:cNvPr id="8" name="Text 5"/>
          <p:cNvSpPr txBox="1"/>
          <p:nvPr/>
        </p:nvSpPr>
        <p:spPr>
          <a:xfrm>
            <a:off x="1645920" y="2468880"/>
            <a:ext cx="4114800" cy="1051560"/>
          </a:xfrm>
          <a:prstGeom prst="rect">
            <a:avLst/>
          </a:prstGeom>
          <a:noFill/>
          <a:ln/>
        </p:spPr>
        <p:txBody>
          <a:bodyPr wrap="square" lIns="0" tIns="0" rIns="0" bIns="0" rtlCol="0" anchor="t"/>
          <a:lstStyle/>
          <a:p>
            <a:pPr indent="0" marL="0">
              <a:buNone/>
            </a:pPr>
            <a:r>
              <a:rPr lang="en-US" sz="1300" dirty="0">
                <a:solidFill>
                  <a:srgbClr val="1B2433"/>
                </a:solidFill>
                <a:latin typeface="Calibri" pitchFamily="34" charset="0"/>
                <a:ea typeface="Calibri" pitchFamily="34" charset="-122"/>
                <a:cs typeface="Calibri" pitchFamily="34" charset="-120"/>
              </a:rPr>
              <a:t>12 stages, one command, deterministic: two runs give identical results for all headline numbers.</a:t>
            </a:r>
            <a:endParaRPr lang="en-US" sz="1300" dirty="0"/>
          </a:p>
        </p:txBody>
      </p:sp>
      <p:sp>
        <p:nvSpPr>
          <p:cNvPr id="9" name="Shape 6"/>
          <p:cNvSpPr/>
          <p:nvPr/>
        </p:nvSpPr>
        <p:spPr>
          <a:xfrm>
            <a:off x="6172200" y="1691640"/>
            <a:ext cx="5440680" cy="1965960"/>
          </a:xfrm>
          <a:prstGeom prst="roundRect">
            <a:avLst>
              <a:gd name="adj" fmla="val 3721"/>
            </a:avLst>
          </a:prstGeom>
          <a:solidFill>
            <a:srgbClr val="EEF2F7"/>
          </a:solidFill>
          <a:ln w="12700">
            <a:solidFill>
              <a:srgbClr val="EEF2F7"/>
            </a:solidFill>
            <a:prstDash val="solid"/>
          </a:ln>
        </p:spPr>
      </p:sp>
      <p:sp>
        <p:nvSpPr>
          <p:cNvPr id="10" name="Shape 7"/>
          <p:cNvSpPr/>
          <p:nvPr/>
        </p:nvSpPr>
        <p:spPr>
          <a:xfrm>
            <a:off x="6446520" y="1965960"/>
            <a:ext cx="640080" cy="640080"/>
          </a:xfrm>
          <a:prstGeom prst="ellipse">
            <a:avLst/>
          </a:prstGeom>
          <a:solidFill>
            <a:srgbClr val="0B1D3A"/>
          </a:solidFill>
          <a:ln w="12700">
            <a:solidFill>
              <a:srgbClr val="0B1D3A"/>
            </a:solidFill>
            <a:prstDash val="solid"/>
          </a:ln>
        </p:spPr>
      </p:sp>
      <p:pic>
        <p:nvPicPr>
          <p:cNvPr id="11" name="Image 1" descr="preencoded.png">    </p:cNvPr>
          <p:cNvPicPr>
            <a:picLocks noChangeAspect="1"/>
          </p:cNvPicPr>
          <p:nvPr/>
        </p:nvPicPr>
        <p:blipFill>
          <a:blip r:embed="rId2"/>
          <a:stretch>
            <a:fillRect/>
          </a:stretch>
        </p:blipFill>
        <p:spPr>
          <a:xfrm>
            <a:off x="6587338" y="2106778"/>
            <a:ext cx="358445" cy="358445"/>
          </a:xfrm>
          <a:prstGeom prst="rect">
            <a:avLst/>
          </a:prstGeom>
        </p:spPr>
      </p:pic>
      <p:sp>
        <p:nvSpPr>
          <p:cNvPr id="12" name="Text 8"/>
          <p:cNvSpPr txBox="1"/>
          <p:nvPr/>
        </p:nvSpPr>
        <p:spPr>
          <a:xfrm>
            <a:off x="7269480" y="1965960"/>
            <a:ext cx="4114800" cy="45720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Methods</a:t>
            </a:r>
            <a:endParaRPr lang="en-US" sz="1700" dirty="0"/>
          </a:p>
        </p:txBody>
      </p:sp>
      <p:sp>
        <p:nvSpPr>
          <p:cNvPr id="13" name="Text 9"/>
          <p:cNvSpPr txBox="1"/>
          <p:nvPr/>
        </p:nvSpPr>
        <p:spPr>
          <a:xfrm>
            <a:off x="7269480" y="2468880"/>
            <a:ext cx="4114800" cy="1051560"/>
          </a:xfrm>
          <a:prstGeom prst="rect">
            <a:avLst/>
          </a:prstGeom>
          <a:noFill/>
          <a:ln/>
        </p:spPr>
        <p:txBody>
          <a:bodyPr wrap="square" lIns="0" tIns="0" rIns="0" bIns="0" rtlCol="0" anchor="t"/>
          <a:lstStyle/>
          <a:p>
            <a:pPr indent="0" marL="0">
              <a:buNone/>
            </a:pPr>
            <a:r>
              <a:rPr lang="en-US" sz="1300" dirty="0">
                <a:solidFill>
                  <a:srgbClr val="1B2433"/>
                </a:solidFill>
                <a:latin typeface="Calibri" pitchFamily="34" charset="0"/>
                <a:ea typeface="Calibri" pitchFamily="34" charset="-122"/>
                <a:cs typeface="Calibri" pitchFamily="34" charset="-120"/>
              </a:rPr>
              <a:t>Change-points, concentration index, collision-risk index, SGP4 close-approach screening, survival curves, Poisson regression, periodogram, classifier with out-of-time test, damped-trend forecast.</a:t>
            </a:r>
            <a:endParaRPr lang="en-US" sz="1300" dirty="0"/>
          </a:p>
        </p:txBody>
      </p:sp>
      <p:sp>
        <p:nvSpPr>
          <p:cNvPr id="14" name="Shape 10"/>
          <p:cNvSpPr/>
          <p:nvPr/>
        </p:nvSpPr>
        <p:spPr>
          <a:xfrm>
            <a:off x="548640" y="3886200"/>
            <a:ext cx="5440680" cy="1965960"/>
          </a:xfrm>
          <a:prstGeom prst="roundRect">
            <a:avLst>
              <a:gd name="adj" fmla="val 3721"/>
            </a:avLst>
          </a:prstGeom>
          <a:solidFill>
            <a:srgbClr val="EEF2F7"/>
          </a:solidFill>
          <a:ln w="12700">
            <a:solidFill>
              <a:srgbClr val="EEF2F7"/>
            </a:solidFill>
            <a:prstDash val="solid"/>
          </a:ln>
        </p:spPr>
      </p:sp>
      <p:sp>
        <p:nvSpPr>
          <p:cNvPr id="15" name="Shape 11"/>
          <p:cNvSpPr/>
          <p:nvPr/>
        </p:nvSpPr>
        <p:spPr>
          <a:xfrm>
            <a:off x="822960" y="4160520"/>
            <a:ext cx="640080" cy="640080"/>
          </a:xfrm>
          <a:prstGeom prst="ellipse">
            <a:avLst/>
          </a:prstGeom>
          <a:solidFill>
            <a:srgbClr val="0B1D3A"/>
          </a:solidFill>
          <a:ln w="12700">
            <a:solidFill>
              <a:srgbClr val="0B1D3A"/>
            </a:solidFill>
            <a:prstDash val="solid"/>
          </a:ln>
        </p:spPr>
      </p:sp>
      <p:pic>
        <p:nvPicPr>
          <p:cNvPr id="16" name="Image 2" descr="preencoded.png">    </p:cNvPr>
          <p:cNvPicPr>
            <a:picLocks noChangeAspect="1"/>
          </p:cNvPicPr>
          <p:nvPr/>
        </p:nvPicPr>
        <p:blipFill>
          <a:blip r:embed="rId3"/>
          <a:stretch>
            <a:fillRect/>
          </a:stretch>
        </p:blipFill>
        <p:spPr>
          <a:xfrm>
            <a:off x="963778" y="4301338"/>
            <a:ext cx="358445" cy="358445"/>
          </a:xfrm>
          <a:prstGeom prst="rect">
            <a:avLst/>
          </a:prstGeom>
        </p:spPr>
      </p:pic>
      <p:sp>
        <p:nvSpPr>
          <p:cNvPr id="17" name="Text 12"/>
          <p:cNvSpPr txBox="1"/>
          <p:nvPr/>
        </p:nvSpPr>
        <p:spPr>
          <a:xfrm>
            <a:off x="1645920" y="4160520"/>
            <a:ext cx="4114800" cy="45720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Power BI</a:t>
            </a:r>
            <a:endParaRPr lang="en-US" sz="1700" dirty="0"/>
          </a:p>
        </p:txBody>
      </p:sp>
      <p:sp>
        <p:nvSpPr>
          <p:cNvPr id="18" name="Text 13"/>
          <p:cNvSpPr txBox="1"/>
          <p:nvPr/>
        </p:nvSpPr>
        <p:spPr>
          <a:xfrm>
            <a:off x="1645920" y="4663440"/>
            <a:ext cx="4114800" cy="1051560"/>
          </a:xfrm>
          <a:prstGeom prst="rect">
            <a:avLst/>
          </a:prstGeom>
          <a:noFill/>
          <a:ln/>
        </p:spPr>
        <p:txBody>
          <a:bodyPr wrap="square" lIns="0" tIns="0" rIns="0" bIns="0" rtlCol="0" anchor="t"/>
          <a:lstStyle/>
          <a:p>
            <a:pPr indent="0" marL="0">
              <a:buNone/>
            </a:pPr>
            <a:r>
              <a:rPr lang="en-US" sz="1300" dirty="0">
                <a:solidFill>
                  <a:srgbClr val="1B2433"/>
                </a:solidFill>
                <a:latin typeface="Calibri" pitchFamily="34" charset="0"/>
                <a:ea typeface="Calibri" pitchFamily="34" charset="-122"/>
                <a:cs typeface="Calibri" pitchFamily="34" charset="-120"/>
              </a:rPr>
              <a:t>Star schema: catalogue, 2014 census, storms, fires, calendar, plus the analysis tables; four dashboard pages.</a:t>
            </a:r>
            <a:endParaRPr lang="en-US" sz="1300" dirty="0"/>
          </a:p>
        </p:txBody>
      </p:sp>
      <p:sp>
        <p:nvSpPr>
          <p:cNvPr id="19" name="Shape 14"/>
          <p:cNvSpPr/>
          <p:nvPr/>
        </p:nvSpPr>
        <p:spPr>
          <a:xfrm>
            <a:off x="6172200" y="3886200"/>
            <a:ext cx="5440680" cy="1965960"/>
          </a:xfrm>
          <a:prstGeom prst="roundRect">
            <a:avLst>
              <a:gd name="adj" fmla="val 3721"/>
            </a:avLst>
          </a:prstGeom>
          <a:solidFill>
            <a:srgbClr val="EEF2F7"/>
          </a:solidFill>
          <a:ln w="12700">
            <a:solidFill>
              <a:srgbClr val="EEF2F7"/>
            </a:solidFill>
            <a:prstDash val="solid"/>
          </a:ln>
        </p:spPr>
      </p:sp>
      <p:sp>
        <p:nvSpPr>
          <p:cNvPr id="20" name="Shape 15"/>
          <p:cNvSpPr/>
          <p:nvPr/>
        </p:nvSpPr>
        <p:spPr>
          <a:xfrm>
            <a:off x="6446520" y="4160520"/>
            <a:ext cx="640080" cy="640080"/>
          </a:xfrm>
          <a:prstGeom prst="ellipse">
            <a:avLst/>
          </a:prstGeom>
          <a:solidFill>
            <a:srgbClr val="0B1D3A"/>
          </a:solidFill>
          <a:ln w="12700">
            <a:solidFill>
              <a:srgbClr val="0B1D3A"/>
            </a:solidFill>
            <a:prstDash val="solid"/>
          </a:ln>
        </p:spPr>
      </p:sp>
      <p:pic>
        <p:nvPicPr>
          <p:cNvPr id="21" name="Image 3" descr="preencoded.png">    </p:cNvPr>
          <p:cNvPicPr>
            <a:picLocks noChangeAspect="1"/>
          </p:cNvPicPr>
          <p:nvPr/>
        </p:nvPicPr>
        <p:blipFill>
          <a:blip r:embed="rId4"/>
          <a:stretch>
            <a:fillRect/>
          </a:stretch>
        </p:blipFill>
        <p:spPr>
          <a:xfrm>
            <a:off x="6587338" y="4301338"/>
            <a:ext cx="358445" cy="358445"/>
          </a:xfrm>
          <a:prstGeom prst="rect">
            <a:avLst/>
          </a:prstGeom>
        </p:spPr>
      </p:pic>
      <p:sp>
        <p:nvSpPr>
          <p:cNvPr id="22" name="Text 16"/>
          <p:cNvSpPr txBox="1"/>
          <p:nvPr/>
        </p:nvSpPr>
        <p:spPr>
          <a:xfrm>
            <a:off x="7269480" y="4160520"/>
            <a:ext cx="4114800" cy="45720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Outputs</a:t>
            </a:r>
            <a:endParaRPr lang="en-US" sz="1700" dirty="0"/>
          </a:p>
        </p:txBody>
      </p:sp>
      <p:sp>
        <p:nvSpPr>
          <p:cNvPr id="23" name="Text 17"/>
          <p:cNvSpPr txBox="1"/>
          <p:nvPr/>
        </p:nvSpPr>
        <p:spPr>
          <a:xfrm>
            <a:off x="7269480" y="4663440"/>
            <a:ext cx="4114800" cy="1051560"/>
          </a:xfrm>
          <a:prstGeom prst="rect">
            <a:avLst/>
          </a:prstGeom>
          <a:noFill/>
          <a:ln/>
        </p:spPr>
        <p:txBody>
          <a:bodyPr wrap="square" lIns="0" tIns="0" rIns="0" bIns="0" rtlCol="0" anchor="t"/>
          <a:lstStyle/>
          <a:p>
            <a:pPr indent="0" marL="0">
              <a:buNone/>
            </a:pPr>
            <a:r>
              <a:rPr lang="en-US" sz="1300" dirty="0">
                <a:solidFill>
                  <a:srgbClr val="1B2433"/>
                </a:solidFill>
                <a:latin typeface="Calibri" pitchFamily="34" charset="0"/>
                <a:ea typeface="Calibri" pitchFamily="34" charset="-122"/>
                <a:cs typeface="Calibri" pitchFamily="34" charset="-120"/>
              </a:rPr>
              <a:t>Booklet and Technical Annex (PDF and Word), this deck, Power BI tables, annotated code.</a:t>
            </a:r>
            <a:endParaRPr lang="en-US" sz="1300" dirty="0"/>
          </a:p>
        </p:txBody>
      </p:sp>
      <p:sp>
        <p:nvSpPr>
          <p:cNvPr id="24" name="Text 1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PROJECT HIGH GROUND  ·  CDM Datathon-2026  ·  Theme 6.1</a:t>
            </a:r>
            <a:endParaRPr lang="en-US" sz="1000" dirty="0"/>
          </a:p>
        </p:txBody>
      </p:sp>
      <p:sp>
        <p:nvSpPr>
          <p:cNvPr id="25" name="Text 19"/>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5B6573"/>
                </a:solidFill>
                <a:latin typeface="Calibri" pitchFamily="34" charset="0"/>
                <a:ea typeface="Calibri" pitchFamily="34" charset="-122"/>
                <a:cs typeface="Calibri"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D3A"/>
        </a:solidFill>
      </p:bgPr>
    </p:bg>
    <p:spTree>
      <p:nvGrpSpPr>
        <p:cNvPr id="1" name=""/>
        <p:cNvGrpSpPr/>
        <p:nvPr/>
      </p:nvGrpSpPr>
      <p:grpSpPr>
        <a:xfrm>
          <a:off x="0" y="0"/>
          <a:ext cx="0" cy="0"/>
          <a:chOff x="0" y="0"/>
          <a:chExt cx="0" cy="0"/>
        </a:xfrm>
      </p:grpSpPr>
      <p:sp>
        <p:nvSpPr>
          <p:cNvPr id="2" name="Text 0"/>
          <p:cNvSpPr txBox="1"/>
          <p:nvPr/>
        </p:nvSpPr>
        <p:spPr>
          <a:xfrm>
            <a:off x="548640" y="1188720"/>
            <a:ext cx="11064240"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high ground has become a crowd.</a:t>
            </a:r>
            <a:endParaRPr lang="en-US" sz="4400" dirty="0"/>
          </a:p>
        </p:txBody>
      </p:sp>
      <p:sp>
        <p:nvSpPr>
          <p:cNvPr id="3" name="Shape 1"/>
          <p:cNvSpPr/>
          <p:nvPr/>
        </p:nvSpPr>
        <p:spPr>
          <a:xfrm>
            <a:off x="548640" y="2743200"/>
            <a:ext cx="11064240" cy="1920240"/>
          </a:xfrm>
          <a:prstGeom prst="roundRect">
            <a:avLst>
              <a:gd name="adj" fmla="val 3810"/>
            </a:avLst>
          </a:prstGeom>
          <a:solidFill>
            <a:srgbClr val="1C3157"/>
          </a:solidFill>
          <a:ln w="12700">
            <a:solidFill>
              <a:srgbClr val="1C3157"/>
            </a:solidFill>
            <a:prstDash val="solid"/>
          </a:ln>
        </p:spPr>
      </p:sp>
      <p:sp>
        <p:nvSpPr>
          <p:cNvPr id="4" name="Text 2"/>
          <p:cNvSpPr txBox="1"/>
          <p:nvPr/>
        </p:nvSpPr>
        <p:spPr>
          <a:xfrm>
            <a:off x="868680" y="2926080"/>
            <a:ext cx="10058400" cy="365760"/>
          </a:xfrm>
          <a:prstGeom prst="rect">
            <a:avLst/>
          </a:prstGeom>
          <a:noFill/>
          <a:ln/>
        </p:spPr>
        <p:txBody>
          <a:bodyPr wrap="square" lIns="0" tIns="0" rIns="0" bIns="0" rtlCol="0" anchor="ctr"/>
          <a:lstStyle/>
          <a:p>
            <a:pPr indent="0" marL="0">
              <a:buNone/>
            </a:pPr>
            <a:r>
              <a:rPr lang="en-US" sz="1300" b="1" spc="200" kern="0" dirty="0">
                <a:solidFill>
                  <a:srgbClr val="D99A1E"/>
                </a:solidFill>
                <a:latin typeface="Calibri" pitchFamily="34" charset="0"/>
                <a:ea typeface="Calibri" pitchFamily="34" charset="-122"/>
                <a:cs typeface="Calibri" pitchFamily="34" charset="-120"/>
              </a:rPr>
              <a:t>DECISION SOUGHT</a:t>
            </a:r>
            <a:endParaRPr lang="en-US" sz="1300" dirty="0"/>
          </a:p>
        </p:txBody>
      </p:sp>
      <p:sp>
        <p:nvSpPr>
          <p:cNvPr id="5" name="Text 3"/>
          <p:cNvSpPr txBox="1"/>
          <p:nvPr/>
        </p:nvSpPr>
        <p:spPr>
          <a:xfrm>
            <a:off x="868680" y="3337560"/>
            <a:ext cx="10424160" cy="118872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Approve a four-month ORBITWATCH proof of concept at the Defence Space Agency, using the open catalogue and the pipeline already built. Continue only if it flags at least one actionable conjunction or threat event.</a:t>
            </a:r>
            <a:endParaRPr lang="en-US" sz="1800" dirty="0"/>
          </a:p>
        </p:txBody>
      </p:sp>
      <p:sp>
        <p:nvSpPr>
          <p:cNvPr id="6" name="Text 4"/>
          <p:cNvSpPr txBox="1"/>
          <p:nvPr/>
        </p:nvSpPr>
        <p:spPr>
          <a:xfrm>
            <a:off x="548640" y="5120640"/>
            <a:ext cx="5486400" cy="640080"/>
          </a:xfrm>
          <a:prstGeom prst="rect">
            <a:avLst/>
          </a:prstGeom>
          <a:noFill/>
          <a:ln/>
        </p:spPr>
        <p:txBody>
          <a:bodyPr wrap="square" lIns="0" tIns="0" rIns="0" bIns="0" rtlCol="0" anchor="ctr"/>
          <a:lstStyle/>
          <a:p>
            <a:pPr indent="0" marL="0">
              <a:buNone/>
            </a:pPr>
            <a:r>
              <a:rPr lang="en-US" sz="2800" i="1" dirty="0">
                <a:solidFill>
                  <a:srgbClr val="D9DEE7"/>
                </a:solidFill>
                <a:latin typeface="Cambria" pitchFamily="34" charset="0"/>
                <a:ea typeface="Cambria" pitchFamily="34" charset="-122"/>
                <a:cs typeface="Cambria" pitchFamily="34" charset="-120"/>
              </a:rPr>
              <a:t>Questions</a:t>
            </a:r>
            <a:endParaRPr lang="en-US" sz="2800" dirty="0"/>
          </a:p>
        </p:txBody>
      </p:sp>
      <p:sp>
        <p:nvSpPr>
          <p:cNvPr id="7" name="Text 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AEB9C8"/>
                </a:solidFill>
                <a:latin typeface="Calibri" pitchFamily="34" charset="0"/>
                <a:ea typeface="Calibri" pitchFamily="34" charset="-122"/>
                <a:cs typeface="Calibri" pitchFamily="34" charset="-120"/>
              </a:rPr>
              <a:t>PROJECT HIGH GROUND  ·  CDM Datathon-2026  ·  Theme 6.1</a:t>
            </a:r>
            <a:endParaRPr lang="en-US" sz="1000" dirty="0"/>
          </a:p>
        </p:txBody>
      </p:sp>
      <p:sp>
        <p:nvSpPr>
          <p:cNvPr id="8" name="Text 6"/>
          <p:cNvSpPr txBox="1"/>
          <p:nvPr/>
        </p:nvSpPr>
        <p:spPr>
          <a:xfrm>
            <a:off x="10725912" y="6400800"/>
            <a:ext cx="914400" cy="274320"/>
          </a:xfrm>
          <a:prstGeom prst="rect">
            <a:avLst/>
          </a:prstGeom>
          <a:noFill/>
          <a:ln/>
        </p:spPr>
        <p:txBody>
          <a:bodyPr wrap="square" lIns="0" tIns="0" rIns="0" bIns="0" rtlCol="0" anchor="ctr"/>
          <a:lstStyle/>
          <a:p>
            <a:pPr algn="r" indent="0" marL="0">
              <a:buNone/>
            </a:pPr>
            <a:r>
              <a:rPr lang="en-US" sz="1000" dirty="0">
                <a:solidFill>
                  <a:srgbClr val="AEB9C8"/>
                </a:solidFill>
                <a:latin typeface="Calibri" pitchFamily="34" charset="0"/>
                <a:ea typeface="Calibri" pitchFamily="34" charset="-122"/>
                <a:cs typeface="Calibri" pitchFamily="34" charset="-120"/>
              </a:rPr>
              <a:t>19 / 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High Ground - CDM Datathon-2026 Theme 6.1</dc:title>
  <dc:subject>PptxGenJS Presentation</dc:subject>
  <dc:creator>Arjun Jayadev</dc:creator>
  <cp:lastModifiedBy>Arjun Jayadev</cp:lastModifiedBy>
  <cp:revision>1</cp:revision>
  <dcterms:created xsi:type="dcterms:W3CDTF">2026-09-24T11:33:36Z</dcterms:created>
  <dcterms:modified xsi:type="dcterms:W3CDTF">2026-09-24T11:33:36Z</dcterms:modified>
</cp:coreProperties>
</file>